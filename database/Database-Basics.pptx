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</p:sp>
      <p:sp>
        <p:nvSpPr>
          <p:cNvPr id="96" name="CustomShape 2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3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4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CustomShape 5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CustomShape 6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CustomShape 7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CustomShape 8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CustomShape 9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10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CustomShape 11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rect l="0" t="0" r="r" b="b"/>
            <a:pathLst>
              <a:path w="19052" h="25402">
                <a:moveTo>
                  <a:pt x="4" y="0"/>
                </a:moveTo>
                <a:lnTo>
                  <a:pt x="4" y="0"/>
                </a:lnTo>
                <a:cubicBezTo>
                  <a:pt x="4" y="0"/>
                  <a:pt x="3" y="0"/>
                  <a:pt x="2" y="1"/>
                </a:cubicBezTo>
                <a:lnTo>
                  <a:pt x="1" y="2"/>
                </a:lnTo>
                <a:cubicBezTo>
                  <a:pt x="0" y="3"/>
                  <a:pt x="0" y="4"/>
                  <a:pt x="0" y="4"/>
                </a:cubicBezTo>
                <a:lnTo>
                  <a:pt x="0" y="25396"/>
                </a:lnTo>
                <a:lnTo>
                  <a:pt x="0" y="25397"/>
                </a:lnTo>
                <a:cubicBezTo>
                  <a:pt x="0" y="25397"/>
                  <a:pt x="0" y="25398"/>
                  <a:pt x="1" y="25399"/>
                </a:cubicBezTo>
                <a:lnTo>
                  <a:pt x="2" y="25400"/>
                </a:lnTo>
                <a:cubicBezTo>
                  <a:pt x="3" y="25401"/>
                  <a:pt x="4" y="25401"/>
                  <a:pt x="4" y="25401"/>
                </a:cubicBezTo>
                <a:lnTo>
                  <a:pt x="19046" y="25400"/>
                </a:lnTo>
                <a:lnTo>
                  <a:pt x="19047" y="25401"/>
                </a:lnTo>
                <a:cubicBezTo>
                  <a:pt x="19047" y="25401"/>
                  <a:pt x="19048" y="25401"/>
                  <a:pt x="19049" y="25400"/>
                </a:cubicBezTo>
                <a:lnTo>
                  <a:pt x="19050" y="25399"/>
                </a:lnTo>
                <a:cubicBezTo>
                  <a:pt x="19051" y="25398"/>
                  <a:pt x="19051" y="25397"/>
                  <a:pt x="19051" y="25397"/>
                </a:cubicBezTo>
                <a:lnTo>
                  <a:pt x="19051" y="4"/>
                </a:lnTo>
                <a:lnTo>
                  <a:pt x="19051" y="4"/>
                </a:lnTo>
                <a:lnTo>
                  <a:pt x="19051" y="4"/>
                </a:lnTo>
                <a:cubicBezTo>
                  <a:pt x="19051" y="4"/>
                  <a:pt x="19051" y="3"/>
                  <a:pt x="19050" y="2"/>
                </a:cubicBezTo>
                <a:lnTo>
                  <a:pt x="19049" y="1"/>
                </a:lnTo>
                <a:cubicBezTo>
                  <a:pt x="19048" y="0"/>
                  <a:pt x="19047" y="0"/>
                  <a:pt x="19047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PlaceHolder 12"/>
          <p:cNvSpPr>
            <a:spLocks noGrp="1"/>
          </p:cNvSpPr>
          <p:nvPr>
            <p:ph type="hdr"/>
          </p:nvPr>
        </p:nvSpPr>
        <p:spPr>
          <a:xfrm>
            <a:off x="-360" y="0"/>
            <a:ext cx="2955960" cy="44136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marL="215640" indent="-201600">
              <a:lnSpc>
                <a:spcPct val="100000"/>
              </a:lnSpc>
              <a:tabLst>
                <a:tab algn="l" pos="0"/>
                <a:tab algn="l" pos="360360"/>
                <a:tab algn="l" pos="720720"/>
                <a:tab algn="l" pos="1081080"/>
                <a:tab algn="l" pos="1441440"/>
                <a:tab algn="l" pos="1801800"/>
                <a:tab algn="l" pos="2162160"/>
                <a:tab algn="l" pos="2522520"/>
                <a:tab algn="l" pos="288288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</a:tabLst>
            </a:pPr>
            <a:r>
              <a:rPr b="0" lang="en-US" sz="1200" spc="-1" strike="noStrike">
                <a:latin typeface="Times New Roman"/>
                <a:ea typeface="Arial"/>
              </a:rPr>
              <a:t>&lt;header&gt;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07" name="PlaceHolder 13"/>
          <p:cNvSpPr>
            <a:spLocks noGrp="1"/>
          </p:cNvSpPr>
          <p:nvPr>
            <p:ph type="dt"/>
          </p:nvPr>
        </p:nvSpPr>
        <p:spPr>
          <a:xfrm>
            <a:off x="3885840" y="0"/>
            <a:ext cx="2955960" cy="44136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pPr marL="215640" indent="-201600" algn="r">
              <a:lnSpc>
                <a:spcPct val="100000"/>
              </a:lnSpc>
              <a:tabLst>
                <a:tab algn="l" pos="0"/>
                <a:tab algn="l" pos="360360"/>
                <a:tab algn="l" pos="720720"/>
                <a:tab algn="l" pos="1081080"/>
                <a:tab algn="l" pos="1441440"/>
                <a:tab algn="l" pos="1801800"/>
                <a:tab algn="l" pos="2162160"/>
                <a:tab algn="l" pos="2522520"/>
                <a:tab algn="l" pos="288288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</a:tabLst>
            </a:pPr>
            <a:r>
              <a:rPr b="0" lang="en-US" sz="1200" spc="-1" strike="noStrike">
                <a:latin typeface="Times New Roman"/>
                <a:ea typeface="Arial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08" name="PlaceHolder 14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56160" cy="3413160"/>
          </a:xfrm>
          <a:prstGeom prst="rect">
            <a:avLst/>
          </a:prstGeom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Click to move the slide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09" name="PlaceHolder 15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13360" cy="4098960"/>
          </a:xfrm>
          <a:prstGeom prst="rect">
            <a:avLst/>
          </a:prstGeom>
        </p:spPr>
        <p:txBody>
          <a:bodyPr lIns="90000" rIns="90000" tIns="46800" bIns="4680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16"/>
          <p:cNvSpPr>
            <a:spLocks noGrp="1"/>
          </p:cNvSpPr>
          <p:nvPr>
            <p:ph type="ftr"/>
          </p:nvPr>
        </p:nvSpPr>
        <p:spPr>
          <a:xfrm>
            <a:off x="-360" y="8686800"/>
            <a:ext cx="295596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5640" indent="-201600">
              <a:lnSpc>
                <a:spcPct val="100000"/>
              </a:lnSpc>
              <a:tabLst>
                <a:tab algn="l" pos="0"/>
                <a:tab algn="l" pos="360360"/>
                <a:tab algn="l" pos="720720"/>
                <a:tab algn="l" pos="1081080"/>
                <a:tab algn="l" pos="1441440"/>
                <a:tab algn="l" pos="1801800"/>
                <a:tab algn="l" pos="2162160"/>
                <a:tab algn="l" pos="2522520"/>
                <a:tab algn="l" pos="288288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</a:tabLst>
            </a:pPr>
            <a:r>
              <a:rPr b="0" lang="en-US" sz="1200" spc="-1" strike="noStrike">
                <a:latin typeface="Times New Roman"/>
                <a:ea typeface="Arial"/>
              </a:rPr>
              <a:t>&lt;footer&gt;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11" name="PlaceHolder 17"/>
          <p:cNvSpPr>
            <a:spLocks noGrp="1"/>
          </p:cNvSpPr>
          <p:nvPr>
            <p:ph type="sldNum"/>
          </p:nvPr>
        </p:nvSpPr>
        <p:spPr>
          <a:xfrm>
            <a:off x="3885840" y="8686800"/>
            <a:ext cx="295596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marL="215640" indent="-201600" algn="r">
              <a:lnSpc>
                <a:spcPct val="100000"/>
              </a:lnSpc>
              <a:tabLst>
                <a:tab algn="l" pos="0"/>
                <a:tab algn="l" pos="360360"/>
                <a:tab algn="l" pos="720720"/>
                <a:tab algn="l" pos="1081080"/>
                <a:tab algn="l" pos="1441440"/>
                <a:tab algn="l" pos="1801800"/>
                <a:tab algn="l" pos="2162160"/>
                <a:tab algn="l" pos="2522520"/>
                <a:tab algn="l" pos="288288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</a:tabLst>
            </a:pPr>
            <a:fld id="{385D8439-B2C8-400F-8E07-37C3E4E66F56}" type="slidenum">
              <a:rPr b="0" lang="en-US" sz="1200" spc="-1" strike="noStrike">
                <a:latin typeface="Times New Roman"/>
                <a:ea typeface="Arial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27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29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31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33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35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37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39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41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43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45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47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49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51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53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55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57" name="CustomShape 2"/>
          <p:cNvSpPr/>
          <p:nvPr/>
        </p:nvSpPr>
        <p:spPr>
          <a:xfrm>
            <a:off x="914400" y="4343400"/>
            <a:ext cx="5029200" cy="4114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11280" y="1542960"/>
            <a:ext cx="7905600" cy="4448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342720" indent="-342720" algn="ctr">
              <a:spcBef>
                <a:spcPts val="598"/>
              </a:spcBef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790560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11280" y="259920"/>
            <a:ext cx="7905600" cy="3938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342720" indent="-342720" algn="ctr">
              <a:spcBef>
                <a:spcPts val="598"/>
              </a:spcBef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1128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6236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11280" y="3866400"/>
            <a:ext cx="79056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79056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1280" y="3866400"/>
            <a:ext cx="79056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128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6236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84280" y="154296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5956920" y="154296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1280" y="386640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84280" y="386640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5956920" y="386640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611280" y="1542960"/>
            <a:ext cx="7905600" cy="4448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342720" indent="-342720" algn="ctr">
              <a:spcBef>
                <a:spcPts val="598"/>
              </a:spcBef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790560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611280" y="259920"/>
            <a:ext cx="7905600" cy="3938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marL="342720" indent="-342720" algn="ctr">
              <a:spcBef>
                <a:spcPts val="598"/>
              </a:spcBef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1128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66236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11280" y="3866400"/>
            <a:ext cx="79056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79056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11280" y="3866400"/>
            <a:ext cx="79056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662360" y="154296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1128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662360" y="3866400"/>
            <a:ext cx="385776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11280" y="154296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84280" y="154296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5956920" y="154296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11280" y="386640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84280" y="386640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5956920" y="3866400"/>
            <a:ext cx="2545200" cy="212148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189000" y="368280"/>
            <a:ext cx="8210520" cy="1036800"/>
            <a:chOff x="189000" y="368280"/>
            <a:chExt cx="8210520" cy="1036800"/>
          </a:xfrm>
        </p:grpSpPr>
        <p:sp>
          <p:nvSpPr>
            <p:cNvPr id="1" name="CustomShape 2"/>
            <p:cNvSpPr/>
            <p:nvPr/>
          </p:nvSpPr>
          <p:spPr>
            <a:xfrm>
              <a:off x="507960" y="368280"/>
              <a:ext cx="15840" cy="10368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CustomShape 3"/>
            <p:cNvSpPr/>
            <p:nvPr/>
          </p:nvSpPr>
          <p:spPr>
            <a:xfrm>
              <a:off x="189000" y="1158840"/>
              <a:ext cx="8210520" cy="1584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c1c1c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11280" y="259920"/>
            <a:ext cx="7905600" cy="84924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Clic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k to 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edit 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the 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title 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text 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for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mat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11280" y="1542960"/>
            <a:ext cx="7905600" cy="4448160"/>
          </a:xfrm>
          <a:prstGeom prst="rect">
            <a:avLst/>
          </a:prstGeom>
        </p:spPr>
        <p:txBody>
          <a:bodyPr lIns="90000" rIns="90000" tIns="46800" bIns="46800">
            <a:normAutofit/>
          </a:bodyPr>
          <a:p>
            <a:pPr marL="342720" indent="-342720">
              <a:spcBef>
                <a:spcPts val="598"/>
              </a:spcBef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342720" indent="-34272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342720" indent="-342720">
              <a:spcBef>
                <a:spcPts val="598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342720" indent="-342720"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342720" indent="-342720">
              <a:spcBef>
                <a:spcPts val="598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342720" indent="-342720">
              <a:spcBef>
                <a:spcPts val="598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42720" indent="-342720">
              <a:spcBef>
                <a:spcPts val="598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/>
          </p:nvPr>
        </p:nvSpPr>
        <p:spPr>
          <a:xfrm>
            <a:off x="610920" y="6165720"/>
            <a:ext cx="188892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th-TH" sz="2400" spc="-1" strike="noStrike">
                <a:latin typeface="Times New Roman"/>
                <a:ea typeface="DejaVu Sans"/>
              </a:rPr>
              <a:t>&lt;date/time&gt;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ftr"/>
          </p:nvPr>
        </p:nvSpPr>
        <p:spPr>
          <a:xfrm>
            <a:off x="3347640" y="6165720"/>
            <a:ext cx="287964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latin typeface="Times New Roman"/>
                <a:ea typeface="DejaVu Sans"/>
              </a:rPr>
              <a:t>&lt;footer&gt;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sldNum"/>
          </p:nvPr>
        </p:nvSpPr>
        <p:spPr>
          <a:xfrm>
            <a:off x="6804000" y="6165720"/>
            <a:ext cx="188928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fld id="{96149CF5-1D94-4CBC-84FE-0C6E46448D08}" type="slidenum">
              <a:rPr b="0" lang="en-US" sz="2400" spc="-1" strike="noStrike">
                <a:latin typeface="Times New Roman"/>
                <a:ea typeface="DejaVu Sans"/>
              </a:rPr>
              <a:t>&lt;number&gt;</a:t>
            </a:fld>
            <a:endParaRPr b="0" lang="en-US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1"/>
          <p:cNvGrpSpPr/>
          <p:nvPr/>
        </p:nvGrpSpPr>
        <p:grpSpPr>
          <a:xfrm>
            <a:off x="0" y="2438280"/>
            <a:ext cx="8993160" cy="1036800"/>
            <a:chOff x="0" y="2438280"/>
            <a:chExt cx="8993160" cy="1036800"/>
          </a:xfrm>
        </p:grpSpPr>
        <p:grpSp>
          <p:nvGrpSpPr>
            <p:cNvPr id="45" name="Group 2"/>
            <p:cNvGrpSpPr/>
            <p:nvPr/>
          </p:nvGrpSpPr>
          <p:grpSpPr>
            <a:xfrm>
              <a:off x="290520" y="2546280"/>
              <a:ext cx="695160" cy="459000"/>
              <a:chOff x="290520" y="2546280"/>
              <a:chExt cx="695160" cy="459000"/>
            </a:xfrm>
          </p:grpSpPr>
          <p:sp>
            <p:nvSpPr>
              <p:cNvPr id="46" name="CustomShape 3"/>
              <p:cNvSpPr/>
              <p:nvPr/>
            </p:nvSpPr>
            <p:spPr>
              <a:xfrm>
                <a:off x="290520" y="2546280"/>
                <a:ext cx="422280" cy="459000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" name="CustomShape 4"/>
              <p:cNvSpPr/>
              <p:nvPr/>
            </p:nvSpPr>
            <p:spPr>
              <a:xfrm>
                <a:off x="673200" y="2546280"/>
                <a:ext cx="312480" cy="45900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3333cc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" name="Group 5"/>
            <p:cNvGrpSpPr/>
            <p:nvPr/>
          </p:nvGrpSpPr>
          <p:grpSpPr>
            <a:xfrm>
              <a:off x="414360" y="2968560"/>
              <a:ext cx="721800" cy="459000"/>
              <a:chOff x="414360" y="2968560"/>
              <a:chExt cx="721800" cy="459000"/>
            </a:xfrm>
          </p:grpSpPr>
          <p:sp>
            <p:nvSpPr>
              <p:cNvPr id="49" name="CustomShape 6"/>
              <p:cNvSpPr/>
              <p:nvPr/>
            </p:nvSpPr>
            <p:spPr>
              <a:xfrm>
                <a:off x="414360" y="2968560"/>
                <a:ext cx="421560" cy="459000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" name="CustomShape 7"/>
              <p:cNvSpPr/>
              <p:nvPr/>
            </p:nvSpPr>
            <p:spPr>
              <a:xfrm>
                <a:off x="783360" y="2968560"/>
                <a:ext cx="352800" cy="459000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cf01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51" name="CustomShape 8"/>
            <p:cNvSpPr/>
            <p:nvPr/>
          </p:nvSpPr>
          <p:spPr>
            <a:xfrm>
              <a:off x="0" y="2895480"/>
              <a:ext cx="544680" cy="406440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CustomShape 9"/>
            <p:cNvSpPr/>
            <p:nvPr/>
          </p:nvSpPr>
          <p:spPr>
            <a:xfrm>
              <a:off x="635040" y="2438280"/>
              <a:ext cx="15840" cy="10368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" name="CustomShape 10"/>
            <p:cNvSpPr/>
            <p:nvPr/>
          </p:nvSpPr>
          <p:spPr>
            <a:xfrm flipV="1">
              <a:off x="316080" y="3260520"/>
              <a:ext cx="8677080" cy="3960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1c1c1c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4" name="PlaceHolder 11"/>
          <p:cNvSpPr>
            <a:spLocks noGrp="1"/>
          </p:cNvSpPr>
          <p:nvPr>
            <p:ph type="title"/>
          </p:nvPr>
        </p:nvSpPr>
        <p:spPr>
          <a:xfrm>
            <a:off x="990720" y="1676160"/>
            <a:ext cx="7756560" cy="144612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55" name="PlaceHolder 12"/>
          <p:cNvSpPr>
            <a:spLocks noGrp="1"/>
          </p:cNvSpPr>
          <p:nvPr>
            <p:ph type="dt"/>
          </p:nvPr>
        </p:nvSpPr>
        <p:spPr>
          <a:xfrm>
            <a:off x="990360" y="6248520"/>
            <a:ext cx="188892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th-TH" sz="1400" spc="-1" strike="noStrike">
                <a:solidFill>
                  <a:srgbClr val="1c1c1c"/>
                </a:solidFill>
                <a:latin typeface="Times New Roman"/>
                <a:ea typeface="Arial Unicode MS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6" name="PlaceHolder 13"/>
          <p:cNvSpPr>
            <a:spLocks noGrp="1"/>
          </p:cNvSpPr>
          <p:nvPr>
            <p:ph type="ftr"/>
          </p:nvPr>
        </p:nvSpPr>
        <p:spPr>
          <a:xfrm>
            <a:off x="3428640" y="6248520"/>
            <a:ext cx="287964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400" spc="-1" strike="noStrike">
                <a:solidFill>
                  <a:srgbClr val="1c1c1c"/>
                </a:solidFill>
                <a:latin typeface="Times New Roman"/>
                <a:ea typeface="Arial Unicode M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7" name="PlaceHolder 14"/>
          <p:cNvSpPr>
            <a:spLocks noGrp="1"/>
          </p:cNvSpPr>
          <p:nvPr>
            <p:ph type="sldNum"/>
          </p:nvPr>
        </p:nvSpPr>
        <p:spPr>
          <a:xfrm>
            <a:off x="6858000" y="6248520"/>
            <a:ext cx="1889280" cy="441360"/>
          </a:xfrm>
          <a:prstGeom prst="rect">
            <a:avLst/>
          </a:prstGeom>
        </p:spPr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fld id="{77A7C166-0720-4DEE-BFE0-FADEA4FD6368}" type="slidenum">
              <a:rPr b="0" lang="en-US" sz="1400" spc="-1" strike="noStrike">
                <a:solidFill>
                  <a:srgbClr val="1c1c1c"/>
                </a:solidFill>
                <a:latin typeface="Times New Roman"/>
                <a:ea typeface="Arial Unicode MS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58" name="PlaceHolder 1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342720" indent="-342720" algn="ctr">
              <a:spcBef>
                <a:spcPts val="598"/>
              </a:spcBef>
              <a:tabLst>
                <a:tab algn="l" pos="0"/>
                <a:tab algn="l" pos="358560"/>
                <a:tab algn="l" pos="71748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85480" algn="ctr">
              <a:spcBef>
                <a:spcPts val="598"/>
              </a:spcBef>
              <a:tabLst>
                <a:tab algn="l" pos="0"/>
                <a:tab algn="l" pos="107604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algn="ctr"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143496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algn="ctr"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79352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algn="ctr">
              <a:spcBef>
                <a:spcPts val="448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 algn="ctr">
              <a:spcBef>
                <a:spcPts val="448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 algn="ctr">
              <a:spcBef>
                <a:spcPts val="448"/>
              </a:spcBef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152440"/>
                <a:tab algn="l" pos="2511360"/>
                <a:tab algn="l" pos="2869920"/>
                <a:tab algn="l" pos="3228840"/>
                <a:tab algn="l" pos="3587400"/>
                <a:tab algn="l" pos="3946320"/>
                <a:tab algn="l" pos="4305240"/>
                <a:tab algn="l" pos="4663800"/>
                <a:tab algn="l" pos="5022720"/>
                <a:tab algn="l" pos="5381280"/>
                <a:tab algn="l" pos="5740200"/>
                <a:tab algn="l" pos="6099120"/>
                <a:tab algn="l" pos="6457680"/>
                <a:tab algn="l" pos="681660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822240" y="1663560"/>
            <a:ext cx="7446960" cy="1462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Database Basics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1346040" y="3604680"/>
            <a:ext cx="6400800" cy="1752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A basic introduction to relational databases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James Brucker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Relational or NoSQL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611280" y="1327320"/>
            <a:ext cx="7921440" cy="5132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 fontScale="97000"/>
          </a:bodyPr>
          <a:p>
            <a:pPr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Relational Databases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 -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data stored in structured format, with data in fields (columns), one record per row, in tables. Tables are similar to tables in a spreadsheet, but columns have fixed size.  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Data in different tables can be related based on common values or expressions.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ff0000"/>
                </a:solidFill>
                <a:latin typeface="Arial"/>
              </a:rPr>
              <a:t>Examples: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Sqlite, MySQL, Oracle, H2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NoSQL Databases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- any database not organized like a Relational Database.  Some forms are document-oriented and graph databases.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ff0000"/>
                </a:solidFill>
                <a:latin typeface="Arial"/>
              </a:rPr>
              <a:t>Examples: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MongoDB, CouchDB (document),</a:t>
            </a:r>
            <a:br/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                   Neo4j (graph)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Database Structure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1809720" y="1476360"/>
            <a:ext cx="11559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Database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1195560" y="2449440"/>
            <a:ext cx="1017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Schema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grpSp>
        <p:nvGrpSpPr>
          <p:cNvPr id="119" name="Group 4"/>
          <p:cNvGrpSpPr/>
          <p:nvPr/>
        </p:nvGrpSpPr>
        <p:grpSpPr>
          <a:xfrm>
            <a:off x="165240" y="3314880"/>
            <a:ext cx="957960" cy="1098360"/>
            <a:chOff x="165240" y="3314880"/>
            <a:chExt cx="957960" cy="1098360"/>
          </a:xfrm>
        </p:grpSpPr>
        <p:sp>
          <p:nvSpPr>
            <p:cNvPr id="120" name="CustomShape 5"/>
            <p:cNvSpPr/>
            <p:nvPr/>
          </p:nvSpPr>
          <p:spPr>
            <a:xfrm>
              <a:off x="174240" y="3314880"/>
              <a:ext cx="948960" cy="1098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Table</a:t>
              </a:r>
              <a:endParaRPr b="0" lang="en-US" sz="18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field1: t1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field2: t2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field3: t3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</p:txBody>
        </p:sp>
        <p:sp>
          <p:nvSpPr>
            <p:cNvPr id="121" name="Line 6"/>
            <p:cNvSpPr/>
            <p:nvPr/>
          </p:nvSpPr>
          <p:spPr>
            <a:xfrm>
              <a:off x="165240" y="3633840"/>
              <a:ext cx="954000" cy="0"/>
            </a:xfrm>
            <a:prstGeom prst="line">
              <a:avLst/>
            </a:prstGeom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2" name="CustomShape 7"/>
          <p:cNvSpPr/>
          <p:nvPr/>
        </p:nvSpPr>
        <p:spPr>
          <a:xfrm>
            <a:off x="181080" y="4654440"/>
            <a:ext cx="960480" cy="693720"/>
          </a:xfrm>
          <a:custGeom>
            <a:avLst/>
            <a:gdLst/>
            <a:ahLst/>
            <a:rect l="0" t="0" r="r" b="b"/>
            <a:pathLst>
              <a:path w="2670" h="1929">
                <a:moveTo>
                  <a:pt x="2669" y="642"/>
                </a:moveTo>
                <a:lnTo>
                  <a:pt x="2669" y="1928"/>
                </a:lnTo>
                <a:lnTo>
                  <a:pt x="0" y="1928"/>
                </a:lnTo>
                <a:lnTo>
                  <a:pt x="0" y="642"/>
                </a:lnTo>
                <a:lnTo>
                  <a:pt x="1151" y="642"/>
                </a:lnTo>
                <a:lnTo>
                  <a:pt x="1151" y="414"/>
                </a:lnTo>
                <a:lnTo>
                  <a:pt x="667" y="414"/>
                </a:lnTo>
                <a:lnTo>
                  <a:pt x="1334" y="0"/>
                </a:lnTo>
                <a:lnTo>
                  <a:pt x="2001" y="414"/>
                </a:lnTo>
                <a:lnTo>
                  <a:pt x="1517" y="414"/>
                </a:lnTo>
                <a:lnTo>
                  <a:pt x="1517" y="642"/>
                </a:lnTo>
                <a:lnTo>
                  <a:pt x="2669" y="642"/>
                </a:lnTo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CustomShape 8"/>
          <p:cNvSpPr/>
          <p:nvPr/>
        </p:nvSpPr>
        <p:spPr>
          <a:xfrm>
            <a:off x="192240" y="4965840"/>
            <a:ext cx="93636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indexes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24" name="CustomShape 9"/>
          <p:cNvSpPr/>
          <p:nvPr/>
        </p:nvSpPr>
        <p:spPr>
          <a:xfrm>
            <a:off x="3147840" y="2476440"/>
            <a:ext cx="1035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Schema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grpSp>
        <p:nvGrpSpPr>
          <p:cNvPr id="125" name="Group 10"/>
          <p:cNvGrpSpPr/>
          <p:nvPr/>
        </p:nvGrpSpPr>
        <p:grpSpPr>
          <a:xfrm>
            <a:off x="1219320" y="3324240"/>
            <a:ext cx="957960" cy="1098360"/>
            <a:chOff x="1219320" y="3324240"/>
            <a:chExt cx="957960" cy="1098360"/>
          </a:xfrm>
        </p:grpSpPr>
        <p:sp>
          <p:nvSpPr>
            <p:cNvPr id="126" name="CustomShape 11"/>
            <p:cNvSpPr/>
            <p:nvPr/>
          </p:nvSpPr>
          <p:spPr>
            <a:xfrm>
              <a:off x="1228320" y="3324240"/>
              <a:ext cx="948960" cy="1098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Table</a:t>
              </a:r>
              <a:endParaRPr b="0" lang="en-US" sz="18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field1: t1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field2: t2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field3: t3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</p:txBody>
        </p:sp>
        <p:sp>
          <p:nvSpPr>
            <p:cNvPr id="127" name="Line 12"/>
            <p:cNvSpPr/>
            <p:nvPr/>
          </p:nvSpPr>
          <p:spPr>
            <a:xfrm>
              <a:off x="1219320" y="3643200"/>
              <a:ext cx="954000" cy="0"/>
            </a:xfrm>
            <a:prstGeom prst="line">
              <a:avLst/>
            </a:prstGeom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8" name="CustomShape 13"/>
          <p:cNvSpPr/>
          <p:nvPr/>
        </p:nvSpPr>
        <p:spPr>
          <a:xfrm>
            <a:off x="1235160" y="4664160"/>
            <a:ext cx="960480" cy="693720"/>
          </a:xfrm>
          <a:custGeom>
            <a:avLst/>
            <a:gdLst/>
            <a:ahLst/>
            <a:rect l="0" t="0" r="r" b="b"/>
            <a:pathLst>
              <a:path w="2670" h="1929">
                <a:moveTo>
                  <a:pt x="2669" y="642"/>
                </a:moveTo>
                <a:lnTo>
                  <a:pt x="2669" y="1928"/>
                </a:lnTo>
                <a:lnTo>
                  <a:pt x="0" y="1928"/>
                </a:lnTo>
                <a:lnTo>
                  <a:pt x="0" y="642"/>
                </a:lnTo>
                <a:lnTo>
                  <a:pt x="1151" y="642"/>
                </a:lnTo>
                <a:lnTo>
                  <a:pt x="1151" y="414"/>
                </a:lnTo>
                <a:lnTo>
                  <a:pt x="667" y="414"/>
                </a:lnTo>
                <a:lnTo>
                  <a:pt x="1334" y="0"/>
                </a:lnTo>
                <a:lnTo>
                  <a:pt x="2001" y="414"/>
                </a:lnTo>
                <a:lnTo>
                  <a:pt x="1517" y="414"/>
                </a:lnTo>
                <a:lnTo>
                  <a:pt x="1517" y="642"/>
                </a:lnTo>
                <a:lnTo>
                  <a:pt x="2669" y="642"/>
                </a:lnTo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14"/>
          <p:cNvSpPr/>
          <p:nvPr/>
        </p:nvSpPr>
        <p:spPr>
          <a:xfrm>
            <a:off x="1246320" y="4975200"/>
            <a:ext cx="93636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indexes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grpSp>
        <p:nvGrpSpPr>
          <p:cNvPr id="130" name="Group 15"/>
          <p:cNvGrpSpPr/>
          <p:nvPr/>
        </p:nvGrpSpPr>
        <p:grpSpPr>
          <a:xfrm>
            <a:off x="2316240" y="3324240"/>
            <a:ext cx="957960" cy="1098360"/>
            <a:chOff x="2316240" y="3324240"/>
            <a:chExt cx="957960" cy="1098360"/>
          </a:xfrm>
        </p:grpSpPr>
        <p:sp>
          <p:nvSpPr>
            <p:cNvPr id="131" name="CustomShape 16"/>
            <p:cNvSpPr/>
            <p:nvPr/>
          </p:nvSpPr>
          <p:spPr>
            <a:xfrm>
              <a:off x="2325240" y="3324240"/>
              <a:ext cx="948960" cy="1098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Table</a:t>
              </a:r>
              <a:endParaRPr b="0" lang="en-US" sz="18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field1: t1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field2: t2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field3: t3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</p:txBody>
        </p:sp>
        <p:sp>
          <p:nvSpPr>
            <p:cNvPr id="132" name="Line 17"/>
            <p:cNvSpPr/>
            <p:nvPr/>
          </p:nvSpPr>
          <p:spPr>
            <a:xfrm>
              <a:off x="2316240" y="3643200"/>
              <a:ext cx="954000" cy="0"/>
            </a:xfrm>
            <a:prstGeom prst="line">
              <a:avLst/>
            </a:prstGeom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3" name="CustomShape 18"/>
          <p:cNvSpPr/>
          <p:nvPr/>
        </p:nvSpPr>
        <p:spPr>
          <a:xfrm>
            <a:off x="2332080" y="4664160"/>
            <a:ext cx="960480" cy="693720"/>
          </a:xfrm>
          <a:custGeom>
            <a:avLst/>
            <a:gdLst/>
            <a:ahLst/>
            <a:rect l="0" t="0" r="r" b="b"/>
            <a:pathLst>
              <a:path w="2670" h="1929">
                <a:moveTo>
                  <a:pt x="2669" y="642"/>
                </a:moveTo>
                <a:lnTo>
                  <a:pt x="2669" y="1928"/>
                </a:lnTo>
                <a:lnTo>
                  <a:pt x="0" y="1928"/>
                </a:lnTo>
                <a:lnTo>
                  <a:pt x="0" y="642"/>
                </a:lnTo>
                <a:lnTo>
                  <a:pt x="1151" y="642"/>
                </a:lnTo>
                <a:lnTo>
                  <a:pt x="1151" y="414"/>
                </a:lnTo>
                <a:lnTo>
                  <a:pt x="667" y="414"/>
                </a:lnTo>
                <a:lnTo>
                  <a:pt x="1334" y="0"/>
                </a:lnTo>
                <a:lnTo>
                  <a:pt x="2001" y="414"/>
                </a:lnTo>
                <a:lnTo>
                  <a:pt x="1517" y="414"/>
                </a:lnTo>
                <a:lnTo>
                  <a:pt x="1517" y="642"/>
                </a:lnTo>
                <a:lnTo>
                  <a:pt x="2669" y="642"/>
                </a:lnTo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CustomShape 19"/>
          <p:cNvSpPr/>
          <p:nvPr/>
        </p:nvSpPr>
        <p:spPr>
          <a:xfrm>
            <a:off x="2343240" y="4975200"/>
            <a:ext cx="93636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indexes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grpSp>
        <p:nvGrpSpPr>
          <p:cNvPr id="135" name="Group 20"/>
          <p:cNvGrpSpPr/>
          <p:nvPr/>
        </p:nvGrpSpPr>
        <p:grpSpPr>
          <a:xfrm>
            <a:off x="3375000" y="3309840"/>
            <a:ext cx="959760" cy="1098360"/>
            <a:chOff x="3375000" y="3309840"/>
            <a:chExt cx="959760" cy="1098360"/>
          </a:xfrm>
        </p:grpSpPr>
        <p:sp>
          <p:nvSpPr>
            <p:cNvPr id="136" name="CustomShape 21"/>
            <p:cNvSpPr/>
            <p:nvPr/>
          </p:nvSpPr>
          <p:spPr>
            <a:xfrm>
              <a:off x="3385800" y="3309840"/>
              <a:ext cx="948960" cy="1098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Arial"/>
                </a:rPr>
                <a:t>Table</a:t>
              </a:r>
              <a:endParaRPr b="0" lang="en-US" sz="18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field1: t1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field2: t2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447480"/>
                  <a:tab algn="l" pos="896760"/>
                  <a:tab algn="l" pos="1346040"/>
                  <a:tab algn="l" pos="1795320"/>
                  <a:tab algn="l" pos="2244600"/>
                  <a:tab algn="l" pos="2693880"/>
                  <a:tab algn="l" pos="3143160"/>
                  <a:tab algn="l" pos="3592440"/>
                  <a:tab algn="l" pos="4041720"/>
                  <a:tab algn="l" pos="4491000"/>
                  <a:tab algn="l" pos="4940280"/>
                  <a:tab algn="l" pos="5389560"/>
                  <a:tab algn="l" pos="5838480"/>
                  <a:tab algn="l" pos="6287760"/>
                  <a:tab algn="l" pos="6737040"/>
                  <a:tab algn="l" pos="7186320"/>
                  <a:tab algn="l" pos="7635600"/>
                  <a:tab algn="l" pos="8084880"/>
                  <a:tab algn="l" pos="8534160"/>
                  <a:tab algn="l" pos="8983440"/>
                  <a:tab algn="l" pos="9327960"/>
                  <a:tab algn="l" pos="9686880"/>
                  <a:tab algn="l" pos="10045440"/>
                  <a:tab algn="l" pos="10404360"/>
                  <a:tab algn="l" pos="1076292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Arial"/>
                </a:rPr>
                <a:t>field3: t3</a:t>
              </a:r>
              <a:endParaRPr b="0" lang="en-US" sz="1600" spc="-1" strike="noStrike">
                <a:solidFill>
                  <a:srgbClr val="000000"/>
                </a:solidFill>
                <a:latin typeface="Arial Unicode MS"/>
              </a:endParaRPr>
            </a:p>
          </p:txBody>
        </p:sp>
        <p:sp>
          <p:nvSpPr>
            <p:cNvPr id="137" name="Line 22"/>
            <p:cNvSpPr/>
            <p:nvPr/>
          </p:nvSpPr>
          <p:spPr>
            <a:xfrm>
              <a:off x="3375000" y="3629160"/>
              <a:ext cx="955800" cy="0"/>
            </a:xfrm>
            <a:prstGeom prst="line">
              <a:avLst/>
            </a:prstGeom>
            <a:ln cap="sq" w="12600">
              <a:solidFill>
                <a:srgbClr val="33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8" name="CustomShape 23"/>
          <p:cNvSpPr/>
          <p:nvPr/>
        </p:nvSpPr>
        <p:spPr>
          <a:xfrm>
            <a:off x="3390840" y="4649760"/>
            <a:ext cx="960480" cy="693720"/>
          </a:xfrm>
          <a:custGeom>
            <a:avLst/>
            <a:gdLst/>
            <a:ahLst/>
            <a:rect l="0" t="0" r="r" b="b"/>
            <a:pathLst>
              <a:path w="2670" h="1929">
                <a:moveTo>
                  <a:pt x="2669" y="642"/>
                </a:moveTo>
                <a:lnTo>
                  <a:pt x="2669" y="1928"/>
                </a:lnTo>
                <a:lnTo>
                  <a:pt x="0" y="1928"/>
                </a:lnTo>
                <a:lnTo>
                  <a:pt x="0" y="642"/>
                </a:lnTo>
                <a:lnTo>
                  <a:pt x="1151" y="642"/>
                </a:lnTo>
                <a:lnTo>
                  <a:pt x="1151" y="414"/>
                </a:lnTo>
                <a:lnTo>
                  <a:pt x="667" y="414"/>
                </a:lnTo>
                <a:lnTo>
                  <a:pt x="1334" y="0"/>
                </a:lnTo>
                <a:lnTo>
                  <a:pt x="2001" y="414"/>
                </a:lnTo>
                <a:lnTo>
                  <a:pt x="1517" y="414"/>
                </a:lnTo>
                <a:lnTo>
                  <a:pt x="1517" y="642"/>
                </a:lnTo>
                <a:lnTo>
                  <a:pt x="2669" y="642"/>
                </a:lnTo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CustomShape 24"/>
          <p:cNvSpPr/>
          <p:nvPr/>
        </p:nvSpPr>
        <p:spPr>
          <a:xfrm>
            <a:off x="3402000" y="4960800"/>
            <a:ext cx="93672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indexes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40" name="Line 25"/>
          <p:cNvSpPr/>
          <p:nvPr/>
        </p:nvSpPr>
        <p:spPr>
          <a:xfrm flipH="1">
            <a:off x="1720440" y="1889280"/>
            <a:ext cx="576360" cy="56484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Line 26"/>
          <p:cNvSpPr/>
          <p:nvPr/>
        </p:nvSpPr>
        <p:spPr>
          <a:xfrm flipH="1">
            <a:off x="741240" y="2846520"/>
            <a:ext cx="789120" cy="48420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Line 27"/>
          <p:cNvSpPr/>
          <p:nvPr/>
        </p:nvSpPr>
        <p:spPr>
          <a:xfrm>
            <a:off x="1724040" y="2820960"/>
            <a:ext cx="1440" cy="50976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Line 28"/>
          <p:cNvSpPr/>
          <p:nvPr/>
        </p:nvSpPr>
        <p:spPr>
          <a:xfrm>
            <a:off x="1919160" y="2820960"/>
            <a:ext cx="824040" cy="50976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Line 29"/>
          <p:cNvSpPr/>
          <p:nvPr/>
        </p:nvSpPr>
        <p:spPr>
          <a:xfrm>
            <a:off x="2743200" y="1901880"/>
            <a:ext cx="754200" cy="53964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Line 30"/>
          <p:cNvSpPr/>
          <p:nvPr/>
        </p:nvSpPr>
        <p:spPr>
          <a:xfrm>
            <a:off x="3630600" y="2846520"/>
            <a:ext cx="144360" cy="47124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CustomShape 31"/>
          <p:cNvSpPr/>
          <p:nvPr/>
        </p:nvSpPr>
        <p:spPr>
          <a:xfrm>
            <a:off x="4557600" y="1465200"/>
            <a:ext cx="4249800" cy="414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 database contains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schema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, which describe its structure.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schema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can contain: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tables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- containing data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index files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- for fast lookup of data in tables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stored procedures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constraints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triggers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, and more 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47" name="CustomShape 32"/>
          <p:cNvSpPr/>
          <p:nvPr/>
        </p:nvSpPr>
        <p:spPr>
          <a:xfrm>
            <a:off x="182520" y="5851440"/>
            <a:ext cx="8504280" cy="395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Arial"/>
              </a:rPr>
              <a:t>SQLite databases have only </a:t>
            </a:r>
            <a:r>
              <a:rPr b="1" i="1" lang="en-US" sz="2000" spc="-1" strike="noStrike">
                <a:solidFill>
                  <a:srgbClr val="000080"/>
                </a:solidFill>
                <a:latin typeface="Arial"/>
              </a:rPr>
              <a:t>one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</a:rPr>
              <a:t> schema, so its not shown.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A Table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608040" y="1468080"/>
            <a:ext cx="7921440" cy="1917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table contains the actual data in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</a:rPr>
              <a:t>records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(rows).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record is composed of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</a:rPr>
              <a:t>fields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(columns).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Each record contains one set of data values.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1484280" y="3211560"/>
            <a:ext cx="7489800" cy="2127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+------+------------+-------+-------------+---------+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ID   | Name       | CCode | District    | Populatn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+------+------------+-------+-------------+---------+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3320 | Bangkok    | THA   | Bangkok     | 6320174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3321 | Nonthaburi | THA   | Nonthaburi  |  292100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3323 | Chiang Mai | THA   | Chiang Mai  |  171100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+------+------------+-------+-------------+---------+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49320" y="3908520"/>
            <a:ext cx="1560240" cy="947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Comic Sans MS"/>
                <a:ea typeface="Arial"/>
              </a:rPr>
              <a:t>records</a:t>
            </a: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 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(rows)</a:t>
            </a:r>
            <a:endParaRPr b="0" lang="en-US" sz="2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52" name="CustomShape 5"/>
          <p:cNvSpPr/>
          <p:nvPr/>
        </p:nvSpPr>
        <p:spPr>
          <a:xfrm>
            <a:off x="3241800" y="5594400"/>
            <a:ext cx="351000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Comic Sans MS"/>
                <a:ea typeface="Arial"/>
              </a:rPr>
              <a:t>fields</a:t>
            </a: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 (columns)</a:t>
            </a:r>
            <a:endParaRPr b="0" lang="en-US" sz="28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a50021"/>
                </a:solidFill>
                <a:latin typeface="Arial"/>
              </a:rPr>
              <a:t>Key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 field to Identify Rows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611280" y="1542600"/>
            <a:ext cx="7921440" cy="2597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table contains a </a:t>
            </a:r>
            <a:r>
              <a:rPr b="0" i="1" lang="en-US" sz="2400" spc="-1" strike="noStrike">
                <a:solidFill>
                  <a:srgbClr val="ff0000"/>
                </a:solidFill>
                <a:latin typeface="Arial"/>
              </a:rPr>
              <a:t>primary key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that </a:t>
            </a:r>
            <a:r>
              <a:rPr b="0" lang="en-US" sz="2400" spc="-1" strike="noStrike" u="sng">
                <a:solidFill>
                  <a:srgbClr val="333399"/>
                </a:solidFill>
                <a:uFillTx/>
                <a:latin typeface="Arial"/>
              </a:rPr>
              <a:t>uniquely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identifies a row of data.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Each record must have 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distinct value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of primary key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primary key is used to relate data in tables.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4716360" y="4319640"/>
            <a:ext cx="214560" cy="320760"/>
          </a:xfrm>
          <a:custGeom>
            <a:avLst/>
            <a:gdLst/>
            <a:ahLst/>
            <a:rect l="0" t="0" r="r" b="b"/>
            <a:pathLst>
              <a:path w="598" h="893">
                <a:moveTo>
                  <a:pt x="149" y="0"/>
                </a:moveTo>
                <a:lnTo>
                  <a:pt x="149" y="669"/>
                </a:lnTo>
                <a:lnTo>
                  <a:pt x="0" y="669"/>
                </a:lnTo>
                <a:lnTo>
                  <a:pt x="298" y="892"/>
                </a:lnTo>
                <a:lnTo>
                  <a:pt x="597" y="669"/>
                </a:lnTo>
                <a:lnTo>
                  <a:pt x="447" y="669"/>
                </a:lnTo>
                <a:lnTo>
                  <a:pt x="447" y="0"/>
                </a:lnTo>
                <a:lnTo>
                  <a:pt x="149" y="0"/>
                </a:lnTo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4"/>
          <p:cNvSpPr/>
          <p:nvPr/>
        </p:nvSpPr>
        <p:spPr>
          <a:xfrm>
            <a:off x="812880" y="3908520"/>
            <a:ext cx="7691400" cy="2127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+------+------------+-------+-------------+---------+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</a:t>
            </a:r>
            <a:r>
              <a:rPr b="1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ID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| Name       | CCode | District    | Populatn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+------+---------------+------------------</a:t>
            </a:r>
            <a:r>
              <a:rPr b="1" lang="en-US" sz="1800" spc="-1" strike="noStrike">
                <a:solidFill>
                  <a:srgbClr val="000000"/>
                </a:solidFill>
                <a:latin typeface="Arial Unicode MS"/>
                <a:ea typeface="Arial"/>
              </a:rPr>
              <a:t>+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</a:t>
            </a:r>
            <a:r>
              <a:rPr b="1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3320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| Bangkok    | THA   | Bangkok     | 6320174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</a:t>
            </a:r>
            <a:r>
              <a:rPr b="1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3321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| Nonthaburi | THA   | Nonthaburi  |  292100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</a:t>
            </a:r>
            <a:r>
              <a:rPr b="1" lang="en-US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3323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| Chiang Mai | THA   | Chiang Mai  |  171100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+------+------------+-------+-------------+---------+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695160" y="3541680"/>
            <a:ext cx="1336680" cy="2728800"/>
          </a:xfrm>
          <a:prstGeom prst="rect">
            <a:avLst/>
          </a:prstGeom>
          <a:noFill/>
          <a:ln cap="sq" w="9360">
            <a:solidFill>
              <a:srgbClr val="3333cc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CustomShape 6"/>
          <p:cNvSpPr/>
          <p:nvPr/>
        </p:nvSpPr>
        <p:spPr>
          <a:xfrm>
            <a:off x="2162160" y="3381480"/>
            <a:ext cx="45720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Arial"/>
              </a:rPr>
              <a:t>ID is the </a:t>
            </a:r>
            <a:r>
              <a:rPr b="0" lang="en-US" sz="2000" spc="-1" strike="noStrike">
                <a:solidFill>
                  <a:srgbClr val="ce181e"/>
                </a:solidFill>
                <a:latin typeface="Comic Sans MS"/>
                <a:ea typeface="Arial"/>
              </a:rPr>
              <a:t>primary key</a:t>
            </a: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Arial"/>
              </a:rPr>
              <a:t> in City table.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59" name="Line 7"/>
          <p:cNvSpPr/>
          <p:nvPr/>
        </p:nvSpPr>
        <p:spPr>
          <a:xfrm flipH="1">
            <a:off x="1536480" y="3541680"/>
            <a:ext cx="641160" cy="711360"/>
          </a:xfrm>
          <a:prstGeom prst="line">
            <a:avLst/>
          </a:prstGeom>
          <a:ln cap="sq"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Structure of a Table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611280" y="1542960"/>
            <a:ext cx="7921440" cy="217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 fontScale="94000"/>
          </a:bodyPr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Every field has: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data type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and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length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To view the structure of a table use: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DESCRIBE </a:t>
            </a:r>
            <a:r>
              <a:rPr b="0" i="1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tablename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393840" y="3908520"/>
            <a:ext cx="8327880" cy="264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sql&gt; </a:t>
            </a: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DESCRIBE City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;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Field       | Type      | Null| Key | Default | Extra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ID          | int(11)   | NO  | </a:t>
            </a: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PRI</a:t>
            </a: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 |         | auto_increment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Name        | char(35)  | NO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CountryCode | char(3)   | NO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District    | char(20)  | NO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Population  | int(11)   | NO  |     | 0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Field types and attributes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611280" y="1542600"/>
            <a:ext cx="8440560" cy="13827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Each field (column) has an SQL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 data type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, like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char(20)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Fields can have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constraints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(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not null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) and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default values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3"/>
          <p:cNvSpPr/>
          <p:nvPr/>
        </p:nvSpPr>
        <p:spPr>
          <a:xfrm>
            <a:off x="393840" y="2658960"/>
            <a:ext cx="8327880" cy="264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sql&gt; </a:t>
            </a: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SHOW columns FROM City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;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Field       | Type      | Null| Key | Default | Extra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ID          | int(11)   | NO  | </a:t>
            </a: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PRI</a:t>
            </a: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 |         | auto_increment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Name        | char(35)  | NO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CountryCode | char(3)   | NO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District    | char(20)  | NO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Population  | int(11)   | NO  |     | 0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66" name="CustomShape 4"/>
          <p:cNvSpPr/>
          <p:nvPr/>
        </p:nvSpPr>
        <p:spPr>
          <a:xfrm>
            <a:off x="5211720" y="5559480"/>
            <a:ext cx="3657600" cy="70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Arial"/>
              </a:rPr>
              <a:t>A default value to use if value is not assigned explicitly.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67" name="Line 5"/>
          <p:cNvSpPr/>
          <p:nvPr/>
        </p:nvSpPr>
        <p:spPr>
          <a:xfrm flipH="1" flipV="1">
            <a:off x="5442120" y="5005440"/>
            <a:ext cx="220320" cy="627120"/>
          </a:xfrm>
          <a:prstGeom prst="line">
            <a:avLst/>
          </a:prstGeom>
          <a:ln cap="sq"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Keys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69" name="TextShape 2"/>
          <p:cNvSpPr txBox="1"/>
          <p:nvPr/>
        </p:nvSpPr>
        <p:spPr>
          <a:xfrm>
            <a:off x="611280" y="1400040"/>
            <a:ext cx="7921440" cy="1160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 fontScale="94000"/>
          </a:bodyPr>
          <a:p>
            <a:pPr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Every table should have a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primary key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that uniquely identifies each row.  </a:t>
            </a:r>
            <a:br/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1335240" y="4502160"/>
            <a:ext cx="222084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City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ID (PK)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333399"/>
                </a:solidFill>
                <a:latin typeface="Courier New"/>
                <a:ea typeface="Courier New"/>
              </a:rPr>
              <a:t>CountryCode (FK)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Population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District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71" name="Line 4"/>
          <p:cNvSpPr/>
          <p:nvPr/>
        </p:nvSpPr>
        <p:spPr>
          <a:xfrm>
            <a:off x="1322280" y="4768920"/>
            <a:ext cx="2237040" cy="1440"/>
          </a:xfrm>
          <a:prstGeom prst="line">
            <a:avLst/>
          </a:prstGeom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CustomShape 5"/>
          <p:cNvSpPr/>
          <p:nvPr/>
        </p:nvSpPr>
        <p:spPr>
          <a:xfrm>
            <a:off x="5514840" y="4498920"/>
            <a:ext cx="222120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Country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Code</a:t>
            </a: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(PK)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Continent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Capital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73" name="Line 6"/>
          <p:cNvSpPr/>
          <p:nvPr/>
        </p:nvSpPr>
        <p:spPr>
          <a:xfrm>
            <a:off x="5502240" y="4780080"/>
            <a:ext cx="2236680" cy="1440"/>
          </a:xfrm>
          <a:prstGeom prst="line">
            <a:avLst/>
          </a:prstGeom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Line 7"/>
          <p:cNvSpPr/>
          <p:nvPr/>
        </p:nvSpPr>
        <p:spPr>
          <a:xfrm flipV="1">
            <a:off x="3573360" y="5280120"/>
            <a:ext cx="1951200" cy="396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8"/>
          <p:cNvSpPr/>
          <p:nvPr/>
        </p:nvSpPr>
        <p:spPr>
          <a:xfrm>
            <a:off x="3657600" y="4908600"/>
            <a:ext cx="170172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99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a50021"/>
                </a:solidFill>
                <a:latin typeface="Courier New"/>
                <a:ea typeface="Courier New"/>
              </a:rPr>
              <a:t>CountryCode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76" name="CustomShape 9"/>
          <p:cNvSpPr/>
          <p:nvPr/>
        </p:nvSpPr>
        <p:spPr>
          <a:xfrm>
            <a:off x="393840" y="2228760"/>
            <a:ext cx="8327880" cy="1859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sql&gt; </a:t>
            </a:r>
            <a:r>
              <a:rPr b="1" lang="en-US" sz="2000" spc="-1" strike="noStrike">
                <a:solidFill>
                  <a:srgbClr val="333399"/>
                </a:solidFill>
                <a:latin typeface="Courier New"/>
                <a:ea typeface="Courier New"/>
              </a:rPr>
              <a:t>DESCRIBE Country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;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Field       | Type      | Null| Key | Default | Extra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+-------------+-----------+-----+-----+---------+----------------+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Code        | char(3)   | NO  | </a:t>
            </a: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PRI</a:t>
            </a: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Name        | char(52)  | NO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| ...         |           |     |     |         |                |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Joining Tables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78" name="TextShape 2"/>
          <p:cNvSpPr txBox="1"/>
          <p:nvPr/>
        </p:nvSpPr>
        <p:spPr>
          <a:xfrm>
            <a:off x="585360" y="1428840"/>
            <a:ext cx="7921800" cy="1920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 fontScale="97000"/>
          </a:bodyPr>
          <a:p>
            <a:pPr marL="457200" indent="-457200">
              <a:spcBef>
                <a:spcPts val="1500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Relate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or "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join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" data in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different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tables.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1500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This is what makes an RDB so powerful and useful.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1500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City contains the CountryCode for the country it belongs to.  This is called a </a:t>
            </a:r>
            <a:r>
              <a:rPr b="1" lang="en-US" sz="2400" spc="-1" strike="noStrike">
                <a:solidFill>
                  <a:srgbClr val="333399"/>
                </a:solidFill>
                <a:latin typeface="Arial"/>
              </a:rPr>
              <a:t>Foreign Key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Line 3"/>
          <p:cNvSpPr/>
          <p:nvPr/>
        </p:nvSpPr>
        <p:spPr>
          <a:xfrm>
            <a:off x="3086280" y="4633920"/>
            <a:ext cx="2841480" cy="1440"/>
          </a:xfrm>
          <a:prstGeom prst="line">
            <a:avLst/>
          </a:prstGeom>
          <a:ln cap="sq" w="1908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4"/>
          <p:cNvSpPr/>
          <p:nvPr/>
        </p:nvSpPr>
        <p:spPr>
          <a:xfrm>
            <a:off x="1717560" y="5753160"/>
            <a:ext cx="49050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>
                <a:solidFill>
                  <a:srgbClr val="cc0000"/>
                </a:solidFill>
                <a:latin typeface="Courier New"/>
                <a:ea typeface="Courier New"/>
              </a:rPr>
              <a:t>City.countrycode = Country.code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81" name="Line 5"/>
          <p:cNvSpPr/>
          <p:nvPr/>
        </p:nvSpPr>
        <p:spPr>
          <a:xfrm flipV="1">
            <a:off x="4557600" y="4646520"/>
            <a:ext cx="5040" cy="1108080"/>
          </a:xfrm>
          <a:prstGeom prst="line">
            <a:avLst/>
          </a:prstGeom>
          <a:ln cap="sq" w="19080">
            <a:solidFill>
              <a:srgbClr val="333399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6"/>
          <p:cNvSpPr/>
          <p:nvPr/>
        </p:nvSpPr>
        <p:spPr>
          <a:xfrm>
            <a:off x="5505480" y="4238640"/>
            <a:ext cx="3808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83" name="CustomShape 7"/>
          <p:cNvSpPr/>
          <p:nvPr/>
        </p:nvSpPr>
        <p:spPr>
          <a:xfrm>
            <a:off x="3083040" y="4278240"/>
            <a:ext cx="3808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*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84" name="CustomShape 8"/>
          <p:cNvSpPr/>
          <p:nvPr/>
        </p:nvSpPr>
        <p:spPr>
          <a:xfrm>
            <a:off x="882720" y="3894120"/>
            <a:ext cx="222084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City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ID (PK)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333399"/>
                </a:solidFill>
                <a:latin typeface="Courier New"/>
                <a:ea typeface="Courier New"/>
              </a:rPr>
              <a:t>CountryCode (FK)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Population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District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85" name="Line 9"/>
          <p:cNvSpPr/>
          <p:nvPr/>
        </p:nvSpPr>
        <p:spPr>
          <a:xfrm>
            <a:off x="870120" y="4160880"/>
            <a:ext cx="2236680" cy="1440"/>
          </a:xfrm>
          <a:prstGeom prst="line">
            <a:avLst/>
          </a:prstGeom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CustomShape 10"/>
          <p:cNvSpPr/>
          <p:nvPr/>
        </p:nvSpPr>
        <p:spPr>
          <a:xfrm>
            <a:off x="5913360" y="3882960"/>
            <a:ext cx="222084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Country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Code</a:t>
            </a: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en-US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(PK)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Continent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Capital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...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87" name="Line 11"/>
          <p:cNvSpPr/>
          <p:nvPr/>
        </p:nvSpPr>
        <p:spPr>
          <a:xfrm>
            <a:off x="5900760" y="4164120"/>
            <a:ext cx="2236680" cy="1440"/>
          </a:xfrm>
          <a:prstGeom prst="line">
            <a:avLst/>
          </a:prstGeom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Example: find all cities in SE Asia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89" name="TextShape 2"/>
          <p:cNvSpPr txBox="1"/>
          <p:nvPr/>
        </p:nvSpPr>
        <p:spPr>
          <a:xfrm>
            <a:off x="596880" y="2338200"/>
            <a:ext cx="8089920" cy="1611000"/>
          </a:xfrm>
          <a:prstGeom prst="rect">
            <a:avLst/>
          </a:pr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txBody>
          <a:bodyPr lIns="90000" rIns="90000" tIns="46800" bIns="46800">
            <a:normAutofit/>
          </a:bodyPr>
          <a:p>
            <a:pPr marL="457200" indent="-44136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SELECT City.Name, City.Population </a:t>
            </a:r>
            <a:br/>
            <a:r>
              <a:rPr b="1" lang="en-US" sz="2400" spc="-1" strike="noStrike">
                <a:solidFill>
                  <a:srgbClr val="a50021"/>
                </a:solidFill>
                <a:latin typeface="Courier New"/>
                <a:ea typeface="Courier New"/>
              </a:rPr>
              <a:t>FROM</a:t>
            </a: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  Country, City</a:t>
            </a:r>
            <a:br/>
            <a:r>
              <a:rPr b="1" lang="en-US" sz="2400" spc="-1" strike="noStrike">
                <a:solidFill>
                  <a:srgbClr val="a50021"/>
                </a:solidFill>
                <a:latin typeface="Courier New"/>
                <a:ea typeface="Courier New"/>
              </a:rPr>
              <a:t>WHERE </a:t>
            </a:r>
            <a:r>
              <a:rPr b="1" lang="en-US" sz="2400" spc="-1" strike="noStrike">
                <a:solidFill>
                  <a:srgbClr val="ff0000"/>
                </a:solidFill>
                <a:latin typeface="Courier New"/>
                <a:ea typeface="Courier New"/>
              </a:rPr>
              <a:t>Country.Code = City.CountryCode</a:t>
            </a:r>
            <a:br/>
            <a:r>
              <a:rPr b="1" lang="en-US" sz="2400" spc="-1" strike="noStrike">
                <a:solidFill>
                  <a:srgbClr val="a50021"/>
                </a:solidFill>
                <a:latin typeface="Courier New"/>
                <a:ea typeface="Courier New"/>
              </a:rPr>
              <a:t>AND</a:t>
            </a: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   Country.Region = 'Southeast Asia';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658800" y="4164120"/>
            <a:ext cx="2220840" cy="252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Country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Code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Continent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Region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SurfaceArea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Population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GNP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LocalName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Capital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91" name="Line 4"/>
          <p:cNvSpPr/>
          <p:nvPr/>
        </p:nvSpPr>
        <p:spPr>
          <a:xfrm>
            <a:off x="646200" y="4430880"/>
            <a:ext cx="2236680" cy="1440"/>
          </a:xfrm>
          <a:prstGeom prst="line">
            <a:avLst/>
          </a:prstGeom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5"/>
          <p:cNvSpPr/>
          <p:nvPr/>
        </p:nvSpPr>
        <p:spPr>
          <a:xfrm>
            <a:off x="6281640" y="4211640"/>
            <a:ext cx="222084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City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ID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CountryCode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District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Courier New"/>
                <a:ea typeface="Courier New"/>
              </a:rPr>
              <a:t>Population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93" name="Line 6"/>
          <p:cNvSpPr/>
          <p:nvPr/>
        </p:nvSpPr>
        <p:spPr>
          <a:xfrm>
            <a:off x="6269040" y="4478400"/>
            <a:ext cx="2236680" cy="1440"/>
          </a:xfrm>
          <a:prstGeom prst="line">
            <a:avLst/>
          </a:prstGeom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Line 7"/>
          <p:cNvSpPr/>
          <p:nvPr/>
        </p:nvSpPr>
        <p:spPr>
          <a:xfrm>
            <a:off x="2859120" y="4992840"/>
            <a:ext cx="3425760" cy="144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8"/>
          <p:cNvSpPr/>
          <p:nvPr/>
        </p:nvSpPr>
        <p:spPr>
          <a:xfrm>
            <a:off x="2871720" y="4587840"/>
            <a:ext cx="3265200" cy="33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99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Country.Code = City.CountryCode</a:t>
            </a:r>
            <a:endParaRPr b="0" lang="en-US" sz="16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196" name="CustomShape 9"/>
          <p:cNvSpPr/>
          <p:nvPr/>
        </p:nvSpPr>
        <p:spPr>
          <a:xfrm>
            <a:off x="457200" y="1371600"/>
            <a:ext cx="8229600" cy="822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Join the Country table and City table.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Search for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Country.region = 'Southeast Asia'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Structure of a Database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198" name="TextShape 2"/>
          <p:cNvSpPr txBox="1"/>
          <p:nvPr/>
        </p:nvSpPr>
        <p:spPr>
          <a:xfrm>
            <a:off x="526680" y="1468080"/>
            <a:ext cx="7921800" cy="2173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400" spc="-1" strike="noStrike">
                <a:solidFill>
                  <a:srgbClr val="a50021"/>
                </a:solidFill>
                <a:latin typeface="Arial"/>
              </a:rPr>
              <a:t>database </a:t>
            </a:r>
            <a:r>
              <a:rPr b="0" i="1" lang="en-US" sz="2400" spc="-1" strike="noStrike">
                <a:solidFill>
                  <a:srgbClr val="a50021"/>
                </a:solidFill>
                <a:latin typeface="Arial"/>
              </a:rPr>
              <a:t>system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may contain </a:t>
            </a:r>
            <a:r>
              <a:rPr b="0" lang="en-US" sz="2400" spc="-1" strike="noStrike">
                <a:solidFill>
                  <a:srgbClr val="cc0000"/>
                </a:solidFill>
                <a:latin typeface="Arial"/>
              </a:rPr>
              <a:t>many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2400" spc="-1" strike="noStrike">
                <a:solidFill>
                  <a:srgbClr val="333399"/>
                </a:solidFill>
                <a:latin typeface="Arial"/>
              </a:rPr>
              <a:t>databases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Each database is composed of </a:t>
            </a:r>
            <a:r>
              <a:rPr b="1" lang="en-US" sz="2400" spc="-1" strike="noStrike">
                <a:solidFill>
                  <a:srgbClr val="a50021"/>
                </a:solidFill>
                <a:latin typeface="Arial"/>
              </a:rPr>
              <a:t>schema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and </a:t>
            </a:r>
            <a:r>
              <a:rPr b="1" lang="en-US" sz="2400" spc="-1" strike="noStrike">
                <a:solidFill>
                  <a:srgbClr val="a50021"/>
                </a:solidFill>
                <a:latin typeface="Arial"/>
              </a:rPr>
              <a:t>tables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3160">
              <a:spcBef>
                <a:spcPts val="598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5265720" y="3948120"/>
            <a:ext cx="3286080" cy="2547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sql&gt; </a:t>
            </a: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USE world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;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sql&gt; </a:t>
            </a: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SHOW tables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;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Tables_in_world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countries      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city           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00" name="CustomShape 4"/>
          <p:cNvSpPr/>
          <p:nvPr/>
        </p:nvSpPr>
        <p:spPr>
          <a:xfrm>
            <a:off x="6070680" y="2382840"/>
            <a:ext cx="822240" cy="1076400"/>
          </a:xfrm>
          <a:prstGeom prst="flowChartMagneticDisk">
            <a:avLst/>
          </a:prstGeom>
          <a:gradFill rotWithShape="0">
            <a:gsLst>
              <a:gs pos="0">
                <a:srgbClr val="2f4675"/>
              </a:gs>
              <a:gs pos="50000">
                <a:srgbClr val="6699ff"/>
              </a:gs>
              <a:gs pos="100000">
                <a:srgbClr val="2f4675"/>
              </a:gs>
            </a:gsLst>
            <a:lin ang="10800000"/>
          </a:gra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5"/>
          <p:cNvSpPr/>
          <p:nvPr/>
        </p:nvSpPr>
        <p:spPr>
          <a:xfrm>
            <a:off x="7219800" y="2400480"/>
            <a:ext cx="822600" cy="1076040"/>
          </a:xfrm>
          <a:prstGeom prst="flowChartMagneticDisk">
            <a:avLst/>
          </a:prstGeom>
          <a:gradFill rotWithShape="0">
            <a:gsLst>
              <a:gs pos="0">
                <a:srgbClr val="2f4675"/>
              </a:gs>
              <a:gs pos="50000">
                <a:srgbClr val="6699ff"/>
              </a:gs>
              <a:gs pos="100000">
                <a:srgbClr val="2f4675"/>
              </a:gs>
            </a:gsLst>
            <a:lin ang="10800000"/>
          </a:gra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6"/>
          <p:cNvSpPr/>
          <p:nvPr/>
        </p:nvSpPr>
        <p:spPr>
          <a:xfrm>
            <a:off x="6651720" y="2685960"/>
            <a:ext cx="822240" cy="1076400"/>
          </a:xfrm>
          <a:prstGeom prst="flowChartMagneticDisk">
            <a:avLst/>
          </a:prstGeom>
          <a:gradFill rotWithShape="0">
            <a:gsLst>
              <a:gs pos="0">
                <a:srgbClr val="2f4675"/>
              </a:gs>
              <a:gs pos="50000">
                <a:srgbClr val="6699ff"/>
              </a:gs>
              <a:gs pos="100000">
                <a:srgbClr val="2f4675"/>
              </a:gs>
            </a:gsLst>
            <a:lin ang="10800000"/>
          </a:gra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CustomShape 7"/>
          <p:cNvSpPr/>
          <p:nvPr/>
        </p:nvSpPr>
        <p:spPr>
          <a:xfrm>
            <a:off x="687240" y="2546280"/>
            <a:ext cx="3870360" cy="3109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sql&gt; </a:t>
            </a:r>
            <a:r>
              <a:rPr b="1" lang="en-US" sz="2400" spc="-1" strike="noStrike">
                <a:solidFill>
                  <a:srgbClr val="333399"/>
                </a:solidFill>
                <a:latin typeface="Courier New"/>
                <a:ea typeface="Courier New"/>
              </a:rPr>
              <a:t>SHOW databases;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Database    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mysql       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test        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bank        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world       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04" name="CustomShape 8"/>
          <p:cNvSpPr/>
          <p:nvPr/>
        </p:nvSpPr>
        <p:spPr>
          <a:xfrm>
            <a:off x="396720" y="5730840"/>
            <a:ext cx="4395960" cy="70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i="1" lang="en-US" sz="2000" spc="-1" strike="noStrike">
                <a:solidFill>
                  <a:srgbClr val="333399"/>
                </a:solidFill>
                <a:latin typeface="Comic Sans MS"/>
                <a:ea typeface="Arial"/>
              </a:rPr>
              <a:t>"shows databases" only shows db that the user has permission to access.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Database Management System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5694480" y="2406600"/>
            <a:ext cx="822240" cy="1076400"/>
          </a:xfrm>
          <a:prstGeom prst="flowChartMagneticDisk">
            <a:avLst/>
          </a:prstGeom>
          <a:gradFill rotWithShape="0">
            <a:gsLst>
              <a:gs pos="0">
                <a:srgbClr val="2f4675"/>
              </a:gs>
              <a:gs pos="50000">
                <a:srgbClr val="6699ff"/>
              </a:gs>
              <a:gs pos="100000">
                <a:srgbClr val="2f4675"/>
              </a:gs>
            </a:gsLst>
            <a:lin ang="10800000"/>
          </a:gra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CustomShape 3"/>
          <p:cNvSpPr/>
          <p:nvPr/>
        </p:nvSpPr>
        <p:spPr>
          <a:xfrm>
            <a:off x="6843600" y="2424240"/>
            <a:ext cx="822600" cy="1076040"/>
          </a:xfrm>
          <a:prstGeom prst="flowChartMagneticDisk">
            <a:avLst/>
          </a:prstGeom>
          <a:gradFill rotWithShape="0">
            <a:gsLst>
              <a:gs pos="0">
                <a:srgbClr val="2f4675"/>
              </a:gs>
              <a:gs pos="50000">
                <a:srgbClr val="6699ff"/>
              </a:gs>
              <a:gs pos="100000">
                <a:srgbClr val="2f4675"/>
              </a:gs>
            </a:gsLst>
            <a:lin ang="10800000"/>
          </a:gra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CustomShape 4"/>
          <p:cNvSpPr/>
          <p:nvPr/>
        </p:nvSpPr>
        <p:spPr>
          <a:xfrm>
            <a:off x="6275520" y="2709720"/>
            <a:ext cx="822240" cy="1076400"/>
          </a:xfrm>
          <a:prstGeom prst="flowChartMagneticDisk">
            <a:avLst/>
          </a:prstGeom>
          <a:gradFill rotWithShape="0">
            <a:gsLst>
              <a:gs pos="0">
                <a:srgbClr val="2f4675"/>
              </a:gs>
              <a:gs pos="50000">
                <a:srgbClr val="6699ff"/>
              </a:gs>
              <a:gs pos="100000">
                <a:srgbClr val="2f4675"/>
              </a:gs>
            </a:gsLst>
            <a:lin ang="10800000"/>
          </a:gra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CustomShape 5"/>
          <p:cNvSpPr/>
          <p:nvPr/>
        </p:nvSpPr>
        <p:spPr>
          <a:xfrm>
            <a:off x="5576760" y="4145040"/>
            <a:ext cx="298296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cc0000"/>
                </a:solidFill>
                <a:latin typeface="Arial Unicode MS"/>
                <a:ea typeface="Arial"/>
              </a:rPr>
              <a:t>Database</a:t>
            </a: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: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a structured, self-describing collection of data.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10" name="CustomShape 6"/>
          <p:cNvSpPr/>
          <p:nvPr/>
        </p:nvSpPr>
        <p:spPr>
          <a:xfrm>
            <a:off x="3160800" y="4329000"/>
            <a:ext cx="173664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CustomShape 7"/>
          <p:cNvSpPr/>
          <p:nvPr/>
        </p:nvSpPr>
        <p:spPr>
          <a:xfrm>
            <a:off x="2593800" y="4146480"/>
            <a:ext cx="2732400" cy="2050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Control access to the database. 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spcBef>
                <a:spcPts val="249"/>
              </a:spcBef>
              <a:buClr>
                <a:srgbClr val="000000"/>
              </a:buClr>
              <a:buFont typeface="Arial Unicode MS"/>
              <a:buChar char="•"/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authentication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spcBef>
                <a:spcPts val="249"/>
              </a:spcBef>
              <a:buClr>
                <a:srgbClr val="000000"/>
              </a:buClr>
              <a:buFont typeface="Arial Unicode MS"/>
              <a:buChar char="•"/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permissions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spcBef>
                <a:spcPts val="249"/>
              </a:spcBef>
              <a:buClr>
                <a:srgbClr val="000000"/>
              </a:buClr>
              <a:buFont typeface="Arial Unicode MS"/>
              <a:buChar char="•"/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data integrity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spcBef>
                <a:spcPts val="249"/>
              </a:spcBef>
              <a:buClr>
                <a:srgbClr val="000000"/>
              </a:buClr>
              <a:buFont typeface="Arial Unicode MS"/>
              <a:buChar char="•"/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access services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12" name="CustomShape 8"/>
          <p:cNvSpPr/>
          <p:nvPr/>
        </p:nvSpPr>
        <p:spPr>
          <a:xfrm>
            <a:off x="3517920" y="2511360"/>
            <a:ext cx="1630440" cy="1157400"/>
          </a:xfrm>
          <a:custGeom>
            <a:avLst/>
            <a:gdLst/>
            <a:ahLst/>
            <a:rect l="0" t="0" r="r" b="b"/>
            <a:pathLst>
              <a:path w="4531" h="3216">
                <a:moveTo>
                  <a:pt x="1132" y="0"/>
                </a:moveTo>
                <a:lnTo>
                  <a:pt x="3397" y="0"/>
                </a:lnTo>
                <a:lnTo>
                  <a:pt x="4530" y="1607"/>
                </a:lnTo>
                <a:lnTo>
                  <a:pt x="3397" y="3215"/>
                </a:lnTo>
                <a:lnTo>
                  <a:pt x="1132" y="3215"/>
                </a:lnTo>
                <a:lnTo>
                  <a:pt x="0" y="1607"/>
                </a:lnTo>
                <a:lnTo>
                  <a:pt x="1132" y="0"/>
                </a:lnTo>
              </a:path>
            </a:pathLst>
          </a:custGeom>
          <a:noFill/>
          <a:ln cap="sq" w="1908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CustomShape 9"/>
          <p:cNvSpPr/>
          <p:nvPr/>
        </p:nvSpPr>
        <p:spPr>
          <a:xfrm>
            <a:off x="3517920" y="2732040"/>
            <a:ext cx="1493640" cy="70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cc0000"/>
                </a:solidFill>
                <a:latin typeface="Arial Unicode MS"/>
                <a:ea typeface="Arial"/>
              </a:rPr>
              <a:t>Database Manager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14" name="CustomShape 10"/>
          <p:cNvSpPr/>
          <p:nvPr/>
        </p:nvSpPr>
        <p:spPr>
          <a:xfrm>
            <a:off x="1197000" y="1450800"/>
            <a:ext cx="2460600" cy="973440"/>
          </a:xfrm>
          <a:prstGeom prst="wedgeRoundRectCallout">
            <a:avLst>
              <a:gd name="adj1" fmla="val -43990"/>
              <a:gd name="adj2" fmla="val 97467"/>
              <a:gd name="adj3" fmla="val 16667"/>
            </a:avLst>
          </a:pr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CustomShape 11"/>
          <p:cNvSpPr/>
          <p:nvPr/>
        </p:nvSpPr>
        <p:spPr>
          <a:xfrm>
            <a:off x="334800" y="4237200"/>
            <a:ext cx="190980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Unicode MS"/>
                <a:ea typeface="Arial"/>
              </a:rPr>
              <a:t>User Interface &amp; communication protocol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16" name="Line 12"/>
          <p:cNvSpPr/>
          <p:nvPr/>
        </p:nvSpPr>
        <p:spPr>
          <a:xfrm flipH="1" flipV="1">
            <a:off x="1630080" y="3084120"/>
            <a:ext cx="1927080" cy="33480"/>
          </a:xfrm>
          <a:prstGeom prst="line">
            <a:avLst/>
          </a:prstGeom>
          <a:ln cap="sq" w="1908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CustomShape 13"/>
          <p:cNvSpPr/>
          <p:nvPr/>
        </p:nvSpPr>
        <p:spPr>
          <a:xfrm>
            <a:off x="1096920" y="1463760"/>
            <a:ext cx="2497320" cy="916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USE World;</a:t>
            </a:r>
            <a:br/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SELECT * FROM city WHERE ...;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18" name="Line 14"/>
          <p:cNvSpPr/>
          <p:nvPr/>
        </p:nvSpPr>
        <p:spPr>
          <a:xfrm>
            <a:off x="5162400" y="3090960"/>
            <a:ext cx="532080" cy="1440"/>
          </a:xfrm>
          <a:prstGeom prst="line">
            <a:avLst/>
          </a:prstGeom>
          <a:ln cap="sq" w="1908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CustomShape 15"/>
          <p:cNvSpPr/>
          <p:nvPr/>
        </p:nvSpPr>
        <p:spPr>
          <a:xfrm>
            <a:off x="301680" y="2951280"/>
            <a:ext cx="1295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cc0000"/>
                </a:solidFill>
                <a:latin typeface="Arial Unicode MS"/>
                <a:ea typeface="Arial"/>
              </a:rPr>
              <a:t>Client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20" name="Line 16"/>
          <p:cNvSpPr/>
          <p:nvPr/>
        </p:nvSpPr>
        <p:spPr>
          <a:xfrm flipV="1">
            <a:off x="1033560" y="3278160"/>
            <a:ext cx="1440" cy="976320"/>
          </a:xfrm>
          <a:prstGeom prst="line">
            <a:avLst/>
          </a:prstGeom>
          <a:ln cap="sq" w="19080">
            <a:solidFill>
              <a:srgbClr val="333399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Line 17"/>
          <p:cNvSpPr/>
          <p:nvPr/>
        </p:nvSpPr>
        <p:spPr>
          <a:xfrm flipV="1">
            <a:off x="3324240" y="3403080"/>
            <a:ext cx="444600" cy="747720"/>
          </a:xfrm>
          <a:prstGeom prst="line">
            <a:avLst/>
          </a:prstGeom>
          <a:ln cap="sq" w="19080">
            <a:solidFill>
              <a:srgbClr val="333399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Line 18"/>
          <p:cNvSpPr/>
          <p:nvPr/>
        </p:nvSpPr>
        <p:spPr>
          <a:xfrm flipV="1">
            <a:off x="5695920" y="3408120"/>
            <a:ext cx="444600" cy="747720"/>
          </a:xfrm>
          <a:prstGeom prst="line">
            <a:avLst/>
          </a:prstGeom>
          <a:ln cap="sq" w="19080">
            <a:solidFill>
              <a:srgbClr val="333399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Client - Server Databases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611280" y="1542600"/>
            <a:ext cx="7921440" cy="159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Database </a:t>
            </a:r>
            <a:r>
              <a:rPr b="0" lang="en-US" sz="2400" spc="-1" strike="noStrike">
                <a:solidFill>
                  <a:srgbClr val="cc0000"/>
                </a:solidFill>
                <a:latin typeface="Arial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is a separate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</a:rPr>
              <a:t>process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on a host.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cc0000"/>
                </a:solidFill>
                <a:latin typeface="Arial"/>
              </a:rPr>
              <a:t>Clients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can be on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any machine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spcBef>
                <a:spcPts val="598"/>
              </a:spcBef>
              <a:buClr>
                <a:srgbClr val="3333cc"/>
              </a:buClr>
              <a:buSzPct val="95000"/>
              <a:buFont typeface="Wingdings" charset="2"/>
              <a:buChar char=""/>
              <a:tabLst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Many programs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may be 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clients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using a </a:t>
            </a:r>
            <a:r>
              <a:rPr b="0" lang="en-US" sz="2400" spc="-1" strike="noStrike">
                <a:solidFill>
                  <a:srgbClr val="cc0000"/>
                </a:solidFill>
                <a:latin typeface="Arial"/>
              </a:rPr>
              <a:t>standard API.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6197760" y="4195800"/>
            <a:ext cx="820440" cy="1190520"/>
          </a:xfrm>
          <a:prstGeom prst="rect">
            <a:avLst/>
          </a:prstGeom>
          <a:ln>
            <a:noFill/>
          </a:ln>
        </p:spPr>
      </p:pic>
      <p:pic>
        <p:nvPicPr>
          <p:cNvPr id="226" name="" descr=""/>
          <p:cNvPicPr/>
          <p:nvPr/>
        </p:nvPicPr>
        <p:blipFill>
          <a:blip r:embed="rId2"/>
          <a:stretch/>
        </p:blipFill>
        <p:spPr>
          <a:xfrm>
            <a:off x="2614680" y="3056040"/>
            <a:ext cx="623880" cy="628560"/>
          </a:xfrm>
          <a:prstGeom prst="rect">
            <a:avLst/>
          </a:prstGeom>
          <a:ln>
            <a:noFill/>
          </a:ln>
        </p:spPr>
      </p:pic>
      <p:sp>
        <p:nvSpPr>
          <p:cNvPr id="227" name="CustomShape 3"/>
          <p:cNvSpPr/>
          <p:nvPr/>
        </p:nvSpPr>
        <p:spPr>
          <a:xfrm>
            <a:off x="5805360" y="3303720"/>
            <a:ext cx="1308240" cy="828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400" spc="-1" strike="noStrike">
                <a:solidFill>
                  <a:srgbClr val="a50021"/>
                </a:solidFill>
                <a:latin typeface="Courier New"/>
                <a:ea typeface="Courier New"/>
              </a:rPr>
              <a:t>Server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Courier New"/>
              </a:rPr>
              <a:t>mysqld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28" name="CustomShape 4"/>
          <p:cNvSpPr/>
          <p:nvPr/>
        </p:nvSpPr>
        <p:spPr>
          <a:xfrm>
            <a:off x="1025640" y="3132000"/>
            <a:ext cx="15220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"mysql" </a:t>
            </a:r>
            <a:r>
              <a:rPr b="0" lang="en-US" sz="1800" spc="-1" strike="noStrike">
                <a:solidFill>
                  <a:srgbClr val="cc0000"/>
                </a:solidFill>
                <a:latin typeface="Arial"/>
                <a:ea typeface="Arial"/>
              </a:rPr>
              <a:t>utility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3"/>
          <a:stretch/>
        </p:blipFill>
        <p:spPr>
          <a:xfrm>
            <a:off x="749160" y="3927600"/>
            <a:ext cx="623880" cy="628560"/>
          </a:xfrm>
          <a:prstGeom prst="rect">
            <a:avLst/>
          </a:prstGeom>
          <a:ln>
            <a:noFill/>
          </a:ln>
        </p:spPr>
      </p:pic>
      <p:sp>
        <p:nvSpPr>
          <p:cNvPr id="230" name="CustomShape 5"/>
          <p:cNvSpPr/>
          <p:nvPr/>
        </p:nvSpPr>
        <p:spPr>
          <a:xfrm>
            <a:off x="365040" y="4495680"/>
            <a:ext cx="1506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800" spc="-1" strike="noStrike">
                <a:solidFill>
                  <a:srgbClr val="cc0000"/>
                </a:solidFill>
                <a:latin typeface="Arial"/>
                <a:ea typeface="Arial"/>
              </a:rPr>
              <a:t>Java App </a:t>
            </a:r>
            <a:br/>
            <a:r>
              <a:rPr b="0" lang="en-US" sz="1800" spc="-1" strike="noStrike">
                <a:solidFill>
                  <a:srgbClr val="cc0000"/>
                </a:solidFill>
                <a:latin typeface="Arial"/>
                <a:ea typeface="Arial"/>
              </a:rPr>
              <a:t>+JDBC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client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31" name="CustomShape 6"/>
          <p:cNvSpPr/>
          <p:nvPr/>
        </p:nvSpPr>
        <p:spPr>
          <a:xfrm>
            <a:off x="2351160" y="5481720"/>
            <a:ext cx="14623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1800" spc="-1" strike="noStrike">
                <a:solidFill>
                  <a:srgbClr val="cc0000"/>
                </a:solidFill>
                <a:latin typeface="Arial"/>
                <a:ea typeface="Arial"/>
              </a:rPr>
              <a:t>Excel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client </a:t>
            </a:r>
            <a:r>
              <a:rPr b="0" lang="en-US" sz="1800" spc="-1" strike="noStrike">
                <a:solidFill>
                  <a:srgbClr val="cc0000"/>
                </a:solidFill>
                <a:latin typeface="Arial"/>
                <a:ea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32" name="Line 7"/>
          <p:cNvSpPr/>
          <p:nvPr/>
        </p:nvSpPr>
        <p:spPr>
          <a:xfrm>
            <a:off x="3259080" y="5025960"/>
            <a:ext cx="995400" cy="180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Line 8"/>
          <p:cNvSpPr/>
          <p:nvPr/>
        </p:nvSpPr>
        <p:spPr>
          <a:xfrm>
            <a:off x="3041640" y="3728880"/>
            <a:ext cx="1711440" cy="120348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Line 9"/>
          <p:cNvSpPr/>
          <p:nvPr/>
        </p:nvSpPr>
        <p:spPr>
          <a:xfrm>
            <a:off x="1197000" y="4319640"/>
            <a:ext cx="3079800" cy="60156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35" name="Group 10"/>
          <p:cNvGrpSpPr/>
          <p:nvPr/>
        </p:nvGrpSpPr>
        <p:grpSpPr>
          <a:xfrm>
            <a:off x="4254480" y="4943520"/>
            <a:ext cx="871560" cy="187200"/>
            <a:chOff x="4254480" y="4943520"/>
            <a:chExt cx="871560" cy="187200"/>
          </a:xfrm>
        </p:grpSpPr>
        <p:sp>
          <p:nvSpPr>
            <p:cNvPr id="236" name="CustomShape 11"/>
            <p:cNvSpPr/>
            <p:nvPr/>
          </p:nvSpPr>
          <p:spPr>
            <a:xfrm>
              <a:off x="4254480" y="4943520"/>
              <a:ext cx="853920" cy="41400"/>
            </a:xfrm>
            <a:custGeom>
              <a:avLst/>
              <a:gdLst/>
              <a:ahLst/>
              <a:rect l="l" t="t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CustomShape 12"/>
            <p:cNvSpPr/>
            <p:nvPr/>
          </p:nvSpPr>
          <p:spPr>
            <a:xfrm>
              <a:off x="4255920" y="4943520"/>
              <a:ext cx="52560" cy="187200"/>
            </a:xfrm>
            <a:custGeom>
              <a:avLst/>
              <a:gdLst/>
              <a:ahLst/>
              <a:rect l="l" t="t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CustomShape 13"/>
            <p:cNvSpPr/>
            <p:nvPr/>
          </p:nvSpPr>
          <p:spPr>
            <a:xfrm>
              <a:off x="4303800" y="4994280"/>
              <a:ext cx="822240" cy="136440"/>
            </a:xfrm>
            <a:prstGeom prst="rect">
              <a:avLst/>
            </a:prstGeom>
            <a:solidFill>
              <a:srgbClr val="bcb7a4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39" name="Group 14"/>
            <p:cNvGrpSpPr/>
            <p:nvPr/>
          </p:nvGrpSpPr>
          <p:grpSpPr>
            <a:xfrm>
              <a:off x="4929120" y="5011560"/>
              <a:ext cx="146160" cy="103320"/>
              <a:chOff x="4929120" y="5011560"/>
              <a:chExt cx="146160" cy="103320"/>
            </a:xfrm>
          </p:grpSpPr>
          <p:grpSp>
            <p:nvGrpSpPr>
              <p:cNvPr id="240" name="Group 15"/>
              <p:cNvGrpSpPr/>
              <p:nvPr/>
            </p:nvGrpSpPr>
            <p:grpSpPr>
              <a:xfrm>
                <a:off x="4929120" y="5011560"/>
                <a:ext cx="28800" cy="39960"/>
                <a:chOff x="4929120" y="5011560"/>
                <a:chExt cx="28800" cy="39960"/>
              </a:xfrm>
            </p:grpSpPr>
            <p:grpSp>
              <p:nvGrpSpPr>
                <p:cNvPr id="241" name="Group 16"/>
                <p:cNvGrpSpPr/>
                <p:nvPr/>
              </p:nvGrpSpPr>
              <p:grpSpPr>
                <a:xfrm>
                  <a:off x="4929120" y="5011560"/>
                  <a:ext cx="28800" cy="39960"/>
                  <a:chOff x="4929120" y="5011560"/>
                  <a:chExt cx="28800" cy="39960"/>
                </a:xfrm>
              </p:grpSpPr>
              <p:sp>
                <p:nvSpPr>
                  <p:cNvPr id="242" name="CustomShape 17"/>
                  <p:cNvSpPr/>
                  <p:nvPr/>
                </p:nvSpPr>
                <p:spPr>
                  <a:xfrm>
                    <a:off x="4932360" y="5013360"/>
                    <a:ext cx="20520" cy="349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43" name="CustomShape 18"/>
                  <p:cNvSpPr/>
                  <p:nvPr/>
                </p:nvSpPr>
                <p:spPr>
                  <a:xfrm>
                    <a:off x="4929120" y="5011560"/>
                    <a:ext cx="28800" cy="3996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grpSp>
              <p:nvGrpSpPr>
                <p:cNvPr id="244" name="Group 19"/>
                <p:cNvGrpSpPr/>
                <p:nvPr/>
              </p:nvGrpSpPr>
              <p:grpSpPr>
                <a:xfrm>
                  <a:off x="4933800" y="5016600"/>
                  <a:ext cx="19080" cy="6120"/>
                  <a:chOff x="4933800" y="5016600"/>
                  <a:chExt cx="19080" cy="6120"/>
                </a:xfrm>
              </p:grpSpPr>
              <p:sp>
                <p:nvSpPr>
                  <p:cNvPr id="245" name="CustomShape 20"/>
                  <p:cNvSpPr/>
                  <p:nvPr/>
                </p:nvSpPr>
                <p:spPr>
                  <a:xfrm>
                    <a:off x="4938840" y="5019840"/>
                    <a:ext cx="11160" cy="144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46" name="CustomShape 21"/>
                  <p:cNvSpPr/>
                  <p:nvPr/>
                </p:nvSpPr>
                <p:spPr>
                  <a:xfrm>
                    <a:off x="4933800" y="5016600"/>
                    <a:ext cx="19080" cy="61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47" name="CustomShape 22"/>
                <p:cNvSpPr/>
                <p:nvPr/>
              </p:nvSpPr>
              <p:spPr>
                <a:xfrm>
                  <a:off x="4937040" y="5018040"/>
                  <a:ext cx="14400" cy="12600"/>
                </a:xfrm>
                <a:prstGeom prst="rect">
                  <a:avLst/>
                </a:prstGeom>
                <a:solidFill>
                  <a:srgbClr val="e9e7d1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248" name="Group 23"/>
              <p:cNvGrpSpPr/>
              <p:nvPr/>
            </p:nvGrpSpPr>
            <p:grpSpPr>
              <a:xfrm>
                <a:off x="4929120" y="5075280"/>
                <a:ext cx="28800" cy="39600"/>
                <a:chOff x="4929120" y="5075280"/>
                <a:chExt cx="28800" cy="39600"/>
              </a:xfrm>
            </p:grpSpPr>
            <p:grpSp>
              <p:nvGrpSpPr>
                <p:cNvPr id="249" name="Group 24"/>
                <p:cNvGrpSpPr/>
                <p:nvPr/>
              </p:nvGrpSpPr>
              <p:grpSpPr>
                <a:xfrm>
                  <a:off x="4929120" y="5075280"/>
                  <a:ext cx="28800" cy="39600"/>
                  <a:chOff x="4929120" y="5075280"/>
                  <a:chExt cx="28800" cy="39600"/>
                </a:xfrm>
              </p:grpSpPr>
              <p:sp>
                <p:nvSpPr>
                  <p:cNvPr id="250" name="CustomShape 25"/>
                  <p:cNvSpPr/>
                  <p:nvPr/>
                </p:nvSpPr>
                <p:spPr>
                  <a:xfrm>
                    <a:off x="4932360" y="5076720"/>
                    <a:ext cx="20520" cy="3348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1" name="CustomShape 26"/>
                  <p:cNvSpPr/>
                  <p:nvPr/>
                </p:nvSpPr>
                <p:spPr>
                  <a:xfrm>
                    <a:off x="4929120" y="5075280"/>
                    <a:ext cx="28800" cy="3960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grpSp>
              <p:nvGrpSpPr>
                <p:cNvPr id="252" name="Group 27"/>
                <p:cNvGrpSpPr/>
                <p:nvPr/>
              </p:nvGrpSpPr>
              <p:grpSpPr>
                <a:xfrm>
                  <a:off x="4933800" y="5079960"/>
                  <a:ext cx="19080" cy="7920"/>
                  <a:chOff x="4933800" y="5079960"/>
                  <a:chExt cx="19080" cy="7920"/>
                </a:xfrm>
              </p:grpSpPr>
              <p:sp>
                <p:nvSpPr>
                  <p:cNvPr id="253" name="CustomShape 28"/>
                  <p:cNvSpPr/>
                  <p:nvPr/>
                </p:nvSpPr>
                <p:spPr>
                  <a:xfrm>
                    <a:off x="4938840" y="5081760"/>
                    <a:ext cx="11160" cy="288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4" name="CustomShape 29"/>
                  <p:cNvSpPr/>
                  <p:nvPr/>
                </p:nvSpPr>
                <p:spPr>
                  <a:xfrm>
                    <a:off x="4933800" y="5079960"/>
                    <a:ext cx="19080" cy="79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55" name="CustomShape 30"/>
                <p:cNvSpPr/>
                <p:nvPr/>
              </p:nvSpPr>
              <p:spPr>
                <a:xfrm>
                  <a:off x="4937040" y="5079960"/>
                  <a:ext cx="14400" cy="14400"/>
                </a:xfrm>
                <a:prstGeom prst="rect">
                  <a:avLst/>
                </a:prstGeom>
                <a:solidFill>
                  <a:srgbClr val="e9e7d1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256" name="Group 31"/>
              <p:cNvGrpSpPr/>
              <p:nvPr/>
            </p:nvGrpSpPr>
            <p:grpSpPr>
              <a:xfrm>
                <a:off x="4987800" y="5011560"/>
                <a:ext cx="28800" cy="39960"/>
                <a:chOff x="4987800" y="5011560"/>
                <a:chExt cx="28800" cy="39960"/>
              </a:xfrm>
            </p:grpSpPr>
            <p:grpSp>
              <p:nvGrpSpPr>
                <p:cNvPr id="257" name="Group 32"/>
                <p:cNvGrpSpPr/>
                <p:nvPr/>
              </p:nvGrpSpPr>
              <p:grpSpPr>
                <a:xfrm>
                  <a:off x="4987800" y="5011560"/>
                  <a:ext cx="28800" cy="39960"/>
                  <a:chOff x="4987800" y="5011560"/>
                  <a:chExt cx="28800" cy="39960"/>
                </a:xfrm>
              </p:grpSpPr>
              <p:sp>
                <p:nvSpPr>
                  <p:cNvPr id="258" name="CustomShape 33"/>
                  <p:cNvSpPr/>
                  <p:nvPr/>
                </p:nvSpPr>
                <p:spPr>
                  <a:xfrm>
                    <a:off x="4991040" y="5013360"/>
                    <a:ext cx="22320" cy="349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59" name="CustomShape 34"/>
                  <p:cNvSpPr/>
                  <p:nvPr/>
                </p:nvSpPr>
                <p:spPr>
                  <a:xfrm>
                    <a:off x="4987800" y="5011560"/>
                    <a:ext cx="28800" cy="3996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grpSp>
              <p:nvGrpSpPr>
                <p:cNvPr id="260" name="Group 35"/>
                <p:cNvGrpSpPr/>
                <p:nvPr/>
              </p:nvGrpSpPr>
              <p:grpSpPr>
                <a:xfrm>
                  <a:off x="4994280" y="5016600"/>
                  <a:ext cx="17280" cy="6120"/>
                  <a:chOff x="4994280" y="5016600"/>
                  <a:chExt cx="17280" cy="6120"/>
                </a:xfrm>
              </p:grpSpPr>
              <p:sp>
                <p:nvSpPr>
                  <p:cNvPr id="261" name="CustomShape 36"/>
                  <p:cNvSpPr/>
                  <p:nvPr/>
                </p:nvSpPr>
                <p:spPr>
                  <a:xfrm>
                    <a:off x="4997520" y="5019840"/>
                    <a:ext cx="9360" cy="144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62" name="CustomShape 37"/>
                  <p:cNvSpPr/>
                  <p:nvPr/>
                </p:nvSpPr>
                <p:spPr>
                  <a:xfrm>
                    <a:off x="4994280" y="5016600"/>
                    <a:ext cx="17280" cy="61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63" name="CustomShape 38"/>
                <p:cNvSpPr/>
                <p:nvPr/>
              </p:nvSpPr>
              <p:spPr>
                <a:xfrm>
                  <a:off x="4995720" y="5018040"/>
                  <a:ext cx="14400" cy="12600"/>
                </a:xfrm>
                <a:prstGeom prst="rect">
                  <a:avLst/>
                </a:prstGeom>
                <a:solidFill>
                  <a:srgbClr val="e9e7d1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264" name="Group 39"/>
              <p:cNvGrpSpPr/>
              <p:nvPr/>
            </p:nvGrpSpPr>
            <p:grpSpPr>
              <a:xfrm>
                <a:off x="4987800" y="5075280"/>
                <a:ext cx="28800" cy="39600"/>
                <a:chOff x="4987800" y="5075280"/>
                <a:chExt cx="28800" cy="39600"/>
              </a:xfrm>
            </p:grpSpPr>
            <p:grpSp>
              <p:nvGrpSpPr>
                <p:cNvPr id="265" name="Group 40"/>
                <p:cNvGrpSpPr/>
                <p:nvPr/>
              </p:nvGrpSpPr>
              <p:grpSpPr>
                <a:xfrm>
                  <a:off x="4987800" y="5075280"/>
                  <a:ext cx="28800" cy="39600"/>
                  <a:chOff x="4987800" y="5075280"/>
                  <a:chExt cx="28800" cy="39600"/>
                </a:xfrm>
              </p:grpSpPr>
              <p:sp>
                <p:nvSpPr>
                  <p:cNvPr id="266" name="CustomShape 41"/>
                  <p:cNvSpPr/>
                  <p:nvPr/>
                </p:nvSpPr>
                <p:spPr>
                  <a:xfrm>
                    <a:off x="4991040" y="5076720"/>
                    <a:ext cx="22320" cy="3348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67" name="CustomShape 42"/>
                  <p:cNvSpPr/>
                  <p:nvPr/>
                </p:nvSpPr>
                <p:spPr>
                  <a:xfrm>
                    <a:off x="4987800" y="5075280"/>
                    <a:ext cx="28800" cy="3960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grpSp>
              <p:nvGrpSpPr>
                <p:cNvPr id="268" name="Group 43"/>
                <p:cNvGrpSpPr/>
                <p:nvPr/>
              </p:nvGrpSpPr>
              <p:grpSpPr>
                <a:xfrm>
                  <a:off x="4994280" y="5079960"/>
                  <a:ext cx="17280" cy="7920"/>
                  <a:chOff x="4994280" y="5079960"/>
                  <a:chExt cx="17280" cy="7920"/>
                </a:xfrm>
              </p:grpSpPr>
              <p:sp>
                <p:nvSpPr>
                  <p:cNvPr id="269" name="CustomShape 44"/>
                  <p:cNvSpPr/>
                  <p:nvPr/>
                </p:nvSpPr>
                <p:spPr>
                  <a:xfrm>
                    <a:off x="4997520" y="5081760"/>
                    <a:ext cx="9360" cy="288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70" name="CustomShape 45"/>
                  <p:cNvSpPr/>
                  <p:nvPr/>
                </p:nvSpPr>
                <p:spPr>
                  <a:xfrm>
                    <a:off x="4994280" y="5079960"/>
                    <a:ext cx="17280" cy="79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71" name="CustomShape 46"/>
                <p:cNvSpPr/>
                <p:nvPr/>
              </p:nvSpPr>
              <p:spPr>
                <a:xfrm>
                  <a:off x="4995720" y="5079960"/>
                  <a:ext cx="14400" cy="14400"/>
                </a:xfrm>
                <a:prstGeom prst="rect">
                  <a:avLst/>
                </a:prstGeom>
                <a:solidFill>
                  <a:srgbClr val="e9e7d1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272" name="Group 47"/>
              <p:cNvGrpSpPr/>
              <p:nvPr/>
            </p:nvGrpSpPr>
            <p:grpSpPr>
              <a:xfrm>
                <a:off x="5046840" y="5011560"/>
                <a:ext cx="28440" cy="39960"/>
                <a:chOff x="5046840" y="5011560"/>
                <a:chExt cx="28440" cy="39960"/>
              </a:xfrm>
            </p:grpSpPr>
            <p:grpSp>
              <p:nvGrpSpPr>
                <p:cNvPr id="273" name="Group 48"/>
                <p:cNvGrpSpPr/>
                <p:nvPr/>
              </p:nvGrpSpPr>
              <p:grpSpPr>
                <a:xfrm>
                  <a:off x="5046840" y="5011560"/>
                  <a:ext cx="28440" cy="39960"/>
                  <a:chOff x="5046840" y="5011560"/>
                  <a:chExt cx="28440" cy="39960"/>
                </a:xfrm>
              </p:grpSpPr>
              <p:sp>
                <p:nvSpPr>
                  <p:cNvPr id="274" name="CustomShape 49"/>
                  <p:cNvSpPr/>
                  <p:nvPr/>
                </p:nvSpPr>
                <p:spPr>
                  <a:xfrm>
                    <a:off x="5051520" y="5013360"/>
                    <a:ext cx="20520" cy="349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75" name="CustomShape 50"/>
                  <p:cNvSpPr/>
                  <p:nvPr/>
                </p:nvSpPr>
                <p:spPr>
                  <a:xfrm>
                    <a:off x="5046840" y="5011560"/>
                    <a:ext cx="28440" cy="3996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grpSp>
              <p:nvGrpSpPr>
                <p:cNvPr id="276" name="Group 51"/>
                <p:cNvGrpSpPr/>
                <p:nvPr/>
              </p:nvGrpSpPr>
              <p:grpSpPr>
                <a:xfrm>
                  <a:off x="5052960" y="5016600"/>
                  <a:ext cx="17640" cy="6120"/>
                  <a:chOff x="5052960" y="5016600"/>
                  <a:chExt cx="17640" cy="6120"/>
                </a:xfrm>
              </p:grpSpPr>
              <p:sp>
                <p:nvSpPr>
                  <p:cNvPr id="277" name="CustomShape 52"/>
                  <p:cNvSpPr/>
                  <p:nvPr/>
                </p:nvSpPr>
                <p:spPr>
                  <a:xfrm>
                    <a:off x="5056200" y="5019840"/>
                    <a:ext cx="11160" cy="144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78" name="CustomShape 53"/>
                  <p:cNvSpPr/>
                  <p:nvPr/>
                </p:nvSpPr>
                <p:spPr>
                  <a:xfrm>
                    <a:off x="5052960" y="5016600"/>
                    <a:ext cx="17640" cy="61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79" name="CustomShape 54"/>
                <p:cNvSpPr/>
                <p:nvPr/>
              </p:nvSpPr>
              <p:spPr>
                <a:xfrm>
                  <a:off x="5054760" y="5018040"/>
                  <a:ext cx="14040" cy="12600"/>
                </a:xfrm>
                <a:prstGeom prst="rect">
                  <a:avLst/>
                </a:prstGeom>
                <a:solidFill>
                  <a:srgbClr val="e9e7d1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280" name="Group 55"/>
              <p:cNvGrpSpPr/>
              <p:nvPr/>
            </p:nvGrpSpPr>
            <p:grpSpPr>
              <a:xfrm>
                <a:off x="5046840" y="5075280"/>
                <a:ext cx="28440" cy="39600"/>
                <a:chOff x="5046840" y="5075280"/>
                <a:chExt cx="28440" cy="39600"/>
              </a:xfrm>
            </p:grpSpPr>
            <p:grpSp>
              <p:nvGrpSpPr>
                <p:cNvPr id="281" name="Group 56"/>
                <p:cNvGrpSpPr/>
                <p:nvPr/>
              </p:nvGrpSpPr>
              <p:grpSpPr>
                <a:xfrm>
                  <a:off x="5046840" y="5075280"/>
                  <a:ext cx="28440" cy="39600"/>
                  <a:chOff x="5046840" y="5075280"/>
                  <a:chExt cx="28440" cy="39600"/>
                </a:xfrm>
              </p:grpSpPr>
              <p:sp>
                <p:nvSpPr>
                  <p:cNvPr id="282" name="CustomShape 57"/>
                  <p:cNvSpPr/>
                  <p:nvPr/>
                </p:nvSpPr>
                <p:spPr>
                  <a:xfrm>
                    <a:off x="5051520" y="5076720"/>
                    <a:ext cx="20520" cy="3348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83" name="CustomShape 58"/>
                  <p:cNvSpPr/>
                  <p:nvPr/>
                </p:nvSpPr>
                <p:spPr>
                  <a:xfrm>
                    <a:off x="5046840" y="5075280"/>
                    <a:ext cx="28440" cy="3960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grpSp>
              <p:nvGrpSpPr>
                <p:cNvPr id="284" name="Group 59"/>
                <p:cNvGrpSpPr/>
                <p:nvPr/>
              </p:nvGrpSpPr>
              <p:grpSpPr>
                <a:xfrm>
                  <a:off x="5052960" y="5079960"/>
                  <a:ext cx="17640" cy="7920"/>
                  <a:chOff x="5052960" y="5079960"/>
                  <a:chExt cx="17640" cy="7920"/>
                </a:xfrm>
              </p:grpSpPr>
              <p:sp>
                <p:nvSpPr>
                  <p:cNvPr id="285" name="CustomShape 60"/>
                  <p:cNvSpPr/>
                  <p:nvPr/>
                </p:nvSpPr>
                <p:spPr>
                  <a:xfrm>
                    <a:off x="5056200" y="5081760"/>
                    <a:ext cx="11160" cy="288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286" name="CustomShape 61"/>
                  <p:cNvSpPr/>
                  <p:nvPr/>
                </p:nvSpPr>
                <p:spPr>
                  <a:xfrm>
                    <a:off x="5052960" y="5079960"/>
                    <a:ext cx="17640" cy="7920"/>
                  </a:xfrm>
                  <a:prstGeom prst="rect">
                    <a:avLst/>
                  </a:prstGeom>
                  <a:solidFill>
                    <a:srgbClr val="322d26"/>
                  </a:solidFill>
                  <a:ln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287" name="CustomShape 62"/>
                <p:cNvSpPr/>
                <p:nvPr/>
              </p:nvSpPr>
              <p:spPr>
                <a:xfrm>
                  <a:off x="5054760" y="5079960"/>
                  <a:ext cx="14040" cy="14400"/>
                </a:xfrm>
                <a:prstGeom prst="rect">
                  <a:avLst/>
                </a:prstGeom>
                <a:solidFill>
                  <a:srgbClr val="e9e7d1"/>
                </a:solidFill>
                <a:ln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</p:grpSp>
      <p:pic>
        <p:nvPicPr>
          <p:cNvPr id="288" name="" descr=""/>
          <p:cNvPicPr/>
          <p:nvPr/>
        </p:nvPicPr>
        <p:blipFill>
          <a:blip r:embed="rId4"/>
          <a:stretch/>
        </p:blipFill>
        <p:spPr>
          <a:xfrm>
            <a:off x="2703600" y="4843440"/>
            <a:ext cx="623880" cy="628560"/>
          </a:xfrm>
          <a:prstGeom prst="rect">
            <a:avLst/>
          </a:prstGeom>
          <a:ln>
            <a:noFill/>
          </a:ln>
        </p:spPr>
      </p:pic>
      <p:sp>
        <p:nvSpPr>
          <p:cNvPr id="289" name="Line 63"/>
          <p:cNvSpPr/>
          <p:nvPr/>
        </p:nvSpPr>
        <p:spPr>
          <a:xfrm>
            <a:off x="5133960" y="5049720"/>
            <a:ext cx="1123920" cy="1800"/>
          </a:xfrm>
          <a:prstGeom prst="line">
            <a:avLst/>
          </a:prstGeom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64"/>
          <p:cNvSpPr/>
          <p:nvPr/>
        </p:nvSpPr>
        <p:spPr>
          <a:xfrm rot="5400000">
            <a:off x="6301440" y="5284080"/>
            <a:ext cx="206640" cy="1668240"/>
          </a:xfrm>
          <a:custGeom>
            <a:avLst/>
            <a:gdLst/>
            <a:ahLst/>
            <a:rect l="0" t="0" r="r" b="b"/>
            <a:pathLst>
              <a:path w="576" h="4636">
                <a:moveTo>
                  <a:pt x="0" y="0"/>
                </a:moveTo>
                <a:cubicBezTo>
                  <a:pt x="143" y="0"/>
                  <a:pt x="287" y="193"/>
                  <a:pt x="287" y="386"/>
                </a:cubicBezTo>
                <a:lnTo>
                  <a:pt x="287" y="1931"/>
                </a:lnTo>
                <a:cubicBezTo>
                  <a:pt x="287" y="2124"/>
                  <a:pt x="431" y="2317"/>
                  <a:pt x="575" y="2317"/>
                </a:cubicBezTo>
                <a:cubicBezTo>
                  <a:pt x="431" y="2317"/>
                  <a:pt x="287" y="2510"/>
                  <a:pt x="287" y="2703"/>
                </a:cubicBezTo>
                <a:lnTo>
                  <a:pt x="287" y="4248"/>
                </a:lnTo>
                <a:cubicBezTo>
                  <a:pt x="287" y="4441"/>
                  <a:pt x="143" y="4635"/>
                  <a:pt x="0" y="4635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CustomShape 65"/>
          <p:cNvSpPr/>
          <p:nvPr/>
        </p:nvSpPr>
        <p:spPr>
          <a:xfrm>
            <a:off x="5303880" y="6156360"/>
            <a:ext cx="239544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Server side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92" name="CustomShape 66"/>
          <p:cNvSpPr/>
          <p:nvPr/>
        </p:nvSpPr>
        <p:spPr>
          <a:xfrm rot="5400000">
            <a:off x="2361960" y="4381200"/>
            <a:ext cx="206280" cy="3184560"/>
          </a:xfrm>
          <a:custGeom>
            <a:avLst/>
            <a:gdLst/>
            <a:ahLst/>
            <a:rect l="0" t="0" r="r" b="b"/>
            <a:pathLst>
              <a:path w="575" h="8848">
                <a:moveTo>
                  <a:pt x="0" y="0"/>
                </a:moveTo>
                <a:cubicBezTo>
                  <a:pt x="143" y="0"/>
                  <a:pt x="287" y="368"/>
                  <a:pt x="287" y="737"/>
                </a:cubicBezTo>
                <a:lnTo>
                  <a:pt x="287" y="3686"/>
                </a:lnTo>
                <a:cubicBezTo>
                  <a:pt x="287" y="4054"/>
                  <a:pt x="430" y="4423"/>
                  <a:pt x="574" y="4423"/>
                </a:cubicBezTo>
                <a:cubicBezTo>
                  <a:pt x="430" y="4423"/>
                  <a:pt x="287" y="4792"/>
                  <a:pt x="287" y="5160"/>
                </a:cubicBezTo>
                <a:lnTo>
                  <a:pt x="287" y="8109"/>
                </a:lnTo>
                <a:cubicBezTo>
                  <a:pt x="287" y="8478"/>
                  <a:pt x="143" y="8847"/>
                  <a:pt x="0" y="8847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CustomShape 67"/>
          <p:cNvSpPr/>
          <p:nvPr/>
        </p:nvSpPr>
        <p:spPr>
          <a:xfrm>
            <a:off x="779400" y="6089760"/>
            <a:ext cx="333540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Client side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294" name="CustomShape 68"/>
          <p:cNvSpPr/>
          <p:nvPr/>
        </p:nvSpPr>
        <p:spPr>
          <a:xfrm>
            <a:off x="7628040" y="4003560"/>
            <a:ext cx="822240" cy="1076400"/>
          </a:xfrm>
          <a:prstGeom prst="flowChartMagneticDisk">
            <a:avLst/>
          </a:prstGeom>
          <a:gradFill rotWithShape="0">
            <a:gsLst>
              <a:gs pos="0">
                <a:srgbClr val="2f4675"/>
              </a:gs>
              <a:gs pos="50000">
                <a:srgbClr val="6699ff"/>
              </a:gs>
              <a:gs pos="100000">
                <a:srgbClr val="2f4675"/>
              </a:gs>
            </a:gsLst>
            <a:lin ang="10800000"/>
          </a:gradFill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Line 69"/>
          <p:cNvSpPr/>
          <p:nvPr/>
        </p:nvSpPr>
        <p:spPr>
          <a:xfrm>
            <a:off x="6837480" y="4572000"/>
            <a:ext cx="720720" cy="1440"/>
          </a:xfrm>
          <a:prstGeom prst="line">
            <a:avLst/>
          </a:prstGeom>
          <a:ln cap="sq"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CustomShape 70"/>
          <p:cNvSpPr/>
          <p:nvPr/>
        </p:nvSpPr>
        <p:spPr>
          <a:xfrm>
            <a:off x="7054920" y="5008680"/>
            <a:ext cx="2089080" cy="703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247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Arial"/>
              </a:rPr>
              <a:t>server controls access to database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4 Basic Database Operations 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298" name="TextShape 2"/>
          <p:cNvSpPr txBox="1"/>
          <p:nvPr/>
        </p:nvSpPr>
        <p:spPr>
          <a:xfrm>
            <a:off x="611280" y="1400040"/>
            <a:ext cx="7921440" cy="25084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 fontScale="88000"/>
          </a:bodyPr>
          <a:p>
            <a:pPr marL="457200" indent="-441360">
              <a:spcBef>
                <a:spcPts val="1500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4 most common operations: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41360">
              <a:spcBef>
                <a:spcPts val="1500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SELECT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query (search &amp; retrieve)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41360">
              <a:spcBef>
                <a:spcPts val="1500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INSERT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add new records to a table(s)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41360">
              <a:spcBef>
                <a:spcPts val="1500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UPDATE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modify existing record(s)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41360">
              <a:spcBef>
                <a:spcPts val="1500"/>
              </a:spcBef>
              <a:tabLst>
                <a:tab algn="l" pos="0"/>
                <a:tab algn="l" pos="457200"/>
                <a:tab algn="l" pos="561960"/>
                <a:tab algn="l" pos="1010880"/>
                <a:tab algn="l" pos="1460160"/>
                <a:tab algn="l" pos="1909440"/>
                <a:tab algn="l" pos="2358720"/>
                <a:tab algn="l" pos="2808000"/>
                <a:tab algn="l" pos="3257280"/>
                <a:tab algn="l" pos="3706560"/>
                <a:tab algn="l" pos="4155840"/>
                <a:tab algn="l" pos="4605120"/>
                <a:tab algn="l" pos="5054400"/>
                <a:tab algn="l" pos="5503680"/>
                <a:tab algn="l" pos="5952960"/>
                <a:tab algn="l" pos="6402240"/>
                <a:tab algn="l" pos="6851520"/>
                <a:tab algn="l" pos="7300800"/>
                <a:tab algn="l" pos="7750080"/>
                <a:tab algn="l" pos="8199360"/>
                <a:tab algn="l" pos="8648640"/>
                <a:tab algn="l" pos="909792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</a:rPr>
              <a:t>DELETE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delete record(s) from a table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ustomShape 3"/>
          <p:cNvSpPr/>
          <p:nvPr/>
        </p:nvSpPr>
        <p:spPr>
          <a:xfrm>
            <a:off x="581040" y="4478400"/>
            <a:ext cx="7951680" cy="1572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Comic Sans MS"/>
                <a:ea typeface="Arial"/>
              </a:rPr>
              <a:t>What is CRUD?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Arial"/>
              </a:rPr>
              <a:t>Programmers call these operations "</a:t>
            </a:r>
            <a:r>
              <a:rPr b="0" lang="en-US" sz="2400" spc="-1" strike="noStrike">
                <a:solidFill>
                  <a:srgbClr val="ff0000"/>
                </a:solidFill>
                <a:latin typeface="Comic Sans MS"/>
                <a:ea typeface="Arial"/>
              </a:rPr>
              <a:t>CRUD</a:t>
            </a: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Arial"/>
              </a:rPr>
              <a:t>".  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Arial"/>
              </a:rPr>
              <a:t>What does </a:t>
            </a:r>
            <a:r>
              <a:rPr b="0" lang="en-US" sz="2400" spc="-1" strike="noStrike">
                <a:solidFill>
                  <a:srgbClr val="333399"/>
                </a:solidFill>
                <a:latin typeface="Comic Sans MS"/>
                <a:ea typeface="Arial"/>
              </a:rPr>
              <a:t>CRUD</a:t>
            </a: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Arial"/>
              </a:rPr>
              <a:t> stand for?</a:t>
            </a:r>
            <a:endParaRPr b="0" lang="en-US" sz="24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Exercise: O-O Analogy of a Table?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01" name="TextShape 2"/>
          <p:cNvSpPr txBox="1"/>
          <p:nvPr/>
        </p:nvSpPr>
        <p:spPr>
          <a:xfrm>
            <a:off x="608040" y="1468080"/>
            <a:ext cx="7921440" cy="1917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 fontScale="82000"/>
          </a:bodyPr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Database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Object Oriented Construct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table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__________________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record (row)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__________________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fields (columns)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__________________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CustomShape 3"/>
          <p:cNvSpPr/>
          <p:nvPr/>
        </p:nvSpPr>
        <p:spPr>
          <a:xfrm>
            <a:off x="506520" y="4782960"/>
            <a:ext cx="813096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CustomShape 4"/>
          <p:cNvSpPr/>
          <p:nvPr/>
        </p:nvSpPr>
        <p:spPr>
          <a:xfrm>
            <a:off x="2014560" y="3692520"/>
            <a:ext cx="6669000" cy="2127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+------+------------+--------------+---------+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ID   | Name       | District     | Popula..}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+------+------------+--------------</a:t>
            </a:r>
            <a:r>
              <a:rPr b="1" lang="en-US" sz="1800" spc="-1" strike="noStrike">
                <a:solidFill>
                  <a:srgbClr val="000000"/>
                </a:solidFill>
                <a:latin typeface="Arial Unicode MS"/>
                <a:ea typeface="Arial"/>
              </a:rPr>
              <a:t>+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3320 | Bangkok    | Bangkok      | 6320174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3321 | Nonthaburi | Nonthaburi   |  292100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| 3323 | Chiang Mai | Chiang Mai   |  171100 |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+------+------------+--------------+---------+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304" name="CustomShape 5"/>
          <p:cNvSpPr/>
          <p:nvPr/>
        </p:nvSpPr>
        <p:spPr>
          <a:xfrm>
            <a:off x="3522600" y="6024600"/>
            <a:ext cx="351000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Comic Sans MS"/>
                <a:ea typeface="Arial"/>
              </a:rPr>
              <a:t>fields</a:t>
            </a: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 (columns)</a:t>
            </a:r>
            <a:endParaRPr b="0" lang="en-US" sz="2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305" name="CustomShape 6"/>
          <p:cNvSpPr/>
          <p:nvPr/>
        </p:nvSpPr>
        <p:spPr>
          <a:xfrm>
            <a:off x="201600" y="4749840"/>
            <a:ext cx="1614600" cy="947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800" spc="-1" strike="noStrike">
                <a:solidFill>
                  <a:srgbClr val="333399"/>
                </a:solidFill>
                <a:latin typeface="Comic Sans MS"/>
                <a:ea typeface="Arial"/>
              </a:rPr>
              <a:t>records</a:t>
            </a: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 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(rows)</a:t>
            </a:r>
            <a:endParaRPr b="0" lang="en-US" sz="28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Shape 1"/>
          <p:cNvSpPr txBox="1"/>
          <p:nvPr/>
        </p:nvSpPr>
        <p:spPr>
          <a:xfrm>
            <a:off x="611280" y="259920"/>
            <a:ext cx="7921440" cy="865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Exercise: O-O Analogy of a Table?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07" name="TextShape 2"/>
          <p:cNvSpPr txBox="1"/>
          <p:nvPr/>
        </p:nvSpPr>
        <p:spPr>
          <a:xfrm>
            <a:off x="608040" y="1468080"/>
            <a:ext cx="7921440" cy="1917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 fontScale="64000"/>
          </a:bodyPr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Database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Object Oriented Construct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table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______</a:t>
            </a:r>
            <a:r>
              <a:rPr b="0" lang="en-US" sz="2400" spc="-1" strike="noStrike" u="sng">
                <a:solidFill>
                  <a:srgbClr val="ff0000"/>
                </a:solidFill>
                <a:uFillTx/>
                <a:latin typeface="Arial"/>
              </a:rPr>
              <a:t>class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_______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record (row)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</a:t>
            </a:r>
            <a:r>
              <a:rPr b="0" lang="en-US" sz="2400" spc="-1" strike="noStrike" u="sng">
                <a:solidFill>
                  <a:srgbClr val="ff0000"/>
                </a:solidFill>
                <a:uFillTx/>
                <a:latin typeface="Arial"/>
              </a:rPr>
              <a:t>instance of class (object)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41360">
              <a:spcBef>
                <a:spcPts val="598"/>
              </a:spcBef>
              <a:tabLst>
                <a:tab algn="l" pos="0"/>
                <a:tab algn="l" pos="457200"/>
                <a:tab algn="l" pos="379404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8056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fields (columns)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_____</a:t>
            </a:r>
            <a:r>
              <a:rPr b="0" lang="en-US" sz="2400" spc="-1" strike="noStrike" u="sng">
                <a:solidFill>
                  <a:srgbClr val="ff0000"/>
                </a:solidFill>
                <a:uFillTx/>
                <a:latin typeface="Arial"/>
              </a:rPr>
              <a:t>attributes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_____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CustomShape 3"/>
          <p:cNvSpPr/>
          <p:nvPr/>
        </p:nvSpPr>
        <p:spPr>
          <a:xfrm>
            <a:off x="506520" y="4782960"/>
            <a:ext cx="813096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CustomShape 4"/>
          <p:cNvSpPr/>
          <p:nvPr/>
        </p:nvSpPr>
        <p:spPr>
          <a:xfrm>
            <a:off x="4176720" y="3692520"/>
            <a:ext cx="3887640" cy="1723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2000" spc="-1" strike="noStrike" u="sng">
                <a:solidFill>
                  <a:srgbClr val="000000"/>
                </a:solidFill>
                <a:uFillTx/>
                <a:latin typeface="Courier New"/>
                <a:ea typeface="Courier New"/>
              </a:rPr>
              <a:t>City</a:t>
            </a:r>
            <a:endParaRPr b="0" lang="en-US" sz="20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name: String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district: String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population: long</a:t>
            </a: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1800" spc="-1" strike="noStrike">
              <a:solidFill>
                <a:srgbClr val="000000"/>
              </a:solidFill>
              <a:latin typeface="Arial Unicode MS"/>
            </a:endParaRPr>
          </a:p>
        </p:txBody>
      </p:sp>
      <p:sp>
        <p:nvSpPr>
          <p:cNvPr id="310" name="CustomShape 5"/>
          <p:cNvSpPr/>
          <p:nvPr/>
        </p:nvSpPr>
        <p:spPr>
          <a:xfrm>
            <a:off x="3522600" y="6024600"/>
            <a:ext cx="351000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CustomShape 6"/>
          <p:cNvSpPr/>
          <p:nvPr/>
        </p:nvSpPr>
        <p:spPr>
          <a:xfrm>
            <a:off x="417600" y="4065480"/>
            <a:ext cx="2101680" cy="947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UML for 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Arial"/>
              </a:rPr>
              <a:t>City class</a:t>
            </a:r>
            <a:endParaRPr b="0" lang="en-US" sz="2800" spc="-1" strike="noStrike">
              <a:solidFill>
                <a:srgbClr val="000000"/>
              </a:solidFill>
              <a:latin typeface="Arial Unicode MS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611280" y="259920"/>
            <a:ext cx="7913520" cy="857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Exercise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611280" y="1542600"/>
            <a:ext cx="7913520" cy="4675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342720" indent="-3348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database for the Django Polls project is db.sqlite3.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48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48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Use a database browser to answer some questions (separate file).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48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48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Tools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7756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sqlite3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command line tool, included with Sqlite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7756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sqlitebrowser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free GUI tool. Works on all platforms.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2680" indent="-27756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-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DBeaver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popular database editor/browser that works with (almost) any database. Uses Java.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/>
          <p:cNvSpPr txBox="1"/>
          <p:nvPr/>
        </p:nvSpPr>
        <p:spPr>
          <a:xfrm>
            <a:off x="611280" y="259920"/>
            <a:ext cx="7912080" cy="855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SQL Field Types are Different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15" name="TextShape 2"/>
          <p:cNvSpPr txBox="1"/>
          <p:nvPr/>
        </p:nvSpPr>
        <p:spPr>
          <a:xfrm>
            <a:off x="611280" y="1363320"/>
            <a:ext cx="7912080" cy="1017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SQL field types only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</a:rPr>
              <a:t>partially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match the data types in most programming languages.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16" name="Table 3"/>
          <p:cNvGraphicFramePr/>
          <p:nvPr/>
        </p:nvGraphicFramePr>
        <p:xfrm>
          <a:off x="600120" y="2170080"/>
          <a:ext cx="7867080" cy="4254120"/>
        </p:xfrm>
        <a:graphic>
          <a:graphicData uri="http://schemas.openxmlformats.org/drawingml/2006/table">
            <a:tbl>
              <a:tblPr/>
              <a:tblGrid>
                <a:gridCol w="2360880"/>
                <a:gridCol w="5506200"/>
              </a:tblGrid>
              <a:tr h="51408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SMALLINT (16-bit)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-32,768 - 32,767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51516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INTEGER or INT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32-bit same as 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Noto Sans CJK SC"/>
                        </a:rPr>
                        <a:t>int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 in C, Java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65484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DECIMAL(m, 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DECIMAL(6, 2)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Decimal with m digits, n digits after decimal point.</a:t>
                      </a:r>
                      <a:br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1234.56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51552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REAL or FLOAT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8-byte floating point, like "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Courier New"/>
                          <a:ea typeface="Noto Sans CJK SC"/>
                        </a:rPr>
                        <a:t>double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" in Java or C.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51408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BOOLEAN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True (1) or False (0).  Not standard.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515520">
                <a:tc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514080">
                <a:tc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510840">
                <a:tc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Shape 1"/>
          <p:cNvSpPr txBox="1"/>
          <p:nvPr/>
        </p:nvSpPr>
        <p:spPr>
          <a:xfrm>
            <a:off x="611280" y="259920"/>
            <a:ext cx="7912080" cy="855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SQL Date, Time, and String Types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18" name="TextShape 2"/>
          <p:cNvSpPr txBox="1"/>
          <p:nvPr/>
        </p:nvSpPr>
        <p:spPr>
          <a:xfrm>
            <a:off x="611280" y="1327320"/>
            <a:ext cx="7912080" cy="1017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>
              <a:spcBef>
                <a:spcPts val="598"/>
              </a:spcBef>
              <a:tabLst>
                <a:tab algn="l" pos="0"/>
                <a:tab algn="l" pos="104760"/>
                <a:tab algn="l" pos="553680"/>
                <a:tab algn="l" pos="1002960"/>
                <a:tab algn="l" pos="1452240"/>
                <a:tab algn="l" pos="1901520"/>
                <a:tab algn="l" pos="2350800"/>
                <a:tab algn="l" pos="2800080"/>
                <a:tab algn="l" pos="3249360"/>
                <a:tab algn="l" pos="3698640"/>
                <a:tab algn="l" pos="4147920"/>
                <a:tab algn="l" pos="4597200"/>
                <a:tab algn="l" pos="5046480"/>
                <a:tab algn="l" pos="5495760"/>
                <a:tab algn="l" pos="5945040"/>
                <a:tab algn="l" pos="6394320"/>
                <a:tab algn="l" pos="6843600"/>
                <a:tab algn="l" pos="7292880"/>
                <a:tab algn="l" pos="7742160"/>
                <a:tab algn="l" pos="8191440"/>
                <a:tab algn="l" pos="864072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SQL has 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lot more types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than shown here.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Not all databases support all types, and details differ.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19" name="Table 3"/>
          <p:cNvGraphicFramePr/>
          <p:nvPr/>
        </p:nvGraphicFramePr>
        <p:xfrm>
          <a:off x="639720" y="2133720"/>
          <a:ext cx="7870680" cy="4255560"/>
        </p:xfrm>
        <a:graphic>
          <a:graphicData uri="http://schemas.openxmlformats.org/drawingml/2006/table">
            <a:tbl>
              <a:tblPr/>
              <a:tblGrid>
                <a:gridCol w="2051280"/>
                <a:gridCol w="5819400"/>
              </a:tblGrid>
              <a:tr h="45828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DATE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yyyy-mm-dd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45828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HH:MM:SS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65484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DATETIME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yyyy-mm-dd HH:MM:SS </a:t>
                      </a:r>
                      <a:br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Python datetime.datetime is more accurate.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65484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TIMESTAMP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Stores number of seconds since 1970-01-01 00:00:00 (the unix "enoch")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45828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CHAR(n)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Character data with fixed length n.  n &lt;= 8000.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45828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VARCHAR(n)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Variable length character string. n &lt;= 8000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45864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TEXT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Variable length string storage, maximum 2GB (varies)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  <a:tr h="654840"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NCHAR(n)</a:t>
                      </a:r>
                      <a:br/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NVARCHAR(n)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  <a:tc>
                  <a:txBody>
                    <a:bodyPr lIns="90000" rIns="90000" tIns="190800" bIns="46800">
                      <a:noAutofit/>
                    </a:bodyPr>
                    <a:p>
                      <a:pPr>
                        <a:lnSpc>
                          <a:spcPct val="76000"/>
                        </a:lnSpc>
                        <a:tabLst>
                          <a:tab algn="l" pos="0"/>
                          <a:tab algn="l" pos="44748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480"/>
                          <a:tab algn="l" pos="6287760"/>
                          <a:tab algn="l" pos="6737040"/>
                          <a:tab algn="l" pos="7186320"/>
                          <a:tab algn="l" pos="7635600"/>
                          <a:tab algn="l" pos="8084880"/>
                          <a:tab algn="l" pos="8534160"/>
                          <a:tab algn="l" pos="8983440"/>
                          <a:tab algn="l" pos="9327960"/>
                          <a:tab algn="l" pos="9686880"/>
                          <a:tab algn="l" pos="10045440"/>
                          <a:tab algn="l" pos="10404360"/>
                          <a:tab algn="l" pos="1076292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Noto Sans CJK SC"/>
                        </a:rPr>
                        <a:t>Character data stored as Unicode (likely 2-byte/char)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 Unicode MS"/>
                      </a:endParaRPr>
                    </a:p>
                  </a:txBody>
                  <a:tcPr marL="90000" marR="90000">
                    <a:lnL w="720">
                      <a:solidFill>
                        <a:srgbClr val="000080"/>
                      </a:solidFill>
                    </a:lnL>
                    <a:lnR w="720">
                      <a:solidFill>
                        <a:srgbClr val="000080"/>
                      </a:solidFill>
                    </a:lnR>
                    <a:lnT w="720">
                      <a:solidFill>
                        <a:srgbClr val="000080"/>
                      </a:solidFill>
                    </a:lnT>
                    <a:lnB w="720">
                      <a:solidFill>
                        <a:srgbClr val="00008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Shape 1"/>
          <p:cNvSpPr txBox="1"/>
          <p:nvPr/>
        </p:nvSpPr>
        <p:spPr>
          <a:xfrm>
            <a:off x="611280" y="259920"/>
            <a:ext cx="7912080" cy="855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Why Should You Care?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21" name="TextShape 2"/>
          <p:cNvSpPr txBox="1"/>
          <p:nvPr/>
        </p:nvSpPr>
        <p:spPr>
          <a:xfrm>
            <a:off x="611280" y="1542960"/>
            <a:ext cx="7912080" cy="4454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&gt; Appropriate data type can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improve code &amp; accuracy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Example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: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Use Decimal(10,2) for Thai money.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&gt;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Save storage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, especially when you have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</a:rPr>
              <a:t>lots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of data.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</a:rPr>
              <a:t>Example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: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You have 1 billion temperature measurements.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If you store them as Float, you need 8GB.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660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If you store them as 2-byte Int (maybe scaled), you need 2GB.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Shape 1"/>
          <p:cNvSpPr txBox="1"/>
          <p:nvPr/>
        </p:nvSpPr>
        <p:spPr>
          <a:xfrm>
            <a:off x="611280" y="259920"/>
            <a:ext cx="7912080" cy="855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Data Type Hierarchy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pic>
        <p:nvPicPr>
          <p:cNvPr id="323" name="" descr=""/>
          <p:cNvPicPr/>
          <p:nvPr/>
        </p:nvPicPr>
        <p:blipFill>
          <a:blip r:embed="rId1"/>
          <a:stretch/>
        </p:blipFill>
        <p:spPr>
          <a:xfrm>
            <a:off x="609480" y="1224000"/>
            <a:ext cx="7561440" cy="5670360"/>
          </a:xfrm>
          <a:prstGeom prst="rect">
            <a:avLst/>
          </a:prstGeom>
          <a:ln>
            <a:noFill/>
          </a:ln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Shape 1"/>
          <p:cNvSpPr txBox="1"/>
          <p:nvPr/>
        </p:nvSpPr>
        <p:spPr>
          <a:xfrm>
            <a:off x="610920" y="259920"/>
            <a:ext cx="7910280" cy="854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 anchor="b">
            <a:noAutofit/>
          </a:bodyPr>
          <a:p>
            <a:pPr algn="ctr">
              <a:tabLst>
                <a:tab algn="l" pos="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</a:rPr>
              <a:t>Django Model Field types</a:t>
            </a:r>
            <a:endParaRPr b="0" lang="en-US" sz="3600" spc="-1" strike="noStrike">
              <a:solidFill>
                <a:srgbClr val="333399"/>
              </a:solidFill>
              <a:latin typeface="Arial"/>
            </a:endParaRPr>
          </a:p>
        </p:txBody>
      </p:sp>
      <p:sp>
        <p:nvSpPr>
          <p:cNvPr id="325" name="TextShape 2"/>
          <p:cNvSpPr txBox="1"/>
          <p:nvPr/>
        </p:nvSpPr>
        <p:spPr>
          <a:xfrm>
            <a:off x="610920" y="1542960"/>
            <a:ext cx="7910280" cy="4453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>
            <a:normAutofit/>
          </a:bodyPr>
          <a:p>
            <a:pPr marL="342720" indent="-33804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Fields in a Django Model subclass are saved to the database.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804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For list of Field types in Django: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2720" indent="-338040">
              <a:spcBef>
                <a:spcPts val="598"/>
              </a:spcBef>
              <a:tabLst>
                <a:tab algn="l" pos="0"/>
                <a:tab algn="l" pos="342720"/>
                <a:tab algn="l" pos="44748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480"/>
                <a:tab algn="l" pos="6287760"/>
                <a:tab algn="l" pos="6737040"/>
                <a:tab algn="l" pos="7186320"/>
                <a:tab algn="l" pos="7635600"/>
                <a:tab algn="l" pos="8084880"/>
                <a:tab algn="l" pos="8534160"/>
                <a:tab algn="l" pos="89834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https://docs.djangoproject.com/en/2.2/ref/models/fields/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7868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2004-07-02T08:13:09Z</dcterms:created>
  <dc:creator>CPE1MOBILE</dc:creator>
  <dc:description/>
  <dc:language>en-US</dc:language>
  <cp:lastModifiedBy/>
  <dcterms:modified xsi:type="dcterms:W3CDTF">2021-09-20T14:28:49Z</dcterms:modified>
  <cp:revision>189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