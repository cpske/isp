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71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72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74.xml.rels" ContentType="application/vnd.openxmlformats-package.relationships+xml"/>
  <Override PartName="/ppt/notesSlides/_rels/notesSlide67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64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69.xml.rels" ContentType="application/vnd.openxmlformats-package.relationships+xml"/>
  <Override PartName="/ppt/notesSlides/_rels/notesSlide70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63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73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60.xml.rels" ContentType="application/vnd.openxmlformats-package.relationships+xml"/>
  <Override PartName="/ppt/notesSlides/_rels/notesSlide75.xml.rels" ContentType="application/vnd.openxmlformats-package.relationships+xml"/>
  <Override PartName="/ppt/notesSlides/_rels/notesSlide68.xml.rels" ContentType="application/vnd.openxmlformats-package.relationships+xml"/>
  <Override PartName="/ppt/notesSlides/notesSlide51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59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9.png" ContentType="image/png"/>
  <Override PartName="/ppt/media/image8.wmf" ContentType="image/x-wmf"/>
  <Override PartName="/ppt/media/image13.png" ContentType="image/png"/>
  <Override PartName="/ppt/media/image7.wmf" ContentType="image/x-wmf"/>
  <Override PartName="/ppt/media/image12.png" ContentType="image/png"/>
  <Override PartName="/ppt/media/image6.wmf" ContentType="image/x-wmf"/>
  <Override PartName="/ppt/media/image11.png" ContentType="image/png"/>
  <Override PartName="/ppt/media/image5.wmf" ContentType="image/x-wmf"/>
  <Override PartName="/ppt/media/image10.png" ContentType="image/png"/>
  <Override PartName="/ppt/media/image28.wmf" ContentType="image/x-wmf"/>
  <Override PartName="/ppt/media/image4.wmf" ContentType="image/x-wmf"/>
  <Override PartName="/ppt/media/image27.wmf" ContentType="image/x-wmf"/>
  <Override PartName="/ppt/media/image3.wmf" ContentType="image/x-wmf"/>
  <Override PartName="/ppt/media/image26.wmf" ContentType="image/x-wmf"/>
  <Override PartName="/ppt/media/image2.png" ContentType="image/png"/>
  <Override PartName="/ppt/media/image25.wmf" ContentType="image/x-wmf"/>
  <Override PartName="/ppt/media/image14.png" ContentType="image/png"/>
  <Override PartName="/ppt/media/image23.png" ContentType="image/png"/>
  <Override PartName="/ppt/media/image22.wmf" ContentType="image/x-wmf"/>
  <Override PartName="/ppt/media/image20.wmf" ContentType="image/x-wmf"/>
  <Override PartName="/ppt/media/image21.wmf" ContentType="image/x-wmf"/>
  <Override PartName="/ppt/media/image19.wmf" ContentType="image/x-wmf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24.png" ContentType="image/png"/>
  <Override PartName="/ppt/media/image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9.xml" ContentType="application/vnd.openxmlformats-officedocument.presentationml.slide+xml"/>
  <Override PartName="/ppt/slides/slide61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60.xml" ContentType="application/vnd.openxmlformats-officedocument.presentationml.slide+xml"/>
  <Override PartName="/ppt/slides/slide18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62.xml" ContentType="application/vnd.openxmlformats-officedocument.presentationml.slide+xml"/>
  <Override PartName="/ppt/slides/slide75.xml" ContentType="application/vnd.openxmlformats-officedocument.presentationml.slide+xml"/>
  <Override PartName="/ppt/slides/slide26.xml" ContentType="application/vnd.openxmlformats-officedocument.presentationml.slide+xml"/>
  <Override PartName="/ppt/slides/slide63.xml" ContentType="application/vnd.openxmlformats-officedocument.presentationml.slide+xml"/>
  <Override PartName="/ppt/slides/slide74.xml" ContentType="application/vnd.openxmlformats-officedocument.presentationml.slide+xml"/>
  <Override PartName="/ppt/slides/slide2.xml" ContentType="application/vnd.openxmlformats-officedocument.presentationml.slide+xml"/>
  <Override PartName="/ppt/slides/slide73.xml" ContentType="application/vnd.openxmlformats-officedocument.presentationml.slide+xml"/>
  <Override PartName="/ppt/slides/slide1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29.xml" ContentType="application/vnd.openxmlformats-officedocument.presentationml.slide+xml"/>
  <Override PartName="/ppt/slides/slide69.xml" ContentType="application/vnd.openxmlformats-officedocument.presentationml.slide+xml"/>
  <Override PartName="/ppt/slides/slide32.xml" ContentType="application/vnd.openxmlformats-officedocument.presentationml.slide+xml"/>
  <Override PartName="/ppt/slides/slide70.xml" ContentType="application/vnd.openxmlformats-officedocument.presentationml.slide+xml"/>
  <Override PartName="/ppt/slides/slide28.xml" ContentType="application/vnd.openxmlformats-officedocument.presentationml.slide+xml"/>
  <Override PartName="/ppt/slides/slide68.xml" ContentType="application/vnd.openxmlformats-officedocument.presentationml.slide+xml"/>
  <Override PartName="/ppt/slides/slide31.xml" ContentType="application/vnd.openxmlformats-officedocument.presentationml.slide+xml"/>
  <Override PartName="/ppt/slides/slide67.xml" ContentType="application/vnd.openxmlformats-officedocument.presentationml.slide+xml"/>
  <Override PartName="/ppt/slides/slide30.xml" ContentType="application/vnd.openxmlformats-officedocument.presentationml.slide+xml"/>
  <Override PartName="/ppt/slides/slide66.xml" ContentType="application/vnd.openxmlformats-officedocument.presentationml.slide+xml"/>
  <Override PartName="/ppt/slides/slide65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17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48.xml.rels" ContentType="application/vnd.openxmlformats-package.relationships+xml"/>
  <Override PartName="/ppt/slides/_rels/slide64.xml.rels" ContentType="application/vnd.openxmlformats-package.relationships+xml"/>
  <Override PartName="/ppt/slides/_rels/slide4.xml.rels" ContentType="application/vnd.openxmlformats-package.relationships+xml"/>
  <Override PartName="/ppt/slides/_rels/slide47.xml.rels" ContentType="application/vnd.openxmlformats-package.relationships+xml"/>
  <Override PartName="/ppt/slides/_rels/slide69.xml.rels" ContentType="application/vnd.openxmlformats-package.relationships+xml"/>
  <Override PartName="/ppt/slides/_rels/slide73.xml.rels" ContentType="application/vnd.openxmlformats-package.relationships+xml"/>
  <Override PartName="/ppt/slides/_rels/slide70.xml.rels" ContentType="application/vnd.openxmlformats-package.relationships+xml"/>
  <Override PartName="/ppt/slides/_rels/slide63.xml.rels" ContentType="application/vnd.openxmlformats-package.relationships+xml"/>
  <Override PartName="/ppt/slides/_rels/slide55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9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7.xml.rels" ContentType="application/vnd.openxmlformats-package.relationships+xml"/>
  <Override PartName="/ppt/slides/_rels/slide43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36.xml.rels" ContentType="application/vnd.openxmlformats-package.relationships+xml"/>
  <Override PartName="/ppt/slides/_rels/slide42.xml.rels" ContentType="application/vnd.openxmlformats-package.relationships+xml"/>
  <Override PartName="/ppt/slides/_rels/slide7.xml.rels" ContentType="application/vnd.openxmlformats-package.relationships+xml"/>
  <Override PartName="/ppt/slides/_rels/slide35.xml.rels" ContentType="application/vnd.openxmlformats-package.relationships+xml"/>
  <Override PartName="/ppt/slides/_rels/slide51.xml.rels" ContentType="application/vnd.openxmlformats-package.relationships+xml"/>
  <Override PartName="/ppt/slides/_rels/slide54.xml.rels" ContentType="application/vnd.openxmlformats-package.relationships+xml"/>
  <Override PartName="/ppt/slides/_rels/slide53.xml.rels" ContentType="application/vnd.openxmlformats-package.relationships+xml"/>
  <Override PartName="/ppt/slides/_rels/slide46.xml.rels" ContentType="application/vnd.openxmlformats-package.relationships+xml"/>
  <Override PartName="/ppt/slides/_rels/slide62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52.xml.rels" ContentType="application/vnd.openxmlformats-package.relationships+xml"/>
  <Override PartName="/ppt/slides/_rels/slide57.xml.rels" ContentType="application/vnd.openxmlformats-package.relationships+xml"/>
  <Override PartName="/ppt/slides/_rels/slide61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33.xml.rels" ContentType="application/vnd.openxmlformats-package.relationships+xml"/>
  <Override PartName="/ppt/slides/_rels/slide29.xml.rels" ContentType="application/vnd.openxmlformats-package.relationships+xml"/>
  <Override PartName="/ppt/slides/_rels/slide45.xml.rels" ContentType="application/vnd.openxmlformats-package.relationships+xml"/>
  <Override PartName="/ppt/slides/_rels/slide38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2.xml.rels" ContentType="application/vnd.openxmlformats-package.relationships+xml"/>
  <Override PartName="/ppt/slides/_rels/slide26.xml.rels" ContentType="application/vnd.openxmlformats-package.relationships+xml"/>
  <Override PartName="/ppt/slides/_rels/slide21.xml.rels" ContentType="application/vnd.openxmlformats-package.relationships+xml"/>
  <Override PartName="/ppt/slides/_rels/slide17.xml.rels" ContentType="application/vnd.openxmlformats-package.relationships+xml"/>
  <Override PartName="/ppt/slides/_rels/slide11.xml.rels" ContentType="application/vnd.openxmlformats-package.relationships+xml"/>
  <Override PartName="/ppt/slides/_rels/slide10.xml.rels" ContentType="application/vnd.openxmlformats-package.relationships+xml"/>
  <Override PartName="/ppt/slides/_rels/slide59.xml.rels" ContentType="application/vnd.openxmlformats-package.relationships+xml"/>
  <Override PartName="/ppt/slides/_rels/slide56.xml.rels" ContentType="application/vnd.openxmlformats-package.relationships+xml"/>
  <Override PartName="/ppt/slides/_rels/slide60.xml.rels" ContentType="application/vnd.openxmlformats-package.relationships+xml"/>
  <Override PartName="/ppt/slides/_rels/slide75.xml.rels" ContentType="application/vnd.openxmlformats-package.relationships+xml"/>
  <Override PartName="/ppt/slides/_rels/slide66.xml.rels" ContentType="application/vnd.openxmlformats-package.relationships+xml"/>
  <Override PartName="/ppt/slides/_rels/slide65.xml.rels" ContentType="application/vnd.openxmlformats-package.relationships+xml"/>
  <Override PartName="/ppt/slides/_rels/slide58.xml.rels" ContentType="application/vnd.openxmlformats-package.relationships+xml"/>
  <Override PartName="/ppt/slides/_rels/slide74.xml.rels" ContentType="application/vnd.openxmlformats-package.relationships+xml"/>
  <Override PartName="/ppt/slides/_rels/slide23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68.xml.rels" ContentType="application/vnd.openxmlformats-package.relationships+xml"/>
  <Override PartName="/ppt/slides/_rels/slide72.xml.rels" ContentType="application/vnd.openxmlformats-package.relationships+xml"/>
  <Override PartName="/ppt/slides/_rels/slide67.xml.rels" ContentType="application/vnd.openxmlformats-package.relationships+xml"/>
  <Override PartName="/ppt/slides/_rels/slide71.xml.rels" ContentType="application/vnd.openxmlformats-package.relationships+xml"/>
  <Override PartName="/ppt/slides/slide6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</p:sldIdLst>
  <p:sldSz cx="9144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</a:t>
            </a:r>
            <a:r>
              <a:rPr b="0" lang="en-US" sz="4400" spc="-1" strike="noStrike">
                <a:latin typeface="Arial"/>
              </a:rPr>
              <a:t>move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5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946A8362-844E-42D2-AE5E-5646A53363F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18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20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22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24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26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28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30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32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34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36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38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40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-11798280" y="-11796840"/>
            <a:ext cx="11787840" cy="12481560"/>
          </a:xfrm>
          <a:prstGeom prst="rect">
            <a:avLst/>
          </a:prstGeom>
        </p:spPr>
      </p:sp>
      <p:sp>
        <p:nvSpPr>
          <p:cNvPr id="542" name="CustomShape 2"/>
          <p:cNvSpPr/>
          <p:nvPr/>
        </p:nvSpPr>
        <p:spPr>
          <a:xfrm>
            <a:off x="685800" y="4343400"/>
            <a:ext cx="5474160" cy="4102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44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46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48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50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52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54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56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58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60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62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720" cy="360"/>
          </a:xfrm>
          <a:prstGeom prst="rect">
            <a:avLst/>
          </a:prstGeom>
        </p:spPr>
      </p:sp>
      <p:sp>
        <p:nvSpPr>
          <p:cNvPr id="564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66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68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70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72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574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-11798280" y="-11796840"/>
            <a:ext cx="11789280" cy="12483000"/>
          </a:xfrm>
          <a:prstGeom prst="rect">
            <a:avLst/>
          </a:prstGeom>
        </p:spPr>
      </p:sp>
      <p:sp>
        <p:nvSpPr>
          <p:cNvPr id="576" name="CustomShape 2"/>
          <p:cNvSpPr/>
          <p:nvPr/>
        </p:nvSpPr>
        <p:spPr>
          <a:xfrm>
            <a:off x="685800" y="4343400"/>
            <a:ext cx="5475960" cy="4105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Img"/>
          </p:nvPr>
        </p:nvSpPr>
        <p:spPr>
          <a:xfrm>
            <a:off x="-11798280" y="-11796840"/>
            <a:ext cx="11795760" cy="12489480"/>
          </a:xfrm>
          <a:prstGeom prst="rect">
            <a:avLst/>
          </a:prstGeom>
        </p:spPr>
      </p:sp>
      <p:sp>
        <p:nvSpPr>
          <p:cNvPr id="578" name="CustomShape 2"/>
          <p:cNvSpPr/>
          <p:nvPr/>
        </p:nvSpPr>
        <p:spPr>
          <a:xfrm>
            <a:off x="685800" y="4343400"/>
            <a:ext cx="5482080" cy="4110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sldImg"/>
          </p:nvPr>
        </p:nvSpPr>
        <p:spPr>
          <a:xfrm>
            <a:off x="-11798280" y="-11796840"/>
            <a:ext cx="11795760" cy="12489480"/>
          </a:xfrm>
          <a:prstGeom prst="rect">
            <a:avLst/>
          </a:prstGeom>
        </p:spPr>
      </p:sp>
      <p:sp>
        <p:nvSpPr>
          <p:cNvPr id="580" name="CustomShape 2"/>
          <p:cNvSpPr/>
          <p:nvPr/>
        </p:nvSpPr>
        <p:spPr>
          <a:xfrm>
            <a:off x="685800" y="4343400"/>
            <a:ext cx="5482080" cy="4110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720" cy="360"/>
          </a:xfrm>
          <a:prstGeom prst="rect">
            <a:avLst/>
          </a:prstGeom>
        </p:spPr>
      </p:sp>
      <p:sp>
        <p:nvSpPr>
          <p:cNvPr id="582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720" cy="360"/>
          </a:xfrm>
          <a:prstGeom prst="rect">
            <a:avLst/>
          </a:prstGeom>
        </p:spPr>
      </p:sp>
      <p:sp>
        <p:nvSpPr>
          <p:cNvPr id="584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sldImg"/>
          </p:nvPr>
        </p:nvSpPr>
        <p:spPr>
          <a:xfrm>
            <a:off x="-11798280" y="-11796840"/>
            <a:ext cx="11774880" cy="12468960"/>
          </a:xfrm>
          <a:prstGeom prst="rect">
            <a:avLst/>
          </a:prstGeom>
        </p:spPr>
      </p:sp>
      <p:sp>
        <p:nvSpPr>
          <p:cNvPr id="586" name="CustomShape 2"/>
          <p:cNvSpPr/>
          <p:nvPr/>
        </p:nvSpPr>
        <p:spPr>
          <a:xfrm>
            <a:off x="685800" y="4343400"/>
            <a:ext cx="5461560" cy="4089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-11798280" y="-11796840"/>
            <a:ext cx="11797200" cy="12490920"/>
          </a:xfrm>
          <a:prstGeom prst="rect">
            <a:avLst/>
          </a:prstGeom>
        </p:spPr>
      </p:sp>
      <p:sp>
        <p:nvSpPr>
          <p:cNvPr id="588" name="CustomShape 2"/>
          <p:cNvSpPr/>
          <p:nvPr/>
        </p:nvSpPr>
        <p:spPr>
          <a:xfrm>
            <a:off x="685800" y="4343400"/>
            <a:ext cx="548388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-11798280" y="-11796840"/>
            <a:ext cx="11792520" cy="12486240"/>
          </a:xfrm>
          <a:prstGeom prst="rect">
            <a:avLst/>
          </a:prstGeom>
        </p:spPr>
      </p:sp>
      <p:sp>
        <p:nvSpPr>
          <p:cNvPr id="590" name="CustomShape 2"/>
          <p:cNvSpPr/>
          <p:nvPr/>
        </p:nvSpPr>
        <p:spPr>
          <a:xfrm>
            <a:off x="685800" y="4343400"/>
            <a:ext cx="5478840" cy="4107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720" cy="360"/>
          </a:xfrm>
          <a:prstGeom prst="rect">
            <a:avLst/>
          </a:prstGeom>
        </p:spPr>
      </p:sp>
      <p:sp>
        <p:nvSpPr>
          <p:cNvPr id="592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-11798280" y="-11796840"/>
            <a:ext cx="11792520" cy="12486240"/>
          </a:xfrm>
          <a:prstGeom prst="rect">
            <a:avLst/>
          </a:prstGeom>
        </p:spPr>
      </p:sp>
      <p:sp>
        <p:nvSpPr>
          <p:cNvPr id="594" name="CustomShape 2"/>
          <p:cNvSpPr/>
          <p:nvPr/>
        </p:nvSpPr>
        <p:spPr>
          <a:xfrm>
            <a:off x="685800" y="4343400"/>
            <a:ext cx="5478840" cy="4107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720" cy="360"/>
          </a:xfrm>
          <a:prstGeom prst="rect">
            <a:avLst/>
          </a:prstGeom>
        </p:spPr>
      </p:sp>
      <p:sp>
        <p:nvSpPr>
          <p:cNvPr id="596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sldImg"/>
          </p:nvPr>
        </p:nvSpPr>
        <p:spPr>
          <a:xfrm>
            <a:off x="-11798280" y="-11796840"/>
            <a:ext cx="11792520" cy="12486240"/>
          </a:xfrm>
          <a:prstGeom prst="rect">
            <a:avLst/>
          </a:prstGeom>
        </p:spPr>
      </p:sp>
      <p:sp>
        <p:nvSpPr>
          <p:cNvPr id="598" name="CustomShape 2"/>
          <p:cNvSpPr/>
          <p:nvPr/>
        </p:nvSpPr>
        <p:spPr>
          <a:xfrm>
            <a:off x="685800" y="4343400"/>
            <a:ext cx="5478840" cy="4107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600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602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604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606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608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610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612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614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616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618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2143080" y="695160"/>
            <a:ext cx="2570760" cy="3427920"/>
          </a:xfrm>
          <a:prstGeom prst="rect">
            <a:avLst/>
          </a:prstGeom>
        </p:spPr>
      </p:sp>
      <p:sp>
        <p:nvSpPr>
          <p:cNvPr id="620" name="CustomShape 2"/>
          <p:cNvSpPr/>
          <p:nvPr/>
        </p:nvSpPr>
        <p:spPr>
          <a:xfrm>
            <a:off x="685800" y="4343400"/>
            <a:ext cx="5485320" cy="411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>
          <a:xfrm>
            <a:off x="0" y="2438280"/>
            <a:ext cx="8955720" cy="999000"/>
            <a:chOff x="0" y="2438280"/>
            <a:chExt cx="8955720" cy="999000"/>
          </a:xfrm>
        </p:grpSpPr>
        <p:grpSp>
          <p:nvGrpSpPr>
            <p:cNvPr id="1" name="Group 2"/>
            <p:cNvGrpSpPr/>
            <p:nvPr/>
          </p:nvGrpSpPr>
          <p:grpSpPr>
            <a:xfrm>
              <a:off x="290520" y="2546280"/>
              <a:ext cx="657720" cy="421200"/>
              <a:chOff x="290520" y="2546280"/>
              <a:chExt cx="657720" cy="421200"/>
            </a:xfrm>
          </p:grpSpPr>
          <p:sp>
            <p:nvSpPr>
              <p:cNvPr id="2" name="CustomShape 3"/>
              <p:cNvSpPr/>
              <p:nvPr/>
            </p:nvSpPr>
            <p:spPr>
              <a:xfrm>
                <a:off x="290520" y="2546280"/>
                <a:ext cx="384840" cy="421200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" name="CustomShape 4"/>
              <p:cNvSpPr/>
              <p:nvPr/>
            </p:nvSpPr>
            <p:spPr>
              <a:xfrm>
                <a:off x="673200" y="2546280"/>
                <a:ext cx="275040" cy="421200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10800000"/>
              </a:gra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" name="Group 5"/>
            <p:cNvGrpSpPr/>
            <p:nvPr/>
          </p:nvGrpSpPr>
          <p:grpSpPr>
            <a:xfrm>
              <a:off x="414360" y="2968560"/>
              <a:ext cx="684360" cy="421200"/>
              <a:chOff x="414360" y="2968560"/>
              <a:chExt cx="684360" cy="421200"/>
            </a:xfrm>
          </p:grpSpPr>
          <p:sp>
            <p:nvSpPr>
              <p:cNvPr id="5" name="CustomShape 6"/>
              <p:cNvSpPr/>
              <p:nvPr/>
            </p:nvSpPr>
            <p:spPr>
              <a:xfrm>
                <a:off x="414360" y="2968560"/>
                <a:ext cx="420480" cy="421200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" name="CustomShape 7"/>
              <p:cNvSpPr/>
              <p:nvPr/>
            </p:nvSpPr>
            <p:spPr>
              <a:xfrm>
                <a:off x="783360" y="2968560"/>
                <a:ext cx="315360" cy="421200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10800000"/>
              </a:gradFill>
              <a:ln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7" name="CustomShape 8"/>
            <p:cNvSpPr/>
            <p:nvPr/>
          </p:nvSpPr>
          <p:spPr>
            <a:xfrm>
              <a:off x="0" y="2895480"/>
              <a:ext cx="506880" cy="369000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81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CustomShape 9"/>
            <p:cNvSpPr/>
            <p:nvPr/>
          </p:nvSpPr>
          <p:spPr>
            <a:xfrm>
              <a:off x="635040" y="2438280"/>
              <a:ext cx="360" cy="999000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CustomShape 10"/>
            <p:cNvSpPr/>
            <p:nvPr/>
          </p:nvSpPr>
          <p:spPr>
            <a:xfrm flipV="1">
              <a:off x="316080" y="3258000"/>
              <a:ext cx="8639640" cy="180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" name="PlaceHolder 1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edit the </a:t>
            </a:r>
            <a:r>
              <a:rPr b="0" lang="en-US" sz="4400" spc="-1" strike="noStrike">
                <a:latin typeface="Arial"/>
              </a:rPr>
              <a:t>title 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1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1"/>
          <p:cNvGrpSpPr/>
          <p:nvPr/>
        </p:nvGrpSpPr>
        <p:grpSpPr>
          <a:xfrm>
            <a:off x="189000" y="368280"/>
            <a:ext cx="8172720" cy="999000"/>
            <a:chOff x="189000" y="368280"/>
            <a:chExt cx="8172720" cy="999000"/>
          </a:xfrm>
        </p:grpSpPr>
        <p:sp>
          <p:nvSpPr>
            <p:cNvPr id="49" name="CustomShape 2"/>
            <p:cNvSpPr/>
            <p:nvPr/>
          </p:nvSpPr>
          <p:spPr>
            <a:xfrm>
              <a:off x="507960" y="368280"/>
              <a:ext cx="360" cy="9990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CustomShape 3"/>
            <p:cNvSpPr/>
            <p:nvPr/>
          </p:nvSpPr>
          <p:spPr>
            <a:xfrm>
              <a:off x="189000" y="1158840"/>
              <a:ext cx="8172720" cy="36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edit </a:t>
            </a:r>
            <a:r>
              <a:rPr b="0" lang="en-US" sz="4400" spc="-1" strike="noStrike">
                <a:latin typeface="Arial"/>
              </a:rPr>
              <a:t>the 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1"/>
          <p:cNvGrpSpPr/>
          <p:nvPr/>
        </p:nvGrpSpPr>
        <p:grpSpPr>
          <a:xfrm>
            <a:off x="189000" y="368280"/>
            <a:ext cx="8172720" cy="999000"/>
            <a:chOff x="189000" y="368280"/>
            <a:chExt cx="8172720" cy="999000"/>
          </a:xfrm>
        </p:grpSpPr>
        <p:sp>
          <p:nvSpPr>
            <p:cNvPr id="90" name="CustomShape 2"/>
            <p:cNvSpPr/>
            <p:nvPr/>
          </p:nvSpPr>
          <p:spPr>
            <a:xfrm>
              <a:off x="507960" y="368280"/>
              <a:ext cx="360" cy="999000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CustomShape 3"/>
            <p:cNvSpPr/>
            <p:nvPr/>
          </p:nvSpPr>
          <p:spPr>
            <a:xfrm>
              <a:off x="189000" y="1158840"/>
              <a:ext cx="8172720" cy="360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10800000"/>
            </a:gra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rIns="0" tIns="0" bIns="0" anchor="ctr" anchorCtr="1">
            <a:noAutofit/>
          </a:bodyPr>
          <a:p>
            <a:r>
              <a:rPr b="0" lang="en-US" sz="1800" spc="-1" strike="noStrike">
                <a:latin typeface="Arial"/>
              </a:rPr>
              <a:t>Click to edit the </a:t>
            </a:r>
            <a:r>
              <a:rPr b="0" lang="en-US" sz="1800" spc="-1" strike="noStrike">
                <a:latin typeface="Arial"/>
              </a:rPr>
              <a:t>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image" Target="../media/image6.wmf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image" Target="../media/image8.wmf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9.wmf"/><Relationship Id="rId2" Type="http://schemas.openxmlformats.org/officeDocument/2006/relationships/image" Target="../media/image20.wmf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1.wmf"/><Relationship Id="rId2" Type="http://schemas.openxmlformats.org/officeDocument/2006/relationships/image" Target="../media/image22.wmf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blog.cloudflare.com/radar-2025-year-in-review/#the-shares-of-global-web-requests-using-http-3-and-http-2-both-increased-slightly-in-2025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hyperlink" Target="http://www.example.com/" TargetMode="Externa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25.wmf"/><Relationship Id="rId2" Type="http://schemas.openxmlformats.org/officeDocument/2006/relationships/image" Target="../media/image26.wmf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27.wmf"/><Relationship Id="rId2" Type="http://schemas.openxmlformats.org/officeDocument/2006/relationships/image" Target="../media/image28.wmf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990720" y="1676160"/>
            <a:ext cx="7445880" cy="146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Hypertext Transport Protocol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algn="ctr"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James Brucker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Hypertext Transport Protocol (HTTP)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674280" y="1392120"/>
            <a:ext cx="7920720" cy="491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28600" indent="-22752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28600"/>
                <a:tab algn="l" pos="241200"/>
                <a:tab algn="l" pos="599760"/>
                <a:tab algn="l" pos="958680"/>
                <a:tab algn="l" pos="1317600"/>
                <a:tab algn="l" pos="1676160"/>
                <a:tab algn="l" pos="2035080"/>
                <a:tab algn="l" pos="2393640"/>
                <a:tab algn="l" pos="2752560"/>
                <a:tab algn="l" pos="3111480"/>
                <a:tab algn="l" pos="3470040"/>
                <a:tab algn="l" pos="3828960"/>
                <a:tab algn="l" pos="4187520"/>
                <a:tab algn="l" pos="4546440"/>
                <a:tab algn="l" pos="4905360"/>
                <a:tab algn="l" pos="5263920"/>
                <a:tab algn="l" pos="5622840"/>
                <a:tab algn="l" pos="5981400"/>
                <a:tab algn="l" pos="6340320"/>
                <a:tab algn="l" pos="6699240"/>
                <a:tab algn="l" pos="705780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Protocol used by the World Wide Web</a:t>
            </a:r>
            <a:endParaRPr b="0" lang="en-US" sz="2800" spc="-1" strike="noStrike">
              <a:latin typeface="Arial"/>
            </a:endParaRPr>
          </a:p>
          <a:p>
            <a:pPr marL="228600" indent="-22752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28600"/>
                <a:tab algn="l" pos="241200"/>
                <a:tab algn="l" pos="599760"/>
                <a:tab algn="l" pos="958680"/>
                <a:tab algn="l" pos="1317600"/>
                <a:tab algn="l" pos="1676160"/>
                <a:tab algn="l" pos="2035080"/>
                <a:tab algn="l" pos="2393640"/>
                <a:tab algn="l" pos="2752560"/>
                <a:tab algn="l" pos="3111480"/>
                <a:tab algn="l" pos="3470040"/>
                <a:tab algn="l" pos="3828960"/>
                <a:tab algn="l" pos="4187520"/>
                <a:tab algn="l" pos="4546440"/>
                <a:tab algn="l" pos="4905360"/>
                <a:tab algn="l" pos="5263920"/>
                <a:tab algn="l" pos="5622840"/>
                <a:tab algn="l" pos="5981400"/>
                <a:tab algn="l" pos="6340320"/>
                <a:tab algn="l" pos="6699240"/>
                <a:tab algn="l" pos="705780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Mostly widely used protocol on the Internet</a:t>
            </a:r>
            <a:endParaRPr b="0" lang="en-US" sz="2800" spc="-1" strike="noStrike">
              <a:latin typeface="Arial"/>
            </a:endParaRPr>
          </a:p>
          <a:p>
            <a:pPr marL="228600" indent="-22752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28600"/>
                <a:tab algn="l" pos="241200"/>
                <a:tab algn="l" pos="599760"/>
                <a:tab algn="l" pos="958680"/>
                <a:tab algn="l" pos="1317600"/>
                <a:tab algn="l" pos="1676160"/>
                <a:tab algn="l" pos="2035080"/>
                <a:tab algn="l" pos="2393640"/>
                <a:tab algn="l" pos="2752560"/>
                <a:tab algn="l" pos="3111480"/>
                <a:tab algn="l" pos="3470040"/>
                <a:tab algn="l" pos="3828960"/>
                <a:tab algn="l" pos="4187520"/>
                <a:tab algn="l" pos="4546440"/>
                <a:tab algn="l" pos="4905360"/>
                <a:tab algn="l" pos="5263920"/>
                <a:tab algn="l" pos="5622840"/>
                <a:tab algn="l" pos="5981400"/>
                <a:tab algn="l" pos="6340320"/>
                <a:tab algn="l" pos="6699240"/>
                <a:tab algn="l" pos="705780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Platform independent</a:t>
            </a:r>
            <a:endParaRPr b="0" lang="en-US" sz="2800" spc="-1" strike="noStrike">
              <a:latin typeface="Arial"/>
            </a:endParaRPr>
          </a:p>
          <a:p>
            <a:pPr marL="228600" indent="-22752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28600"/>
                <a:tab algn="l" pos="241200"/>
                <a:tab algn="l" pos="599760"/>
                <a:tab algn="l" pos="958680"/>
                <a:tab algn="l" pos="1317600"/>
                <a:tab algn="l" pos="1676160"/>
                <a:tab algn="l" pos="2035080"/>
                <a:tab algn="l" pos="2393640"/>
                <a:tab algn="l" pos="2752560"/>
                <a:tab algn="l" pos="3111480"/>
                <a:tab algn="l" pos="3470040"/>
                <a:tab algn="l" pos="3828960"/>
                <a:tab algn="l" pos="4187520"/>
                <a:tab algn="l" pos="4546440"/>
                <a:tab algn="l" pos="4905360"/>
                <a:tab algn="l" pos="5263920"/>
                <a:tab algn="l" pos="5622840"/>
                <a:tab algn="l" pos="5981400"/>
                <a:tab algn="l" pos="6340320"/>
                <a:tab algn="l" pos="6699240"/>
                <a:tab algn="l" pos="705780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Human readable</a:t>
            </a:r>
            <a:endParaRPr b="0" lang="en-US" sz="2800" spc="-1" strike="noStrike">
              <a:latin typeface="Arial"/>
            </a:endParaRPr>
          </a:p>
          <a:p>
            <a:pPr marL="228600" indent="-189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610920" y="260280"/>
            <a:ext cx="7885440" cy="82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uses TCP and IP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457200" y="1096920"/>
            <a:ext cx="8136360" cy="1661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Internet protocols are divided into "layers" -- a packet inside a packet.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Each "layer" providing a different kind of functionality.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1349280" y="2260440"/>
            <a:ext cx="5577480" cy="4383720"/>
          </a:xfrm>
          <a:prstGeom prst="rect">
            <a:avLst/>
          </a:prstGeom>
          <a:ln>
            <a:noFill/>
          </a:ln>
        </p:spPr>
      </p:pic>
      <p:sp>
        <p:nvSpPr>
          <p:cNvPr id="143" name="CustomShape 3"/>
          <p:cNvSpPr/>
          <p:nvPr/>
        </p:nvSpPr>
        <p:spPr>
          <a:xfrm>
            <a:off x="5979960" y="2743200"/>
            <a:ext cx="1188000" cy="394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000" spc="-1" strike="noStrike">
                <a:solidFill>
                  <a:srgbClr val="000080"/>
                </a:solidFill>
                <a:latin typeface="Arial"/>
                <a:ea typeface="DejaVu Sans"/>
              </a:rPr>
              <a:t>HTTP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610920" y="260280"/>
            <a:ext cx="787608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Internet Protocol (IP)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456840" y="1399680"/>
            <a:ext cx="8093520" cy="518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Internet Protocol (IP)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transports packets over Internet.</a:t>
            </a: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Every device on the Internet uses the IP protocol.</a:t>
            </a: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IP provides:</a:t>
            </a: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addressing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- each site has an IP address</a:t>
            </a: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routing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- how to "route" a packet from source to dest.</a:t>
            </a: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IP does not:</a:t>
            </a: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guarantee delivery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of packets</a:t>
            </a: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deliver packets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in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the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order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sent</a:t>
            </a: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maintain a "connection" between source and dest.</a:t>
            </a: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611280" y="259920"/>
            <a:ext cx="7880760" cy="824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IP Addresses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549360" y="1399680"/>
            <a:ext cx="8136360" cy="509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29040" algn="ctr">
              <a:lnSpc>
                <a:spcPct val="100000"/>
              </a:lnSpc>
              <a:spcAft>
                <a:spcPts val="2273"/>
              </a:spcAft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Every device on the Internet has an IP address</a:t>
            </a:r>
            <a:endParaRPr b="0" lang="en-US" sz="2400" spc="-1" strike="noStrike">
              <a:latin typeface="Arial"/>
            </a:endParaRPr>
          </a:p>
          <a:p>
            <a:pPr marL="342720" indent="-3290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IP version 4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4 byte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addresses</a:t>
            </a:r>
            <a:endParaRPr b="0" lang="en-US" sz="2400" spc="-1" strike="noStrike">
              <a:latin typeface="Arial"/>
            </a:endParaRPr>
          </a:p>
          <a:p>
            <a:pPr marL="742680" indent="-2718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ff00ff"/>
                </a:solidFill>
                <a:latin typeface="Arial"/>
                <a:ea typeface="DejaVu Sans"/>
              </a:rPr>
              <a:t>158.108.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216.5 - address of www</a:t>
            </a:r>
            <a:r>
              <a:rPr b="0" lang="en-US" sz="2400" spc="-1" strike="noStrike">
                <a:solidFill>
                  <a:srgbClr val="ff00ff"/>
                </a:solidFill>
                <a:latin typeface="Arial"/>
                <a:ea typeface="DejaVu Sans"/>
              </a:rPr>
              <a:t>.ku.ac.th</a:t>
            </a:r>
            <a:endParaRPr b="0" lang="en-US" sz="2400" spc="-1" strike="noStrike">
              <a:latin typeface="Arial"/>
            </a:endParaRPr>
          </a:p>
          <a:p>
            <a:pPr marL="742680" indent="-2718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172.217.27.228 - www.google.com (many addresses)</a:t>
            </a:r>
            <a:endParaRPr b="0" lang="en-US" sz="2400" spc="-1" strike="noStrike">
              <a:latin typeface="Arial"/>
            </a:endParaRPr>
          </a:p>
          <a:p>
            <a:pPr marL="742680" indent="-2718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127.0.0.1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- "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localhost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". Address of your own host.</a:t>
            </a:r>
            <a:endParaRPr b="0" lang="en-US" sz="2400" spc="-1" strike="noStrike">
              <a:latin typeface="Arial"/>
            </a:endParaRPr>
          </a:p>
          <a:p>
            <a:pPr marL="742680" indent="-2718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0.0.0.0 - address </a:t>
            </a:r>
            <a:r>
              <a:rPr b="0" lang="en-US" sz="2400" spc="-1" strike="noStrike">
                <a:solidFill>
                  <a:srgbClr val="ff0000"/>
                </a:solidFill>
                <a:latin typeface="Arial"/>
                <a:ea typeface="DejaVu Sans"/>
              </a:rPr>
              <a:t>pattern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meaning "anything"</a:t>
            </a:r>
            <a:endParaRPr b="0" lang="en-US" sz="2400" spc="-1" strike="noStrike">
              <a:latin typeface="Arial"/>
            </a:endParaRPr>
          </a:p>
          <a:p>
            <a:pPr marL="288000" indent="-288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IP version 6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16 byte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addresses </a:t>
            </a:r>
            <a:endParaRPr b="0" lang="en-US" sz="2400" spc="-1" strike="noStrike">
              <a:latin typeface="Arial"/>
            </a:endParaRPr>
          </a:p>
          <a:p>
            <a:pPr marL="468000">
              <a:lnSpc>
                <a:spcPct val="100000"/>
              </a:lnSpc>
              <a:spcBef>
                <a:spcPts val="84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ff00ff"/>
                </a:solidFill>
                <a:latin typeface="Arial"/>
                <a:ea typeface="DejaVu Sans"/>
              </a:rPr>
              <a:t>2406:3100:1010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:100:0:0:0:5 - www</a:t>
            </a:r>
            <a:r>
              <a:rPr b="0" lang="en-US" sz="2400" spc="-1" strike="noStrike">
                <a:solidFill>
                  <a:srgbClr val="ff00ff"/>
                </a:solidFill>
                <a:latin typeface="Arial"/>
                <a:ea typeface="DejaVu Sans"/>
              </a:rPr>
              <a:t>.ku.ac.th</a:t>
            </a:r>
            <a:endParaRPr b="0" lang="en-US" sz="2400" spc="-1" strike="noStrike">
              <a:latin typeface="Arial"/>
            </a:endParaRPr>
          </a:p>
          <a:p>
            <a:pPr marL="468000">
              <a:lnSpc>
                <a:spcPct val="100000"/>
              </a:lnSpc>
              <a:spcBef>
                <a:spcPts val="84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2406:3100:1010:100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::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5 - same thing,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0-bytes omitted</a:t>
            </a:r>
            <a:endParaRPr b="0" lang="en-US" sz="2400" spc="-1" strike="noStrike">
              <a:latin typeface="Arial"/>
            </a:endParaRPr>
          </a:p>
          <a:p>
            <a:pPr marL="468000">
              <a:lnSpc>
                <a:spcPct val="100000"/>
              </a:lnSpc>
              <a:spcBef>
                <a:spcPts val="84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2404:6800:4001:80e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::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2004 - www.google.com (many)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611280" y="260280"/>
            <a:ext cx="7874280" cy="81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What's My IP Address?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9" name="CustomShape 2"/>
          <p:cNvSpPr/>
          <p:nvPr/>
        </p:nvSpPr>
        <p:spPr>
          <a:xfrm>
            <a:off x="382680" y="1184400"/>
            <a:ext cx="8274600" cy="518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91000"/>
          </a:bodyPr>
          <a:p>
            <a:pPr marL="342720" indent="-335520">
              <a:lnSpc>
                <a:spcPct val="100000"/>
              </a:lnSpc>
              <a:spcBef>
                <a:spcPts val="598"/>
              </a:spcBef>
              <a:spcAft>
                <a:spcPts val="1423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To see your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local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IP addresses: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linux&gt; 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ifconfig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808080"/>
                </a:solidFill>
                <a:latin typeface="Courier New"/>
                <a:ea typeface="DejaVu Sans"/>
              </a:rPr>
              <a:t>[interface_name]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windows&gt;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ipconfig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808080"/>
                </a:solidFill>
                <a:latin typeface="Courier New"/>
                <a:ea typeface="DejaVu Sans"/>
              </a:rPr>
              <a:t>[interface_name]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1423"/>
              </a:spcBef>
              <a:spcAft>
                <a:spcPts val="1423"/>
              </a:spcAft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808080"/>
                </a:solidFill>
                <a:latin typeface="Arial"/>
                <a:ea typeface="DejaVu Sans"/>
              </a:rPr>
              <a:t>You can also find this in your network settings.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73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7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Your </a:t>
            </a:r>
            <a:r>
              <a:rPr b="1" lang="en-US" sz="2400" spc="-1" strike="noStrike" u="sng">
                <a:solidFill>
                  <a:srgbClr val="000080"/>
                </a:solidFill>
                <a:uFillTx/>
                <a:latin typeface="Arial"/>
                <a:ea typeface="DejaVu Sans"/>
              </a:rPr>
              <a:t>local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 IP address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may be different from your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public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 IP address;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due to Network Address Translation (NAT) performed by the router/gateway.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73"/>
              </a:spcBef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This is usually the case if you connect to internet using...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73"/>
              </a:spcBef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home broadband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73"/>
              </a:spcBef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mobile tethering (or browser on mobile phone)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73"/>
              </a:spcBef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KUWin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1"/>
          <p:cNvSpPr/>
          <p:nvPr/>
        </p:nvSpPr>
        <p:spPr>
          <a:xfrm>
            <a:off x="611280" y="260280"/>
            <a:ext cx="7874280" cy="81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What's My Public IP Address?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1" name="CustomShape 2"/>
          <p:cNvSpPr/>
          <p:nvPr/>
        </p:nvSpPr>
        <p:spPr>
          <a:xfrm>
            <a:off x="382680" y="1184400"/>
            <a:ext cx="8274600" cy="518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5520">
              <a:lnSpc>
                <a:spcPct val="100000"/>
              </a:lnSpc>
              <a:spcBef>
                <a:spcPts val="598"/>
              </a:spcBef>
              <a:spcAft>
                <a:spcPts val="1423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Your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public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IP address is what is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visible on the Internet.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98"/>
              </a:spcBef>
              <a:spcAft>
                <a:spcPts val="1423"/>
              </a:spcAft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Many ways to view it. In browser search bar type: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7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Chrome: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my ip address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(space required)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Arial"/>
              </a:rPr>
              <a:t>Any Browser: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ipinfo.io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 (Cloudflare, lots of info!) 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Arial"/>
              </a:rPr>
              <a:t>Other Service: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myip.com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        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whatismyipaddress.com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 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98"/>
              </a:spcBef>
              <a:spcAft>
                <a:spcPts val="1423"/>
              </a:spcAft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80"/>
                </a:solidFill>
                <a:latin typeface="Arial"/>
                <a:ea typeface="Arial"/>
              </a:rPr>
              <a:t>Your router or ISP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i="1" lang="en-US" sz="2600" spc="-1" strike="noStrike">
                <a:solidFill>
                  <a:srgbClr val="000080"/>
                </a:solidFill>
                <a:latin typeface="Arial"/>
                <a:ea typeface="Arial"/>
              </a:rPr>
              <a:t>translates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 your local address to a </a:t>
            </a:r>
            <a:r>
              <a:rPr b="0" lang="en-US" sz="2600" spc="-1" strike="noStrike">
                <a:solidFill>
                  <a:srgbClr val="000080"/>
                </a:solidFill>
                <a:latin typeface="Arial"/>
                <a:ea typeface="Arial"/>
              </a:rPr>
              <a:t>public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600" spc="-1" strike="noStrike">
                <a:solidFill>
                  <a:srgbClr val="000080"/>
                </a:solidFill>
                <a:latin typeface="Arial"/>
                <a:ea typeface="Arial"/>
              </a:rPr>
              <a:t>address,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Arial"/>
              </a:rPr>
              <a:t>which may be shared with other devices using "port mapping".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610920" y="260280"/>
            <a:ext cx="787608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IP Transports a "Payload"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674280" y="1189080"/>
            <a:ext cx="7876080" cy="283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IP transports data between hosts.</a:t>
            </a:r>
            <a:endParaRPr b="0" lang="en-US" sz="26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The payload (data) uses some </a:t>
            </a:r>
            <a:r>
              <a:rPr b="0" lang="en-US" sz="2600" spc="-1" strike="noStrike">
                <a:solidFill>
                  <a:srgbClr val="000080"/>
                </a:solidFill>
                <a:latin typeface="Arial"/>
                <a:ea typeface="DejaVu Sans"/>
              </a:rPr>
              <a:t>other protocol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6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Usually:  </a:t>
            </a:r>
            <a:r>
              <a:rPr b="0" lang="en-US" sz="2600" spc="-1" strike="noStrike">
                <a:solidFill>
                  <a:srgbClr val="000080"/>
                </a:solidFill>
                <a:latin typeface="Arial"/>
                <a:ea typeface="DejaVu Sans"/>
              </a:rPr>
              <a:t>TCP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,</a:t>
            </a:r>
            <a:endParaRPr b="0" lang="en-US" sz="26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UDP,</a:t>
            </a:r>
            <a:endParaRPr b="0" lang="en-US" sz="26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or  ICMP</a:t>
            </a:r>
            <a:endParaRPr b="0" lang="en-US" sz="26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6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6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600" spc="-1" strike="noStrike">
              <a:latin typeface="Arial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316080" y="5140440"/>
            <a:ext cx="597240" cy="638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800" spc="-1" strike="noStrike">
                <a:solidFill>
                  <a:srgbClr val="000080"/>
                </a:solidFill>
                <a:latin typeface="Arial"/>
                <a:ea typeface="DejaVu Sans"/>
              </a:rPr>
              <a:t>IP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7602480" y="3216240"/>
            <a:ext cx="1108800" cy="36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80"/>
                </a:solidFill>
                <a:latin typeface="Arial"/>
                <a:ea typeface="DejaVu Sans"/>
              </a:rPr>
              <a:t>HTTP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955800" y="3716280"/>
            <a:ext cx="7961760" cy="2132640"/>
          </a:xfrm>
          <a:prstGeom prst="rect">
            <a:avLst/>
          </a:prstGeom>
          <a:ln>
            <a:noFill/>
          </a:ln>
        </p:spPr>
      </p:pic>
      <p:sp>
        <p:nvSpPr>
          <p:cNvPr id="157" name="CustomShape 5"/>
          <p:cNvSpPr/>
          <p:nvPr/>
        </p:nvSpPr>
        <p:spPr>
          <a:xfrm>
            <a:off x="361800" y="3941640"/>
            <a:ext cx="1008720" cy="638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800" spc="-1" strike="noStrike">
                <a:solidFill>
                  <a:srgbClr val="000080"/>
                </a:solidFill>
                <a:latin typeface="Arial"/>
                <a:ea typeface="DejaVu Sans"/>
              </a:rPr>
              <a:t>TCP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610920" y="260280"/>
            <a:ext cx="7876080" cy="81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TCP for "Reliable" Communication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674280" y="1400040"/>
            <a:ext cx="7876080" cy="490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Transmission Control Protocol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 (TCP)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maintains a virtual connection between hosts.</a:t>
            </a: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227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TCP provides:</a:t>
            </a:r>
            <a:endParaRPr b="0" lang="en-US" sz="2400" spc="-1" strike="noStrike">
              <a:latin typeface="Arial"/>
            </a:endParaRPr>
          </a:p>
          <a:p>
            <a:pPr marL="552240" indent="-551160">
              <a:lnSpc>
                <a:spcPct val="100000"/>
              </a:lnSpc>
              <a:spcBef>
                <a:spcPts val="14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maintain a "virtual connection" between hosts</a:t>
            </a:r>
            <a:endParaRPr b="0" lang="en-US" sz="2400" spc="-1" strike="noStrike">
              <a:latin typeface="Arial"/>
            </a:endParaRPr>
          </a:p>
          <a:p>
            <a:pPr marL="552240" indent="-551160">
              <a:lnSpc>
                <a:spcPct val="100000"/>
              </a:lnSpc>
              <a:spcBef>
                <a:spcPts val="14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ensures packets are </a:t>
            </a:r>
            <a:r>
              <a:rPr b="1" lang="en-US" sz="2400" spc="-1" strike="noStrike">
                <a:solidFill>
                  <a:srgbClr val="c9211e"/>
                </a:solidFill>
                <a:latin typeface="Arial"/>
                <a:ea typeface="DejaVu Sans"/>
              </a:rPr>
              <a:t>delivered in the order sent</a:t>
            </a:r>
            <a:endParaRPr b="0" lang="en-US" sz="2400" spc="-1" strike="noStrike">
              <a:latin typeface="Arial"/>
            </a:endParaRPr>
          </a:p>
          <a:p>
            <a:pPr marL="552240" indent="-551160">
              <a:lnSpc>
                <a:spcPct val="100000"/>
              </a:lnSpc>
              <a:spcBef>
                <a:spcPts val="14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c9211e"/>
                </a:solidFill>
                <a:latin typeface="Arial"/>
                <a:ea typeface="DejaVu Sans"/>
              </a:rPr>
              <a:t>request resend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of any missing data</a:t>
            </a:r>
            <a:endParaRPr b="0" lang="en-US" sz="2400" spc="-1" strike="noStrike">
              <a:latin typeface="Arial"/>
            </a:endParaRPr>
          </a:p>
          <a:p>
            <a:pPr marL="552240" indent="-551160">
              <a:lnSpc>
                <a:spcPct val="100000"/>
              </a:lnSpc>
              <a:spcBef>
                <a:spcPts val="14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identifies a "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port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 (number) to deliver payload to</a:t>
            </a: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2273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337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365040" y="259920"/>
            <a:ext cx="832068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What's a Port?  Why do we need ports?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1371600" y="3824280"/>
            <a:ext cx="837000" cy="837000"/>
          </a:xfrm>
          <a:prstGeom prst="rect">
            <a:avLst/>
          </a:prstGeom>
          <a:ln>
            <a:noFill/>
          </a:ln>
        </p:spPr>
      </p:pic>
      <p:pic>
        <p:nvPicPr>
          <p:cNvPr id="162" name="" descr=""/>
          <p:cNvPicPr/>
          <p:nvPr/>
        </p:nvPicPr>
        <p:blipFill>
          <a:blip r:embed="rId2"/>
          <a:stretch/>
        </p:blipFill>
        <p:spPr>
          <a:xfrm>
            <a:off x="6900840" y="3521160"/>
            <a:ext cx="627480" cy="930600"/>
          </a:xfrm>
          <a:prstGeom prst="rect">
            <a:avLst/>
          </a:prstGeom>
          <a:ln>
            <a:noFill/>
          </a:ln>
        </p:spPr>
      </p:pic>
      <p:sp>
        <p:nvSpPr>
          <p:cNvPr id="163" name="CustomShape 2"/>
          <p:cNvSpPr/>
          <p:nvPr/>
        </p:nvSpPr>
        <p:spPr>
          <a:xfrm>
            <a:off x="6137280" y="4511520"/>
            <a:ext cx="205632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server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4" name="CustomShape 3"/>
          <p:cNvSpPr/>
          <p:nvPr/>
        </p:nvSpPr>
        <p:spPr>
          <a:xfrm>
            <a:off x="1828800" y="4664160"/>
            <a:ext cx="5120280" cy="45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I want a web page (http) !!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5" name="Line 4"/>
          <p:cNvSpPr/>
          <p:nvPr/>
        </p:nvSpPr>
        <p:spPr>
          <a:xfrm>
            <a:off x="1746360" y="5122800"/>
            <a:ext cx="538632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CustomShape 5"/>
          <p:cNvSpPr/>
          <p:nvPr/>
        </p:nvSpPr>
        <p:spPr>
          <a:xfrm>
            <a:off x="2336760" y="5294160"/>
            <a:ext cx="4070880" cy="45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I want my mail !!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7" name="CustomShape 6"/>
          <p:cNvSpPr/>
          <p:nvPr/>
        </p:nvSpPr>
        <p:spPr>
          <a:xfrm>
            <a:off x="533520" y="1320840"/>
            <a:ext cx="8152200" cy="2238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 host may have many, many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of internet connections at the same time!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 server may offer many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services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 HTTP, mail, ssh, ...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How does a host know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which packets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should go to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which application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???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8" name="Line 7"/>
          <p:cNvSpPr/>
          <p:nvPr/>
        </p:nvSpPr>
        <p:spPr>
          <a:xfrm>
            <a:off x="1746360" y="4902120"/>
            <a:ext cx="1440" cy="173664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Line 8"/>
          <p:cNvSpPr/>
          <p:nvPr/>
        </p:nvSpPr>
        <p:spPr>
          <a:xfrm>
            <a:off x="7132680" y="4846680"/>
            <a:ext cx="1440" cy="173664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Line 9"/>
          <p:cNvSpPr/>
          <p:nvPr/>
        </p:nvSpPr>
        <p:spPr>
          <a:xfrm>
            <a:off x="1746360" y="5764320"/>
            <a:ext cx="538632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CustomShape 10"/>
          <p:cNvSpPr/>
          <p:nvPr/>
        </p:nvSpPr>
        <p:spPr>
          <a:xfrm>
            <a:off x="2332080" y="5900760"/>
            <a:ext cx="4070880" cy="45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I want to use ssh !!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2" name="Line 11"/>
          <p:cNvSpPr/>
          <p:nvPr/>
        </p:nvSpPr>
        <p:spPr>
          <a:xfrm>
            <a:off x="1741320" y="6370560"/>
            <a:ext cx="538668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365040" y="259920"/>
            <a:ext cx="832068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Port is a number to identify connection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1047600" y="3608280"/>
            <a:ext cx="837360" cy="837360"/>
          </a:xfrm>
          <a:prstGeom prst="rect">
            <a:avLst/>
          </a:prstGeom>
          <a:ln>
            <a:noFill/>
          </a:ln>
        </p:spPr>
      </p:pic>
      <p:pic>
        <p:nvPicPr>
          <p:cNvPr id="175" name="" descr=""/>
          <p:cNvPicPr/>
          <p:nvPr/>
        </p:nvPicPr>
        <p:blipFill>
          <a:blip r:embed="rId2"/>
          <a:stretch/>
        </p:blipFill>
        <p:spPr>
          <a:xfrm>
            <a:off x="6576840" y="3305160"/>
            <a:ext cx="627840" cy="930960"/>
          </a:xfrm>
          <a:prstGeom prst="rect">
            <a:avLst/>
          </a:prstGeom>
          <a:ln>
            <a:noFill/>
          </a:ln>
        </p:spPr>
      </p:pic>
      <p:sp>
        <p:nvSpPr>
          <p:cNvPr id="176" name="CustomShape 2"/>
          <p:cNvSpPr/>
          <p:nvPr/>
        </p:nvSpPr>
        <p:spPr>
          <a:xfrm>
            <a:off x="5813280" y="4187880"/>
            <a:ext cx="205632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server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7" name="CustomShape 3"/>
          <p:cNvSpPr/>
          <p:nvPr/>
        </p:nvSpPr>
        <p:spPr>
          <a:xfrm>
            <a:off x="1504800" y="4448160"/>
            <a:ext cx="5120280" cy="398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158.108.12.99: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1444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  -   172.217.31.36: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443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8" name="Line 4"/>
          <p:cNvSpPr/>
          <p:nvPr/>
        </p:nvSpPr>
        <p:spPr>
          <a:xfrm>
            <a:off x="1422360" y="4906800"/>
            <a:ext cx="538632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5"/>
          <p:cNvSpPr/>
          <p:nvPr/>
        </p:nvSpPr>
        <p:spPr>
          <a:xfrm>
            <a:off x="1422360" y="5078520"/>
            <a:ext cx="5293440" cy="398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158.108.12.99: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7501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  -   172.217.31.36: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143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0" name="CustomShape 6"/>
          <p:cNvSpPr/>
          <p:nvPr/>
        </p:nvSpPr>
        <p:spPr>
          <a:xfrm>
            <a:off x="533520" y="1320840"/>
            <a:ext cx="8152200" cy="1873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connection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has a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port number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1 - 65,535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for each end point.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Servers </a:t>
            </a:r>
            <a:r>
              <a:rPr b="1" i="1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listen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for connections on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well-known port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nums.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Each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ip_address:port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Arial"/>
              </a:rPr>
              <a:t>pair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identifies an endpoint.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1" name="Line 7"/>
          <p:cNvSpPr/>
          <p:nvPr/>
        </p:nvSpPr>
        <p:spPr>
          <a:xfrm>
            <a:off x="1422360" y="4686480"/>
            <a:ext cx="1800" cy="173664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Line 8"/>
          <p:cNvSpPr/>
          <p:nvPr/>
        </p:nvSpPr>
        <p:spPr>
          <a:xfrm>
            <a:off x="6808680" y="4630680"/>
            <a:ext cx="1800" cy="173664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Line 9"/>
          <p:cNvSpPr/>
          <p:nvPr/>
        </p:nvSpPr>
        <p:spPr>
          <a:xfrm>
            <a:off x="1422360" y="5548320"/>
            <a:ext cx="538632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CustomShape 10"/>
          <p:cNvSpPr/>
          <p:nvPr/>
        </p:nvSpPr>
        <p:spPr>
          <a:xfrm>
            <a:off x="6808680" y="4676760"/>
            <a:ext cx="1575360" cy="45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(https)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5" name="Line 11"/>
          <p:cNvSpPr/>
          <p:nvPr/>
        </p:nvSpPr>
        <p:spPr>
          <a:xfrm>
            <a:off x="1417680" y="6154560"/>
            <a:ext cx="538632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CustomShape 12"/>
          <p:cNvSpPr/>
          <p:nvPr/>
        </p:nvSpPr>
        <p:spPr>
          <a:xfrm>
            <a:off x="1430280" y="5702400"/>
            <a:ext cx="5293440" cy="398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158.108.12.99: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7511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  -   172.217.31.36: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22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87" name="CustomShape 13"/>
          <p:cNvSpPr/>
          <p:nvPr/>
        </p:nvSpPr>
        <p:spPr>
          <a:xfrm>
            <a:off x="6811920" y="5295960"/>
            <a:ext cx="1575360" cy="45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(imap)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8" name="CustomShape 14"/>
          <p:cNvSpPr/>
          <p:nvPr/>
        </p:nvSpPr>
        <p:spPr>
          <a:xfrm>
            <a:off x="6813720" y="5913360"/>
            <a:ext cx="1575000" cy="45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(ssh)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610920" y="260280"/>
            <a:ext cx="7885440" cy="82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Port Numbers Identify </a:t>
            </a:r>
            <a:r>
              <a:rPr b="0" i="1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Services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0" name="CustomShape 2"/>
          <p:cNvSpPr/>
          <p:nvPr/>
        </p:nvSpPr>
        <p:spPr>
          <a:xfrm>
            <a:off x="711000" y="1220760"/>
            <a:ext cx="788544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Standard services have a unique port number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1" name="CustomShape 3"/>
          <p:cNvSpPr/>
          <p:nvPr/>
        </p:nvSpPr>
        <p:spPr>
          <a:xfrm>
            <a:off x="711360" y="1943280"/>
            <a:ext cx="7771320" cy="4453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911400"/>
                <a:tab algn="l" pos="3947760"/>
                <a:tab algn="l" pos="4308120"/>
                <a:tab algn="l" pos="4668480"/>
                <a:tab algn="l" pos="5029200"/>
                <a:tab algn="l" pos="5389560"/>
                <a:tab algn="l" pos="5749920"/>
                <a:tab algn="l" pos="6110280"/>
                <a:tab algn="l" pos="6470640"/>
                <a:tab algn="l" pos="6831000"/>
                <a:tab algn="l" pos="7191360"/>
                <a:tab algn="l" pos="7551720"/>
                <a:tab algn="l" pos="7877160"/>
                <a:tab algn="l" pos="8235720"/>
                <a:tab algn="l" pos="8594640"/>
                <a:tab algn="l" pos="8953200"/>
                <a:tab algn="l" pos="9312120"/>
                <a:tab algn="l" pos="9671040"/>
                <a:tab algn="l" pos="10029600"/>
                <a:tab algn="l" pos="10388520"/>
                <a:tab algn="l" pos="10747080"/>
                <a:tab algn="l" pos="1074888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Service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	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TCP Port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911400"/>
                <a:tab algn="l" pos="3947760"/>
                <a:tab algn="l" pos="4308120"/>
                <a:tab algn="l" pos="4668480"/>
                <a:tab algn="l" pos="5029200"/>
                <a:tab algn="l" pos="5389560"/>
                <a:tab algn="l" pos="5749920"/>
                <a:tab algn="l" pos="6110280"/>
                <a:tab algn="l" pos="6470640"/>
                <a:tab algn="l" pos="6831000"/>
                <a:tab algn="l" pos="7191360"/>
                <a:tab algn="l" pos="7551720"/>
                <a:tab algn="l" pos="7877160"/>
                <a:tab algn="l" pos="8235720"/>
                <a:tab algn="l" pos="8594640"/>
                <a:tab algn="l" pos="8953200"/>
                <a:tab algn="l" pos="9312120"/>
                <a:tab algn="l" pos="9671040"/>
                <a:tab algn="l" pos="10029600"/>
                <a:tab algn="l" pos="10388520"/>
                <a:tab algn="l" pos="10747080"/>
                <a:tab algn="l" pos="1074888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80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911400"/>
                <a:tab algn="l" pos="3947760"/>
                <a:tab algn="l" pos="4308120"/>
                <a:tab algn="l" pos="4668480"/>
                <a:tab algn="l" pos="5029200"/>
                <a:tab algn="l" pos="5389560"/>
                <a:tab algn="l" pos="5749920"/>
                <a:tab algn="l" pos="6110280"/>
                <a:tab algn="l" pos="6470640"/>
                <a:tab algn="l" pos="6831000"/>
                <a:tab algn="l" pos="7191360"/>
                <a:tab algn="l" pos="7551720"/>
                <a:tab algn="l" pos="7877160"/>
                <a:tab algn="l" pos="8235720"/>
                <a:tab algn="l" pos="8594640"/>
                <a:tab algn="l" pos="8953200"/>
                <a:tab algn="l" pos="9312120"/>
                <a:tab algn="l" pos="9671040"/>
                <a:tab algn="l" pos="10029600"/>
                <a:tab algn="l" pos="10388520"/>
                <a:tab algn="l" pos="10747080"/>
                <a:tab algn="l" pos="1074888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443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911400"/>
                <a:tab algn="l" pos="3947760"/>
                <a:tab algn="l" pos="4308120"/>
                <a:tab algn="l" pos="4668480"/>
                <a:tab algn="l" pos="5029200"/>
                <a:tab algn="l" pos="5389560"/>
                <a:tab algn="l" pos="5749920"/>
                <a:tab algn="l" pos="6110280"/>
                <a:tab algn="l" pos="6470640"/>
                <a:tab algn="l" pos="6831000"/>
                <a:tab algn="l" pos="7191360"/>
                <a:tab algn="l" pos="7551720"/>
                <a:tab algn="l" pos="7877160"/>
                <a:tab algn="l" pos="8235720"/>
                <a:tab algn="l" pos="8594640"/>
                <a:tab algn="l" pos="8953200"/>
                <a:tab algn="l" pos="9312120"/>
                <a:tab algn="l" pos="9671040"/>
                <a:tab algn="l" pos="10029600"/>
                <a:tab algn="l" pos="10388520"/>
                <a:tab algn="l" pos="10747080"/>
                <a:tab algn="l" pos="1074888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Mail Transport (SMTP)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25,  465 (secure)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911400"/>
                <a:tab algn="l" pos="3947760"/>
                <a:tab algn="l" pos="4308120"/>
                <a:tab algn="l" pos="4668480"/>
                <a:tab algn="l" pos="5029200"/>
                <a:tab algn="l" pos="5389560"/>
                <a:tab algn="l" pos="5749920"/>
                <a:tab algn="l" pos="6110280"/>
                <a:tab algn="l" pos="6470640"/>
                <a:tab algn="l" pos="6831000"/>
                <a:tab algn="l" pos="7191360"/>
                <a:tab algn="l" pos="7551720"/>
                <a:tab algn="l" pos="7877160"/>
                <a:tab algn="l" pos="8235720"/>
                <a:tab algn="l" pos="8594640"/>
                <a:tab algn="l" pos="8953200"/>
                <a:tab algn="l" pos="9312120"/>
                <a:tab algn="l" pos="9671040"/>
                <a:tab algn="l" pos="10029600"/>
                <a:tab algn="l" pos="10388520"/>
                <a:tab algn="l" pos="10747080"/>
                <a:tab algn="l" pos="1074888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IMAP (client mail delivery)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143, 993 (secure)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911400"/>
                <a:tab algn="l" pos="3947760"/>
                <a:tab algn="l" pos="4308120"/>
                <a:tab algn="l" pos="4668480"/>
                <a:tab algn="l" pos="5029200"/>
                <a:tab algn="l" pos="5389560"/>
                <a:tab algn="l" pos="5749920"/>
                <a:tab algn="l" pos="6110280"/>
                <a:tab algn="l" pos="6470640"/>
                <a:tab algn="l" pos="6831000"/>
                <a:tab algn="l" pos="7191360"/>
                <a:tab algn="l" pos="7551720"/>
                <a:tab algn="l" pos="7877160"/>
                <a:tab algn="l" pos="8235720"/>
                <a:tab algn="l" pos="8594640"/>
                <a:tab algn="l" pos="8953200"/>
                <a:tab algn="l" pos="9312120"/>
                <a:tab algn="l" pos="9671040"/>
                <a:tab algn="l" pos="10029600"/>
                <a:tab algn="l" pos="10388520"/>
                <a:tab algn="l" pos="10747080"/>
                <a:tab algn="l" pos="1074888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SSH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22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911400"/>
                <a:tab algn="l" pos="3947760"/>
                <a:tab algn="l" pos="4308120"/>
                <a:tab algn="l" pos="4668480"/>
                <a:tab algn="l" pos="5029200"/>
                <a:tab algn="l" pos="5389560"/>
                <a:tab algn="l" pos="5749920"/>
                <a:tab algn="l" pos="6110280"/>
                <a:tab algn="l" pos="6470640"/>
                <a:tab algn="l" pos="6831000"/>
                <a:tab algn="l" pos="7191360"/>
                <a:tab algn="l" pos="7551720"/>
                <a:tab algn="l" pos="7877160"/>
                <a:tab algn="l" pos="8235720"/>
                <a:tab algn="l" pos="8594640"/>
                <a:tab algn="l" pos="8953200"/>
                <a:tab algn="l" pos="9312120"/>
                <a:tab algn="l" pos="9671040"/>
                <a:tab algn="l" pos="10029600"/>
                <a:tab algn="l" pos="10388520"/>
                <a:tab algn="l" pos="10747080"/>
                <a:tab algn="l" pos="1074888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MySQL server*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3306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911400"/>
                <a:tab algn="l" pos="3947760"/>
                <a:tab algn="l" pos="4308120"/>
                <a:tab algn="l" pos="4668480"/>
                <a:tab algn="l" pos="5029200"/>
                <a:tab algn="l" pos="5389560"/>
                <a:tab algn="l" pos="5749920"/>
                <a:tab algn="l" pos="6110280"/>
                <a:tab algn="l" pos="6470640"/>
                <a:tab algn="l" pos="6831000"/>
                <a:tab algn="l" pos="7191360"/>
                <a:tab algn="l" pos="7551720"/>
                <a:tab algn="l" pos="7877160"/>
                <a:tab algn="l" pos="8235720"/>
                <a:tab algn="l" pos="8594640"/>
                <a:tab algn="l" pos="8953200"/>
                <a:tab algn="l" pos="9312120"/>
                <a:tab algn="l" pos="9671040"/>
                <a:tab algn="l" pos="10029600"/>
                <a:tab algn="l" pos="10388520"/>
                <a:tab algn="l" pos="10747080"/>
                <a:tab algn="l" pos="1074888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911400"/>
                <a:tab algn="l" pos="3947760"/>
                <a:tab algn="l" pos="4308120"/>
                <a:tab algn="l" pos="4668480"/>
                <a:tab algn="l" pos="5029200"/>
                <a:tab algn="l" pos="5389560"/>
                <a:tab algn="l" pos="5749920"/>
                <a:tab algn="l" pos="6110280"/>
                <a:tab algn="l" pos="6470640"/>
                <a:tab algn="l" pos="6831000"/>
                <a:tab algn="l" pos="7191360"/>
                <a:tab algn="l" pos="7551720"/>
                <a:tab algn="l" pos="7877160"/>
                <a:tab algn="l" pos="8235720"/>
                <a:tab algn="l" pos="8594640"/>
                <a:tab algn="l" pos="8953200"/>
                <a:tab algn="l" pos="9312120"/>
                <a:tab algn="l" pos="9671040"/>
                <a:tab algn="l" pos="10029600"/>
                <a:tab algn="l" pos="10388520"/>
                <a:tab algn="l" pos="10747080"/>
                <a:tab algn="l" pos="1074888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61480"/>
                <a:tab algn="l" pos="10762920"/>
              </a:tabLst>
            </a:pP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See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/etc/services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or Wikipedia for more services.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911400"/>
                <a:tab algn="l" pos="3947760"/>
                <a:tab algn="l" pos="4308120"/>
                <a:tab algn="l" pos="4668480"/>
                <a:tab algn="l" pos="5029200"/>
                <a:tab algn="l" pos="5389560"/>
                <a:tab algn="l" pos="5749920"/>
                <a:tab algn="l" pos="6110280"/>
                <a:tab algn="l" pos="6470640"/>
                <a:tab algn="l" pos="6831000"/>
                <a:tab algn="l" pos="7191360"/>
                <a:tab algn="l" pos="7551720"/>
                <a:tab algn="l" pos="7877160"/>
                <a:tab algn="l" pos="8235720"/>
                <a:tab algn="l" pos="8594640"/>
                <a:tab algn="l" pos="8953200"/>
                <a:tab algn="l" pos="9312120"/>
                <a:tab algn="l" pos="9671040"/>
                <a:tab algn="l" pos="10029600"/>
                <a:tab algn="l" pos="10388520"/>
                <a:tab algn="l" pos="10747080"/>
                <a:tab algn="l" pos="1074888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*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For security, you should </a:t>
            </a:r>
            <a:r>
              <a:rPr b="0" i="1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not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expose a database service to the Internet.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911400"/>
                <a:tab algn="l" pos="3947760"/>
                <a:tab algn="l" pos="4308120"/>
                <a:tab algn="l" pos="4668480"/>
                <a:tab algn="l" pos="5029200"/>
                <a:tab algn="l" pos="5389560"/>
                <a:tab algn="l" pos="5749920"/>
                <a:tab algn="l" pos="6110280"/>
                <a:tab algn="l" pos="6470640"/>
                <a:tab algn="l" pos="6831000"/>
                <a:tab algn="l" pos="7191360"/>
                <a:tab algn="l" pos="7551720"/>
                <a:tab algn="l" pos="7877160"/>
                <a:tab algn="l" pos="8235720"/>
                <a:tab algn="l" pos="8594640"/>
                <a:tab algn="l" pos="8953200"/>
                <a:tab algn="l" pos="9312120"/>
                <a:tab algn="l" pos="9671040"/>
                <a:tab algn="l" pos="10029600"/>
                <a:tab algn="l" pos="10388520"/>
                <a:tab algn="l" pos="10747080"/>
                <a:tab algn="l" pos="10748880"/>
                <a:tab algn="l" pos="10750320"/>
                <a:tab algn="l" pos="10752120"/>
                <a:tab algn="l" pos="10753560"/>
                <a:tab algn="l" pos="10755000"/>
                <a:tab algn="l" pos="10756800"/>
                <a:tab algn="l" pos="10758240"/>
                <a:tab algn="l" pos="1076004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CustomShape 1"/>
          <p:cNvSpPr/>
          <p:nvPr/>
        </p:nvSpPr>
        <p:spPr>
          <a:xfrm>
            <a:off x="610920" y="260280"/>
            <a:ext cx="7885440" cy="82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A Service Can Use </a:t>
            </a:r>
            <a:r>
              <a:rPr b="0" i="1" lang="en-US" sz="3600" spc="-1" strike="noStrike" u="sng">
                <a:solidFill>
                  <a:srgbClr val="333399"/>
                </a:solidFill>
                <a:uFillTx/>
                <a:latin typeface="Arial"/>
                <a:ea typeface="DejaVu Sans"/>
              </a:rPr>
              <a:t>Any</a:t>
            </a: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 Port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3" name="CustomShape 2"/>
          <p:cNvSpPr/>
          <p:nvPr/>
        </p:nvSpPr>
        <p:spPr>
          <a:xfrm>
            <a:off x="674640" y="1399680"/>
            <a:ext cx="7885800" cy="445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73000"/>
          </a:bodyPr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Web servers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usually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use port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80 (http)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and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443 (https)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But you can use </a:t>
            </a:r>
            <a:r>
              <a:rPr b="1" lang="en-US" sz="2400" spc="-1" strike="noStrike">
                <a:solidFill>
                  <a:srgbClr val="ff0000"/>
                </a:solidFill>
                <a:latin typeface="Arial"/>
                <a:ea typeface="DejaVu Sans"/>
              </a:rPr>
              <a:t>any port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for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your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web server.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Django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development server listens on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port 8000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by default...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but you can tell it to use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any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port.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2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Ports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1-1023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are </a:t>
            </a:r>
            <a:r>
              <a:rPr b="1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privileged ports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  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Only "root" or admin can start a process on these ports.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610920" y="260280"/>
            <a:ext cx="7885440" cy="82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Exercise 1: View your connections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674640" y="1184040"/>
            <a:ext cx="7885800" cy="5397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1. In a terminal window type: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Linux/MacOS&gt;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 netstat -n --tcp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Windows&gt;         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netstat -n -p tcp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2. Open a web browser &amp; visit a new web site.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3. Type "netstat" again ...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are there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new connections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?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-n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 means show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IP address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instead of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host name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Omit -n to show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host names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, but it is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much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slower.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610920" y="260280"/>
            <a:ext cx="7885440" cy="82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Exercise 2:  Create Your Own Server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674640" y="1400040"/>
            <a:ext cx="7885800" cy="442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Use netcat (nc) or ncat for this: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1. Open a 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terminal window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and start a server.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-l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means "listen", 4444 is port number.  Any port &gt; 1024 is ok.</a:t>
            </a: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2. Open 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another terminal window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and connect to "localhost" on port 4444.  Type something...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8" name="CustomShape 3"/>
          <p:cNvSpPr/>
          <p:nvPr/>
        </p:nvSpPr>
        <p:spPr>
          <a:xfrm>
            <a:off x="777960" y="2822400"/>
            <a:ext cx="7633080" cy="1186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ln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cmd&gt;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ncat -v -l -p 4444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199" name="CustomShape 4"/>
          <p:cNvSpPr/>
          <p:nvPr/>
        </p:nvSpPr>
        <p:spPr>
          <a:xfrm>
            <a:off x="822240" y="5014800"/>
            <a:ext cx="7633440" cy="1186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cc"/>
          </a:solidFill>
          <a:ln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cmd&gt;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ncat localhost 4444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i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Hello?  Is anyone there?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Establishing a TCP Connection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4952880" y="1355760"/>
            <a:ext cx="837360" cy="837000"/>
          </a:xfrm>
          <a:prstGeom prst="rect">
            <a:avLst/>
          </a:prstGeom>
          <a:ln>
            <a:noFill/>
          </a:ln>
        </p:spPr>
      </p:pic>
      <p:pic>
        <p:nvPicPr>
          <p:cNvPr id="202" name="" descr=""/>
          <p:cNvPicPr/>
          <p:nvPr/>
        </p:nvPicPr>
        <p:blipFill>
          <a:blip r:embed="rId2"/>
          <a:stretch/>
        </p:blipFill>
        <p:spPr>
          <a:xfrm>
            <a:off x="7759800" y="1173240"/>
            <a:ext cx="627480" cy="930600"/>
          </a:xfrm>
          <a:prstGeom prst="rect">
            <a:avLst/>
          </a:prstGeom>
          <a:ln>
            <a:noFill/>
          </a:ln>
        </p:spPr>
      </p:pic>
      <p:sp>
        <p:nvSpPr>
          <p:cNvPr id="203" name="CustomShape 2"/>
          <p:cNvSpPr/>
          <p:nvPr/>
        </p:nvSpPr>
        <p:spPr>
          <a:xfrm>
            <a:off x="6997680" y="2162160"/>
            <a:ext cx="205632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listen *:80/TCP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4" name="CustomShape 3"/>
          <p:cNvSpPr/>
          <p:nvPr/>
        </p:nvSpPr>
        <p:spPr>
          <a:xfrm>
            <a:off x="5486400" y="2486160"/>
            <a:ext cx="220860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TCP connect (SYN)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5" name="CustomShape 4"/>
          <p:cNvSpPr/>
          <p:nvPr/>
        </p:nvSpPr>
        <p:spPr>
          <a:xfrm>
            <a:off x="5303880" y="2928960"/>
            <a:ext cx="264996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Accepted (SYN/ACK)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6" name="CustomShape 5"/>
          <p:cNvSpPr/>
          <p:nvPr/>
        </p:nvSpPr>
        <p:spPr>
          <a:xfrm>
            <a:off x="5181480" y="4051440"/>
            <a:ext cx="277236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GET /index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.html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07" name="Line 6"/>
          <p:cNvSpPr/>
          <p:nvPr/>
        </p:nvSpPr>
        <p:spPr>
          <a:xfrm>
            <a:off x="5303880" y="2801880"/>
            <a:ext cx="265104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Line 7"/>
          <p:cNvSpPr/>
          <p:nvPr/>
        </p:nvSpPr>
        <p:spPr>
          <a:xfrm>
            <a:off x="5303880" y="3316320"/>
            <a:ext cx="265104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Line 8"/>
          <p:cNvSpPr/>
          <p:nvPr/>
        </p:nvSpPr>
        <p:spPr>
          <a:xfrm>
            <a:off x="5303880" y="4449600"/>
            <a:ext cx="265104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Line 9"/>
          <p:cNvSpPr/>
          <p:nvPr/>
        </p:nvSpPr>
        <p:spPr>
          <a:xfrm>
            <a:off x="5303880" y="5303880"/>
            <a:ext cx="265104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CustomShape 10"/>
          <p:cNvSpPr/>
          <p:nvPr/>
        </p:nvSpPr>
        <p:spPr>
          <a:xfrm>
            <a:off x="5241960" y="4562640"/>
            <a:ext cx="2894400" cy="670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HTTP/1.1 200 OK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[index.html attached]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2" name="CustomShape 11"/>
          <p:cNvSpPr/>
          <p:nvPr/>
        </p:nvSpPr>
        <p:spPr>
          <a:xfrm>
            <a:off x="533520" y="1247760"/>
            <a:ext cx="4494600" cy="3128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TCP needs </a:t>
            </a:r>
            <a:r>
              <a:rPr b="1" lang="en-US" sz="2400" spc="-1" strike="noStrike">
                <a:solidFill>
                  <a:srgbClr val="dd4814"/>
                </a:solidFill>
                <a:latin typeface="Arial"/>
                <a:ea typeface="Arial"/>
              </a:rPr>
              <a:t>3 packets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just to establish a connection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This adds delay and overhead</a:t>
            </a:r>
            <a:endParaRPr b="0" lang="en-US" sz="2400" spc="-1" strike="noStrike">
              <a:latin typeface="Arial"/>
            </a:endParaRPr>
          </a:p>
          <a:p>
            <a:pPr marL="176040" indent="-170280">
              <a:lnSpc>
                <a:spcPct val="100000"/>
              </a:lnSpc>
              <a:spcBef>
                <a:spcPts val="1247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When delay or overhead are important, use a different protocol, e.g.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UDP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3" name="Line 12"/>
          <p:cNvSpPr/>
          <p:nvPr/>
        </p:nvSpPr>
        <p:spPr>
          <a:xfrm>
            <a:off x="5303880" y="2286000"/>
            <a:ext cx="1440" cy="4297320"/>
          </a:xfrm>
          <a:prstGeom prst="line">
            <a:avLst/>
          </a:prstGeom>
          <a:ln w="9360">
            <a:solidFill>
              <a:srgbClr val="00808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Line 13"/>
          <p:cNvSpPr/>
          <p:nvPr/>
        </p:nvSpPr>
        <p:spPr>
          <a:xfrm>
            <a:off x="7954920" y="2286000"/>
            <a:ext cx="1800" cy="4297320"/>
          </a:xfrm>
          <a:prstGeom prst="line">
            <a:avLst/>
          </a:prstGeom>
          <a:ln w="9360">
            <a:solidFill>
              <a:srgbClr val="00808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CustomShape 14"/>
          <p:cNvSpPr/>
          <p:nvPr/>
        </p:nvSpPr>
        <p:spPr>
          <a:xfrm>
            <a:off x="5481720" y="3451320"/>
            <a:ext cx="220860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ACK server's SYN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6" name="Line 15"/>
          <p:cNvSpPr/>
          <p:nvPr/>
        </p:nvSpPr>
        <p:spPr>
          <a:xfrm>
            <a:off x="5299200" y="3801960"/>
            <a:ext cx="265104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CustomShape 16"/>
          <p:cNvSpPr/>
          <p:nvPr/>
        </p:nvSpPr>
        <p:spPr>
          <a:xfrm>
            <a:off x="4754520" y="2286000"/>
            <a:ext cx="3748680" cy="1735560"/>
          </a:xfrm>
          <a:prstGeom prst="ellipse">
            <a:avLst/>
          </a:prstGeom>
          <a:noFill/>
          <a:ln w="36000">
            <a:solidFill>
              <a:srgbClr val="ff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611280" y="260280"/>
            <a:ext cx="7874280" cy="81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Test Your Understanding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674280" y="1399680"/>
            <a:ext cx="7874640" cy="244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5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 can have many connections to the 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same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service!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1. Open </a:t>
            </a:r>
            <a:r>
              <a:rPr b="0" lang="en-US" sz="2400" spc="-1" strike="noStrike">
                <a:solidFill>
                  <a:srgbClr val="ff0000"/>
                </a:solidFill>
                <a:latin typeface="Arial"/>
                <a:ea typeface="DejaVu Sans"/>
              </a:rPr>
              <a:t>Chrome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and connect to gmail.com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2. Open </a:t>
            </a:r>
            <a:r>
              <a:rPr b="0" lang="en-US" sz="2400" spc="-1" strike="noStrike">
                <a:solidFill>
                  <a:srgbClr val="800000"/>
                </a:solidFill>
                <a:latin typeface="Arial"/>
                <a:ea typeface="DejaVu Sans"/>
              </a:rPr>
              <a:t>Firefox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or </a:t>
            </a:r>
            <a:r>
              <a:rPr b="0" lang="en-US" sz="2400" spc="-1" strike="noStrike">
                <a:solidFill>
                  <a:srgbClr val="800000"/>
                </a:solidFill>
                <a:latin typeface="Arial"/>
                <a:ea typeface="DejaVu Sans"/>
              </a:rPr>
              <a:t>Safari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and also connect to gmail.com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2837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the server sees: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674640" y="3565440"/>
            <a:ext cx="1095840" cy="1095840"/>
          </a:xfrm>
          <a:prstGeom prst="rect">
            <a:avLst/>
          </a:prstGeom>
          <a:ln>
            <a:noFill/>
          </a:ln>
        </p:spPr>
      </p:pic>
      <p:pic>
        <p:nvPicPr>
          <p:cNvPr id="221" name="" descr=""/>
          <p:cNvPicPr/>
          <p:nvPr/>
        </p:nvPicPr>
        <p:blipFill>
          <a:blip r:embed="rId2"/>
          <a:stretch/>
        </p:blipFill>
        <p:spPr>
          <a:xfrm>
            <a:off x="639720" y="4772160"/>
            <a:ext cx="1170360" cy="1170360"/>
          </a:xfrm>
          <a:prstGeom prst="rect">
            <a:avLst/>
          </a:prstGeom>
          <a:ln>
            <a:noFill/>
          </a:ln>
        </p:spPr>
      </p:pic>
      <p:pic>
        <p:nvPicPr>
          <p:cNvPr id="222" name="" descr=""/>
          <p:cNvPicPr/>
          <p:nvPr/>
        </p:nvPicPr>
        <p:blipFill>
          <a:blip r:embed="rId3"/>
          <a:stretch/>
        </p:blipFill>
        <p:spPr>
          <a:xfrm>
            <a:off x="6940440" y="4122720"/>
            <a:ext cx="1294560" cy="959400"/>
          </a:xfrm>
          <a:prstGeom prst="rect">
            <a:avLst/>
          </a:prstGeom>
          <a:ln>
            <a:noFill/>
          </a:ln>
        </p:spPr>
      </p:pic>
      <p:sp>
        <p:nvSpPr>
          <p:cNvPr id="223" name="CustomShape 3"/>
          <p:cNvSpPr/>
          <p:nvPr/>
        </p:nvSpPr>
        <p:spPr>
          <a:xfrm>
            <a:off x="6757920" y="5157720"/>
            <a:ext cx="1735560" cy="45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gmail.com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4" name="Line 4"/>
          <p:cNvSpPr/>
          <p:nvPr/>
        </p:nvSpPr>
        <p:spPr>
          <a:xfrm>
            <a:off x="2103480" y="4206960"/>
            <a:ext cx="4754520" cy="144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Line 5"/>
          <p:cNvSpPr/>
          <p:nvPr/>
        </p:nvSpPr>
        <p:spPr>
          <a:xfrm>
            <a:off x="2103480" y="5249880"/>
            <a:ext cx="4754520" cy="1440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CustomShape 6"/>
          <p:cNvSpPr/>
          <p:nvPr/>
        </p:nvSpPr>
        <p:spPr>
          <a:xfrm>
            <a:off x="2011320" y="3749760"/>
            <a:ext cx="4845600" cy="36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From:  182.232.11.22  To: 172.217.31.27:443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7" name="CustomShape 7"/>
          <p:cNvSpPr/>
          <p:nvPr/>
        </p:nvSpPr>
        <p:spPr>
          <a:xfrm>
            <a:off x="2011320" y="4757760"/>
            <a:ext cx="4845600" cy="36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From:  182.232.11.22  To: 172.217.31.27:443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28" name="CustomShape 8"/>
          <p:cNvSpPr/>
          <p:nvPr/>
        </p:nvSpPr>
        <p:spPr>
          <a:xfrm>
            <a:off x="1814400" y="5730840"/>
            <a:ext cx="5760000" cy="759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i="1" lang="en-US" sz="2200" spc="-1" strike="noStrike">
                <a:solidFill>
                  <a:srgbClr val="ff0000"/>
                </a:solidFill>
                <a:latin typeface="Arial"/>
                <a:ea typeface="DejaVu Sans"/>
              </a:rPr>
              <a:t>Packets are coming from s</a:t>
            </a:r>
            <a:r>
              <a:rPr b="0" i="1" lang="en-US" sz="2200" spc="-1" strike="noStrike" u="sng">
                <a:solidFill>
                  <a:srgbClr val="ff0000"/>
                </a:solidFill>
                <a:uFillTx/>
                <a:latin typeface="Arial"/>
                <a:ea typeface="DejaVu Sans"/>
              </a:rPr>
              <a:t>ame IP address</a:t>
            </a:r>
            <a:r>
              <a:rPr b="0" i="1" lang="en-US" sz="2200" spc="-1" strike="noStrike">
                <a:solidFill>
                  <a:srgbClr val="ff0000"/>
                </a:solidFill>
                <a:latin typeface="Arial"/>
                <a:ea typeface="DejaVu Sans"/>
              </a:rPr>
              <a:t> and going to </a:t>
            </a:r>
            <a:r>
              <a:rPr b="0" i="1" lang="en-US" sz="2200" spc="-1" strike="noStrike" u="sng">
                <a:solidFill>
                  <a:srgbClr val="ff0000"/>
                </a:solidFill>
                <a:uFillTx/>
                <a:latin typeface="Arial"/>
                <a:ea typeface="DejaVu Sans"/>
              </a:rPr>
              <a:t>same IP address and port</a:t>
            </a:r>
            <a:r>
              <a:rPr b="0" i="1" lang="en-US" sz="2200" spc="-1" strike="noStrike">
                <a:solidFill>
                  <a:srgbClr val="ff0000"/>
                </a:solidFill>
                <a:latin typeface="Arial"/>
                <a:ea typeface="DejaVu Sans"/>
              </a:rPr>
              <a:t>!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9" name="Line 9"/>
          <p:cNvSpPr/>
          <p:nvPr/>
        </p:nvSpPr>
        <p:spPr>
          <a:xfrm flipH="1" flipV="1">
            <a:off x="4381200" y="5257440"/>
            <a:ext cx="104760" cy="60012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Line 10"/>
          <p:cNvSpPr/>
          <p:nvPr/>
        </p:nvSpPr>
        <p:spPr>
          <a:xfrm flipH="1" flipV="1">
            <a:off x="4840200" y="4290480"/>
            <a:ext cx="287280" cy="156708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CustomShape 1"/>
          <p:cNvSpPr/>
          <p:nvPr/>
        </p:nvSpPr>
        <p:spPr>
          <a:xfrm>
            <a:off x="611280" y="260280"/>
            <a:ext cx="7874280" cy="81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Where to Send a Reply?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2" name="CustomShape 2"/>
          <p:cNvSpPr/>
          <p:nvPr/>
        </p:nvSpPr>
        <p:spPr>
          <a:xfrm>
            <a:off x="674280" y="1399680"/>
            <a:ext cx="7874640" cy="244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5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How does a server distinguish the two connections?</a:t>
            </a:r>
            <a:endParaRPr b="0" lang="en-US" sz="2400" spc="-1" strike="noStrike">
              <a:latin typeface="Arial"/>
            </a:endParaRPr>
          </a:p>
          <a:p>
            <a:pPr marL="342720" indent="-335520" algn="ctr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Could Gmail get "confused" and send a reply to the </a:t>
            </a:r>
            <a:r>
              <a:rPr b="0" i="1" lang="en-US" sz="3200" spc="-1" strike="noStrike">
                <a:solidFill>
                  <a:srgbClr val="ce181e"/>
                </a:solidFill>
                <a:latin typeface="Arial"/>
                <a:ea typeface="DejaVu Sans"/>
              </a:rPr>
              <a:t>wrong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browser?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ff0000"/>
                </a:solidFill>
                <a:latin typeface="Arial"/>
                <a:ea typeface="DejaVu Sans"/>
              </a:rPr>
              <a:t>Explain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233" name="" descr=""/>
          <p:cNvPicPr/>
          <p:nvPr/>
        </p:nvPicPr>
        <p:blipFill>
          <a:blip r:embed="rId1"/>
          <a:stretch/>
        </p:blipFill>
        <p:spPr>
          <a:xfrm>
            <a:off x="674640" y="3565440"/>
            <a:ext cx="1095840" cy="1095840"/>
          </a:xfrm>
          <a:prstGeom prst="rect">
            <a:avLst/>
          </a:prstGeom>
          <a:ln>
            <a:noFill/>
          </a:ln>
        </p:spPr>
      </p:pic>
      <p:pic>
        <p:nvPicPr>
          <p:cNvPr id="234" name="" descr=""/>
          <p:cNvPicPr/>
          <p:nvPr/>
        </p:nvPicPr>
        <p:blipFill>
          <a:blip r:embed="rId2"/>
          <a:stretch/>
        </p:blipFill>
        <p:spPr>
          <a:xfrm>
            <a:off x="639720" y="4772160"/>
            <a:ext cx="1170360" cy="1170360"/>
          </a:xfrm>
          <a:prstGeom prst="rect">
            <a:avLst/>
          </a:prstGeom>
          <a:ln>
            <a:noFill/>
          </a:ln>
        </p:spPr>
      </p:pic>
      <p:pic>
        <p:nvPicPr>
          <p:cNvPr id="235" name="" descr=""/>
          <p:cNvPicPr/>
          <p:nvPr/>
        </p:nvPicPr>
        <p:blipFill>
          <a:blip r:embed="rId3"/>
          <a:stretch/>
        </p:blipFill>
        <p:spPr>
          <a:xfrm>
            <a:off x="6940440" y="4122720"/>
            <a:ext cx="1294560" cy="959400"/>
          </a:xfrm>
          <a:prstGeom prst="rect">
            <a:avLst/>
          </a:prstGeom>
          <a:ln>
            <a:noFill/>
          </a:ln>
        </p:spPr>
      </p:pic>
      <p:sp>
        <p:nvSpPr>
          <p:cNvPr id="236" name="CustomShape 3"/>
          <p:cNvSpPr/>
          <p:nvPr/>
        </p:nvSpPr>
        <p:spPr>
          <a:xfrm>
            <a:off x="6757920" y="5157720"/>
            <a:ext cx="1735560" cy="45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gmail.com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37" name="Line 4"/>
          <p:cNvSpPr/>
          <p:nvPr/>
        </p:nvSpPr>
        <p:spPr>
          <a:xfrm>
            <a:off x="2103480" y="4206960"/>
            <a:ext cx="4754520" cy="144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Line 5"/>
          <p:cNvSpPr/>
          <p:nvPr/>
        </p:nvSpPr>
        <p:spPr>
          <a:xfrm>
            <a:off x="2103480" y="5249880"/>
            <a:ext cx="4754520" cy="1440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CustomShape 6"/>
          <p:cNvSpPr/>
          <p:nvPr/>
        </p:nvSpPr>
        <p:spPr>
          <a:xfrm>
            <a:off x="2011320" y="3749760"/>
            <a:ext cx="4845600" cy="36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From:  182.232.11.22  To: 172.217.31.27:443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0" name="CustomShape 7"/>
          <p:cNvSpPr/>
          <p:nvPr/>
        </p:nvSpPr>
        <p:spPr>
          <a:xfrm>
            <a:off x="2011320" y="4757760"/>
            <a:ext cx="4845600" cy="36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From:  182.232.11.22  To: 172.217.31.27:443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41" name="CustomShape 8"/>
          <p:cNvSpPr/>
          <p:nvPr/>
        </p:nvSpPr>
        <p:spPr>
          <a:xfrm>
            <a:off x="1814400" y="5730840"/>
            <a:ext cx="5760000" cy="759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i="1" lang="en-US" sz="2200" spc="-1" strike="noStrike">
                <a:solidFill>
                  <a:srgbClr val="ff0000"/>
                </a:solidFill>
                <a:latin typeface="Arial"/>
                <a:ea typeface="DejaVu Sans"/>
              </a:rPr>
              <a:t>Packets are coming from </a:t>
            </a:r>
            <a:r>
              <a:rPr b="1" i="1" lang="en-US" sz="2200" spc="-1" strike="noStrike" u="sng">
                <a:solidFill>
                  <a:srgbClr val="ff0000"/>
                </a:solidFill>
                <a:uFillTx/>
                <a:latin typeface="Arial"/>
                <a:ea typeface="DejaVu Sans"/>
              </a:rPr>
              <a:t>same</a:t>
            </a:r>
            <a:r>
              <a:rPr b="0" i="1" lang="en-US" sz="2200" spc="-1" strike="noStrike" u="sng">
                <a:solidFill>
                  <a:srgbClr val="ff0000"/>
                </a:solidFill>
                <a:uFillTx/>
                <a:latin typeface="Arial"/>
                <a:ea typeface="DejaVu Sans"/>
              </a:rPr>
              <a:t> IP address</a:t>
            </a:r>
            <a:r>
              <a:rPr b="0" i="1" lang="en-US" sz="2200" spc="-1" strike="noStrike">
                <a:solidFill>
                  <a:srgbClr val="ff0000"/>
                </a:solidFill>
                <a:latin typeface="Arial"/>
                <a:ea typeface="DejaVu Sans"/>
              </a:rPr>
              <a:t> and going to </a:t>
            </a:r>
            <a:r>
              <a:rPr b="1" i="1" lang="en-US" sz="2200" spc="-1" strike="noStrike" u="sng">
                <a:solidFill>
                  <a:srgbClr val="ff0000"/>
                </a:solidFill>
                <a:uFillTx/>
                <a:latin typeface="Arial"/>
                <a:ea typeface="DejaVu Sans"/>
              </a:rPr>
              <a:t>same</a:t>
            </a:r>
            <a:r>
              <a:rPr b="0" i="1" lang="en-US" sz="2200" spc="-1" strike="noStrike" u="sng">
                <a:solidFill>
                  <a:srgbClr val="ff0000"/>
                </a:solidFill>
                <a:uFillTx/>
                <a:latin typeface="Arial"/>
                <a:ea typeface="DejaVu Sans"/>
              </a:rPr>
              <a:t> IP address and port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2" name="Line 9"/>
          <p:cNvSpPr/>
          <p:nvPr/>
        </p:nvSpPr>
        <p:spPr>
          <a:xfrm flipH="1" flipV="1">
            <a:off x="4381200" y="5257440"/>
            <a:ext cx="104760" cy="60012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Line 10"/>
          <p:cNvSpPr/>
          <p:nvPr/>
        </p:nvSpPr>
        <p:spPr>
          <a:xfrm flipH="1" flipV="1">
            <a:off x="4840200" y="4290480"/>
            <a:ext cx="287280" cy="156708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/>
          <p:cNvSpPr/>
          <p:nvPr/>
        </p:nvSpPr>
        <p:spPr>
          <a:xfrm>
            <a:off x="611280" y="260280"/>
            <a:ext cx="7874280" cy="81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Where to Send a Reply?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5" name="CustomShape 2"/>
          <p:cNvSpPr/>
          <p:nvPr/>
        </p:nvSpPr>
        <p:spPr>
          <a:xfrm>
            <a:off x="674280" y="1399680"/>
            <a:ext cx="7874640" cy="244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35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Answer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:  Each connection from your computer (to anywhere) will have a </a:t>
            </a:r>
            <a:r>
              <a:rPr b="0" i="1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unique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port number.</a:t>
            </a:r>
            <a:endParaRPr b="0" lang="en-US" sz="24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Gmail will use </a:t>
            </a:r>
            <a:r>
              <a:rPr b="0" i="1" lang="en-US" sz="2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your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port number as the TCP destination port when it sends a reply.</a:t>
            </a:r>
            <a:endParaRPr b="0" lang="en-US" sz="2800" spc="-1" strike="noStrike">
              <a:latin typeface="Arial"/>
            </a:endParaRPr>
          </a:p>
          <a:p>
            <a:pPr marL="342720" indent="-3355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</p:txBody>
      </p:sp>
      <p:pic>
        <p:nvPicPr>
          <p:cNvPr id="246" name="" descr=""/>
          <p:cNvPicPr/>
          <p:nvPr/>
        </p:nvPicPr>
        <p:blipFill>
          <a:blip r:embed="rId1"/>
          <a:stretch/>
        </p:blipFill>
        <p:spPr>
          <a:xfrm>
            <a:off x="351000" y="3565440"/>
            <a:ext cx="1095840" cy="1095840"/>
          </a:xfrm>
          <a:prstGeom prst="rect">
            <a:avLst/>
          </a:prstGeom>
          <a:ln>
            <a:noFill/>
          </a:ln>
        </p:spPr>
      </p:pic>
      <p:pic>
        <p:nvPicPr>
          <p:cNvPr id="247" name="" descr=""/>
          <p:cNvPicPr/>
          <p:nvPr/>
        </p:nvPicPr>
        <p:blipFill>
          <a:blip r:embed="rId2"/>
          <a:stretch/>
        </p:blipFill>
        <p:spPr>
          <a:xfrm>
            <a:off x="352440" y="4772160"/>
            <a:ext cx="1170360" cy="1170360"/>
          </a:xfrm>
          <a:prstGeom prst="rect">
            <a:avLst/>
          </a:prstGeom>
          <a:ln>
            <a:noFill/>
          </a:ln>
        </p:spPr>
      </p:pic>
      <p:pic>
        <p:nvPicPr>
          <p:cNvPr id="248" name="" descr=""/>
          <p:cNvPicPr/>
          <p:nvPr/>
        </p:nvPicPr>
        <p:blipFill>
          <a:blip r:embed="rId3"/>
          <a:stretch/>
        </p:blipFill>
        <p:spPr>
          <a:xfrm>
            <a:off x="6940440" y="4122720"/>
            <a:ext cx="1294560" cy="959400"/>
          </a:xfrm>
          <a:prstGeom prst="rect">
            <a:avLst/>
          </a:prstGeom>
          <a:ln>
            <a:noFill/>
          </a:ln>
        </p:spPr>
      </p:pic>
      <p:sp>
        <p:nvSpPr>
          <p:cNvPr id="249" name="CustomShape 3"/>
          <p:cNvSpPr/>
          <p:nvPr/>
        </p:nvSpPr>
        <p:spPr>
          <a:xfrm>
            <a:off x="6757920" y="5157720"/>
            <a:ext cx="1735560" cy="45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gmail.com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0" name="Line 4"/>
          <p:cNvSpPr/>
          <p:nvPr/>
        </p:nvSpPr>
        <p:spPr>
          <a:xfrm>
            <a:off x="2103480" y="4206960"/>
            <a:ext cx="4754520" cy="144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Line 5"/>
          <p:cNvSpPr/>
          <p:nvPr/>
        </p:nvSpPr>
        <p:spPr>
          <a:xfrm>
            <a:off x="2103480" y="5249880"/>
            <a:ext cx="4754520" cy="1440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CustomShape 6"/>
          <p:cNvSpPr/>
          <p:nvPr/>
        </p:nvSpPr>
        <p:spPr>
          <a:xfrm>
            <a:off x="1447920" y="3749760"/>
            <a:ext cx="5409000" cy="36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From:  182.232.11.22: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1234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To: 172.217.31.27:443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3" name="CustomShape 7"/>
          <p:cNvSpPr/>
          <p:nvPr/>
        </p:nvSpPr>
        <p:spPr>
          <a:xfrm>
            <a:off x="1522440" y="4757760"/>
            <a:ext cx="5334480" cy="363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From:  182.232.11.22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:5555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To: 172.217.31.27:443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4" name="CustomShape 8"/>
          <p:cNvSpPr/>
          <p:nvPr/>
        </p:nvSpPr>
        <p:spPr>
          <a:xfrm>
            <a:off x="1814400" y="5730840"/>
            <a:ext cx="5760000" cy="759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i="1" lang="en-US" sz="2200" spc="-1" strike="noStrike">
                <a:solidFill>
                  <a:srgbClr val="ff0000"/>
                </a:solidFill>
                <a:latin typeface="Arial"/>
                <a:ea typeface="DejaVu Sans"/>
              </a:rPr>
              <a:t>Each connection has a unique sender port number.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5" name="Line 9"/>
          <p:cNvSpPr/>
          <p:nvPr/>
        </p:nvSpPr>
        <p:spPr>
          <a:xfrm flipH="1" flipV="1">
            <a:off x="4111200" y="5071680"/>
            <a:ext cx="104760" cy="600120"/>
          </a:xfrm>
          <a:prstGeom prst="line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uses TCP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57" name="CustomShape 2"/>
          <p:cNvSpPr/>
          <p:nvPr/>
        </p:nvSpPr>
        <p:spPr>
          <a:xfrm>
            <a:off x="533520" y="1320840"/>
            <a:ext cx="8152200" cy="191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171360" indent="-170280">
              <a:lnSpc>
                <a:spcPct val="100000"/>
              </a:lnSpc>
              <a:spcBef>
                <a:spcPts val="283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HTTP uses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TCP for connection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and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IP for transport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283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TCP/IP connections are managed by the OS.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283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Web Server handles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only the HTTP message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8" name="CustomShape 3"/>
          <p:cNvSpPr/>
          <p:nvPr/>
        </p:nvSpPr>
        <p:spPr>
          <a:xfrm>
            <a:off x="7315200" y="5943600"/>
            <a:ext cx="1553040" cy="45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IP Layer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59" name="CustomShape 4"/>
          <p:cNvSpPr/>
          <p:nvPr/>
        </p:nvSpPr>
        <p:spPr>
          <a:xfrm>
            <a:off x="7223040" y="4572000"/>
            <a:ext cx="1735560" cy="821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TCP Layer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0" name="CustomShape 5"/>
          <p:cNvSpPr/>
          <p:nvPr/>
        </p:nvSpPr>
        <p:spPr>
          <a:xfrm>
            <a:off x="7223040" y="3471840"/>
            <a:ext cx="1919880" cy="821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 Layer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(Application)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1" name="CustomShape 6"/>
          <p:cNvSpPr/>
          <p:nvPr/>
        </p:nvSpPr>
        <p:spPr>
          <a:xfrm>
            <a:off x="7223040" y="4572000"/>
            <a:ext cx="1735560" cy="821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TCP Layer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2" name="CustomShape 7"/>
          <p:cNvSpPr/>
          <p:nvPr/>
        </p:nvSpPr>
        <p:spPr>
          <a:xfrm>
            <a:off x="7223040" y="4572000"/>
            <a:ext cx="1735560" cy="821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TCP Layer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3" name="CustomShape 8"/>
          <p:cNvSpPr/>
          <p:nvPr/>
        </p:nvSpPr>
        <p:spPr>
          <a:xfrm>
            <a:off x="1297080" y="4754520"/>
            <a:ext cx="363960" cy="1735560"/>
          </a:xfrm>
          <a:custGeom>
            <a:avLst/>
            <a:gdLst/>
            <a:ahLst/>
            <a:rect l="l" t="t" r="r" b="b"/>
            <a:pathLst>
              <a:path w="1016" h="4826">
                <a:moveTo>
                  <a:pt x="1015" y="0"/>
                </a:moveTo>
                <a:cubicBezTo>
                  <a:pt x="761" y="0"/>
                  <a:pt x="507" y="201"/>
                  <a:pt x="507" y="402"/>
                </a:cubicBezTo>
                <a:lnTo>
                  <a:pt x="507" y="2010"/>
                </a:lnTo>
                <a:cubicBezTo>
                  <a:pt x="507" y="2211"/>
                  <a:pt x="253" y="2412"/>
                  <a:pt x="0" y="2412"/>
                </a:cubicBezTo>
                <a:cubicBezTo>
                  <a:pt x="253" y="2412"/>
                  <a:pt x="507" y="2613"/>
                  <a:pt x="507" y="2814"/>
                </a:cubicBezTo>
                <a:lnTo>
                  <a:pt x="507" y="4422"/>
                </a:lnTo>
                <a:cubicBezTo>
                  <a:pt x="507" y="4623"/>
                  <a:pt x="761" y="4825"/>
                  <a:pt x="1015" y="4825"/>
                </a:cubicBezTo>
              </a:path>
            </a:pathLst>
          </a:custGeom>
          <a:noFill/>
          <a:ln w="18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CustomShape 9"/>
          <p:cNvSpPr/>
          <p:nvPr/>
        </p:nvSpPr>
        <p:spPr>
          <a:xfrm>
            <a:off x="182520" y="4846680"/>
            <a:ext cx="1370520" cy="1460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Operating</a:t>
            </a:r>
            <a:br/>
            <a:r>
              <a:rPr b="0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System</a:t>
            </a:r>
            <a:br/>
            <a:r>
              <a:rPr b="0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handles</a:t>
            </a:r>
            <a:br/>
            <a:r>
              <a:rPr b="0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this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1"/>
          <a:stretch/>
        </p:blipFill>
        <p:spPr>
          <a:xfrm>
            <a:off x="1625760" y="3533760"/>
            <a:ext cx="5524920" cy="2991240"/>
          </a:xfrm>
          <a:prstGeom prst="rect">
            <a:avLst/>
          </a:prstGeom>
          <a:ln>
            <a:noFill/>
          </a:ln>
        </p:spPr>
      </p:pic>
      <p:sp>
        <p:nvSpPr>
          <p:cNvPr id="266" name="CustomShape 10"/>
          <p:cNvSpPr/>
          <p:nvPr/>
        </p:nvSpPr>
        <p:spPr>
          <a:xfrm>
            <a:off x="274680" y="3657600"/>
            <a:ext cx="4205880" cy="45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Web Server Handles This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7" name="Line 11"/>
          <p:cNvSpPr/>
          <p:nvPr/>
        </p:nvSpPr>
        <p:spPr>
          <a:xfrm>
            <a:off x="4022640" y="3932280"/>
            <a:ext cx="1096920" cy="1440"/>
          </a:xfrm>
          <a:prstGeom prst="line">
            <a:avLst/>
          </a:prstGeom>
          <a:ln w="9360">
            <a:solidFill>
              <a:srgbClr val="0000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365040" y="259920"/>
            <a:ext cx="832068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is Request / Response Protocol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69" name="" descr=""/>
          <p:cNvPicPr/>
          <p:nvPr/>
        </p:nvPicPr>
        <p:blipFill>
          <a:blip r:embed="rId1"/>
          <a:stretch/>
        </p:blipFill>
        <p:spPr>
          <a:xfrm>
            <a:off x="1371600" y="3824280"/>
            <a:ext cx="837000" cy="837000"/>
          </a:xfrm>
          <a:prstGeom prst="rect">
            <a:avLst/>
          </a:prstGeom>
          <a:ln>
            <a:noFill/>
          </a:ln>
        </p:spPr>
      </p:pic>
      <p:pic>
        <p:nvPicPr>
          <p:cNvPr id="270" name="" descr=""/>
          <p:cNvPicPr/>
          <p:nvPr/>
        </p:nvPicPr>
        <p:blipFill>
          <a:blip r:embed="rId2"/>
          <a:stretch/>
        </p:blipFill>
        <p:spPr>
          <a:xfrm>
            <a:off x="6900840" y="3521160"/>
            <a:ext cx="627480" cy="930600"/>
          </a:xfrm>
          <a:prstGeom prst="rect">
            <a:avLst/>
          </a:prstGeom>
          <a:ln>
            <a:noFill/>
          </a:ln>
        </p:spPr>
      </p:pic>
      <p:sp>
        <p:nvSpPr>
          <p:cNvPr id="271" name="CustomShape 2"/>
          <p:cNvSpPr/>
          <p:nvPr/>
        </p:nvSpPr>
        <p:spPr>
          <a:xfrm>
            <a:off x="6137280" y="4511520"/>
            <a:ext cx="205632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listen *:80/TCP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2" name="CustomShape 3"/>
          <p:cNvSpPr/>
          <p:nvPr/>
        </p:nvSpPr>
        <p:spPr>
          <a:xfrm>
            <a:off x="1828800" y="4843440"/>
            <a:ext cx="5120280" cy="398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GET http://somehost.com/path/index.html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3" name="Line 4"/>
          <p:cNvSpPr/>
          <p:nvPr/>
        </p:nvSpPr>
        <p:spPr>
          <a:xfrm>
            <a:off x="1746360" y="5303880"/>
            <a:ext cx="538632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CustomShape 5"/>
          <p:cNvSpPr/>
          <p:nvPr/>
        </p:nvSpPr>
        <p:spPr>
          <a:xfrm>
            <a:off x="2878200" y="5545080"/>
            <a:ext cx="407088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HTTP response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5" name="CustomShape 6"/>
          <p:cNvSpPr/>
          <p:nvPr/>
        </p:nvSpPr>
        <p:spPr>
          <a:xfrm>
            <a:off x="533520" y="1500120"/>
            <a:ext cx="8244360" cy="1873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Client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sends an HTTP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request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, server sends a </a:t>
            </a: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response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Server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listens (waits) for incoming requests.  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124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Server is </a:t>
            </a: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stateless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- not required to remember any previous requests or connections (but web apps may).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76" name="Line 7"/>
          <p:cNvSpPr/>
          <p:nvPr/>
        </p:nvSpPr>
        <p:spPr>
          <a:xfrm>
            <a:off x="1746360" y="4902120"/>
            <a:ext cx="1440" cy="173664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Line 8"/>
          <p:cNvSpPr/>
          <p:nvPr/>
        </p:nvSpPr>
        <p:spPr>
          <a:xfrm>
            <a:off x="7132680" y="4846680"/>
            <a:ext cx="1440" cy="1736640"/>
          </a:xfrm>
          <a:prstGeom prst="line">
            <a:avLst/>
          </a:prstGeom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Line 9"/>
          <p:cNvSpPr/>
          <p:nvPr/>
        </p:nvSpPr>
        <p:spPr>
          <a:xfrm flipH="1">
            <a:off x="1728360" y="5943600"/>
            <a:ext cx="542124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Request - Response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80" name="" descr=""/>
          <p:cNvPicPr/>
          <p:nvPr/>
        </p:nvPicPr>
        <p:blipFill>
          <a:blip r:embed="rId1"/>
          <a:stretch/>
        </p:blipFill>
        <p:spPr>
          <a:xfrm>
            <a:off x="4952880" y="1355760"/>
            <a:ext cx="837360" cy="837000"/>
          </a:xfrm>
          <a:prstGeom prst="rect">
            <a:avLst/>
          </a:prstGeom>
          <a:ln>
            <a:noFill/>
          </a:ln>
        </p:spPr>
      </p:pic>
      <p:pic>
        <p:nvPicPr>
          <p:cNvPr id="281" name="" descr=""/>
          <p:cNvPicPr/>
          <p:nvPr/>
        </p:nvPicPr>
        <p:blipFill>
          <a:blip r:embed="rId2"/>
          <a:stretch/>
        </p:blipFill>
        <p:spPr>
          <a:xfrm>
            <a:off x="7759800" y="1173240"/>
            <a:ext cx="627480" cy="930600"/>
          </a:xfrm>
          <a:prstGeom prst="rect">
            <a:avLst/>
          </a:prstGeom>
          <a:ln>
            <a:noFill/>
          </a:ln>
        </p:spPr>
      </p:pic>
      <p:sp>
        <p:nvSpPr>
          <p:cNvPr id="282" name="CustomShape 2"/>
          <p:cNvSpPr/>
          <p:nvPr/>
        </p:nvSpPr>
        <p:spPr>
          <a:xfrm>
            <a:off x="6997680" y="2162160"/>
            <a:ext cx="205632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listen *:80/TCP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3" name="CustomShape 3"/>
          <p:cNvSpPr/>
          <p:nvPr/>
        </p:nvSpPr>
        <p:spPr>
          <a:xfrm>
            <a:off x="5486400" y="2486160"/>
            <a:ext cx="220860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TCP connect (SYN)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4" name="CustomShape 4"/>
          <p:cNvSpPr/>
          <p:nvPr/>
        </p:nvSpPr>
        <p:spPr>
          <a:xfrm>
            <a:off x="5303880" y="2928960"/>
            <a:ext cx="264996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Accepted (SYN/ACK)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5" name="CustomShape 5"/>
          <p:cNvSpPr/>
          <p:nvPr/>
        </p:nvSpPr>
        <p:spPr>
          <a:xfrm>
            <a:off x="5181480" y="4051440"/>
            <a:ext cx="277236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GET /index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.html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86" name="Line 6"/>
          <p:cNvSpPr/>
          <p:nvPr/>
        </p:nvSpPr>
        <p:spPr>
          <a:xfrm>
            <a:off x="5303880" y="2801880"/>
            <a:ext cx="265104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Line 7"/>
          <p:cNvSpPr/>
          <p:nvPr/>
        </p:nvSpPr>
        <p:spPr>
          <a:xfrm>
            <a:off x="5303880" y="3316320"/>
            <a:ext cx="265104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Line 8"/>
          <p:cNvSpPr/>
          <p:nvPr/>
        </p:nvSpPr>
        <p:spPr>
          <a:xfrm>
            <a:off x="5303880" y="4449600"/>
            <a:ext cx="265104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Line 9"/>
          <p:cNvSpPr/>
          <p:nvPr/>
        </p:nvSpPr>
        <p:spPr>
          <a:xfrm>
            <a:off x="5303880" y="5303880"/>
            <a:ext cx="265104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CustomShape 10"/>
          <p:cNvSpPr/>
          <p:nvPr/>
        </p:nvSpPr>
        <p:spPr>
          <a:xfrm>
            <a:off x="5241960" y="4562640"/>
            <a:ext cx="2894400" cy="670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HTTP/1.1 200 OK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[index.html attached]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1" name="CustomShape 11"/>
          <p:cNvSpPr/>
          <p:nvPr/>
        </p:nvSpPr>
        <p:spPr>
          <a:xfrm>
            <a:off x="533520" y="1247760"/>
            <a:ext cx="4494600" cy="4471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171360" indent="-170280">
              <a:lnSpc>
                <a:spcPct val="100000"/>
              </a:lnSpc>
              <a:spcBef>
                <a:spcPts val="283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HTTP 1.0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one request/reply. Connection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closed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immediately.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283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HTTP 1.1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allows </a:t>
            </a:r>
            <a:r>
              <a:rPr b="0" i="1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persistent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connections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(many requests) and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data compression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for performance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2837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HTTP/2.0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is much faster: header caching, overlapping requests, better compression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92" name="Line 12"/>
          <p:cNvSpPr/>
          <p:nvPr/>
        </p:nvSpPr>
        <p:spPr>
          <a:xfrm>
            <a:off x="5303880" y="2286000"/>
            <a:ext cx="1440" cy="4297320"/>
          </a:xfrm>
          <a:prstGeom prst="line">
            <a:avLst/>
          </a:prstGeom>
          <a:ln w="9360">
            <a:solidFill>
              <a:srgbClr val="00808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Line 13"/>
          <p:cNvSpPr/>
          <p:nvPr/>
        </p:nvSpPr>
        <p:spPr>
          <a:xfrm>
            <a:off x="7954920" y="2286000"/>
            <a:ext cx="1800" cy="4297320"/>
          </a:xfrm>
          <a:prstGeom prst="line">
            <a:avLst/>
          </a:prstGeom>
          <a:ln w="9360">
            <a:solidFill>
              <a:srgbClr val="00808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CustomShape 14"/>
          <p:cNvSpPr/>
          <p:nvPr/>
        </p:nvSpPr>
        <p:spPr>
          <a:xfrm>
            <a:off x="5481720" y="3451320"/>
            <a:ext cx="220860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ACK server's SYN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5" name="Line 15"/>
          <p:cNvSpPr/>
          <p:nvPr/>
        </p:nvSpPr>
        <p:spPr>
          <a:xfrm>
            <a:off x="5299200" y="3801960"/>
            <a:ext cx="265104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CustomShape 16"/>
          <p:cNvSpPr/>
          <p:nvPr/>
        </p:nvSpPr>
        <p:spPr>
          <a:xfrm>
            <a:off x="4754520" y="3932280"/>
            <a:ext cx="3748680" cy="1735560"/>
          </a:xfrm>
          <a:prstGeom prst="ellipse">
            <a:avLst/>
          </a:prstGeom>
          <a:noFill/>
          <a:ln w="36000">
            <a:solidFill>
              <a:srgbClr val="ff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Versions</a:t>
            </a:r>
            <a:endParaRPr b="0" lang="en-US" sz="3600" spc="-1" strike="noStrike">
              <a:latin typeface="Arial"/>
            </a:endParaRPr>
          </a:p>
        </p:txBody>
      </p:sp>
      <p:graphicFrame>
        <p:nvGraphicFramePr>
          <p:cNvPr id="298" name="Table 2"/>
          <p:cNvGraphicFramePr/>
          <p:nvPr/>
        </p:nvGraphicFramePr>
        <p:xfrm>
          <a:off x="552960" y="1320840"/>
          <a:ext cx="8045640" cy="5129640"/>
        </p:xfrm>
        <a:graphic>
          <a:graphicData uri="http://schemas.openxmlformats.org/drawingml/2006/table">
            <a:tbl>
              <a:tblPr/>
              <a:tblGrid>
                <a:gridCol w="2011320"/>
                <a:gridCol w="2011320"/>
                <a:gridCol w="2011320"/>
                <a:gridCol w="2012040"/>
              </a:tblGrid>
              <a:tr h="609480">
                <a:tc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HTTP 1.1</a:t>
                      </a:r>
                      <a:br/>
                      <a:r>
                        <a:rPr b="0" lang="en-US" sz="1800" spc="-1" strike="noStrike">
                          <a:latin typeface="Arial"/>
                        </a:rPr>
                        <a:t>1999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HTTP/2</a:t>
                      </a:r>
                      <a:br/>
                      <a:r>
                        <a:rPr b="0" lang="en-US" sz="1800" spc="-1" strike="noStrike">
                          <a:latin typeface="Arial"/>
                        </a:rPr>
                        <a:t>2015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HTTP/3</a:t>
                      </a:r>
                      <a:br/>
                      <a:r>
                        <a:rPr b="0" lang="en-US" sz="1800" spc="-1" strike="noStrike">
                          <a:latin typeface="Arial"/>
                        </a:rPr>
                        <a:t>2022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605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% of web traffic</a:t>
                      </a:r>
                      <a:br/>
                      <a:r>
                        <a:rPr b="0" lang="en-US" sz="1800" spc="-1" strike="noStrike">
                          <a:latin typeface="Arial"/>
                        </a:rPr>
                        <a:t>[</a:t>
                      </a:r>
                      <a:r>
                        <a:rPr b="0" lang="en-US" sz="1800" spc="-1" strike="noStrike" u="sng">
                          <a:solidFill>
                            <a:srgbClr val="0000ff"/>
                          </a:solidFill>
                          <a:uFillTx/>
                          <a:latin typeface="Arial"/>
                          <a:hlinkClick r:id="rId1"/>
                        </a:rPr>
                        <a:t>Cloudflare 2025</a:t>
                      </a:r>
                      <a:r>
                        <a:rPr b="0" lang="en-US" sz="1800" spc="-1" strike="noStrike">
                          <a:solidFill>
                            <a:srgbClr val="0000ff"/>
                          </a:solidFill>
                          <a:latin typeface="Arial"/>
                        </a:rPr>
                        <a:t>]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29%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50%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21%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</a:tr>
              <a:tr h="52776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Transport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TCP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TCP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QUIC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</a:tr>
              <a:tr h="605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Body format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Text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Text or binary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Binary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</a:tr>
              <a:tr h="605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Persistent Connections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</a:tr>
              <a:tr h="6184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Pipeline Requests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</a:tr>
              <a:tr h="60588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Multiplex request &amp; resp.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No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Yes, with prioritization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Yes, improved over HTTP/2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</a:tr>
              <a:tr h="41472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Server Push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No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Yes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No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</a:tr>
              <a:tr h="536040"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latin typeface="Arial"/>
                        </a:rPr>
                        <a:t>Security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HTTPS Optional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TLS Required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  <a:tc>
                  <a:txBody>
                    <a:bodyPr lIns="90000" rIns="90000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80"/>
                          </a:solidFill>
                          <a:latin typeface="Arial"/>
                        </a:rPr>
                        <a:t>Built-in to QUIC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333333"/>
                      </a:solidFill>
                    </a:lnL>
                    <a:lnR w="720">
                      <a:solidFill>
                        <a:srgbClr val="333333"/>
                      </a:solidFill>
                    </a:lnR>
                    <a:lnT w="720">
                      <a:solidFill>
                        <a:srgbClr val="333333"/>
                      </a:solidFill>
                    </a:lnT>
                    <a:lnB w="720">
                      <a:solidFill>
                        <a:srgbClr val="333333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CustomShape 1"/>
          <p:cNvSpPr/>
          <p:nvPr/>
        </p:nvSpPr>
        <p:spPr>
          <a:xfrm>
            <a:off x="610920" y="260280"/>
            <a:ext cx="7885440" cy="82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Protocol Basics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00" name="CustomShape 2"/>
          <p:cNvSpPr/>
          <p:nvPr/>
        </p:nvSpPr>
        <p:spPr>
          <a:xfrm>
            <a:off x="674640" y="1400040"/>
            <a:ext cx="7885800" cy="442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24360">
              <a:lnSpc>
                <a:spcPct val="100000"/>
              </a:lnSpc>
              <a:spcBef>
                <a:spcPts val="2273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1. HTTP Request format</a:t>
            </a:r>
            <a:endParaRPr b="0" lang="en-US" sz="28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2273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2. HTTP Request methods</a:t>
            </a:r>
            <a:endParaRPr b="0" lang="en-US" sz="28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2273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3. HTTP Response format</a:t>
            </a:r>
            <a:endParaRPr b="0" lang="en-US" sz="28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2273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4. Header fields</a:t>
            </a:r>
            <a:endParaRPr b="0" lang="en-US" sz="28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2273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5. Response codes (status codes)</a:t>
            </a:r>
            <a:endParaRPr b="0" lang="en-US" sz="2800" spc="-1" strike="noStrike">
              <a:latin typeface="Arial"/>
            </a:endParaRPr>
          </a:p>
          <a:p>
            <a:pPr marL="342720" indent="-324360">
              <a:lnSpc>
                <a:spcPct val="100000"/>
              </a:lnSpc>
              <a:spcBef>
                <a:spcPts val="2273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6. URLs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Request Format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02" name="CustomShape 2"/>
          <p:cNvSpPr/>
          <p:nvPr/>
        </p:nvSpPr>
        <p:spPr>
          <a:xfrm>
            <a:off x="1143000" y="1447560"/>
            <a:ext cx="7268040" cy="3397680"/>
          </a:xfrm>
          <a:prstGeom prst="rect">
            <a:avLst/>
          </a:prstGeom>
          <a:noFill/>
          <a:ln cap="sq" w="12600">
            <a:solidFill>
              <a:srgbClr val="0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METHOD /relative-url HTTP/1.1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Host: server.host.name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Header1: xxxx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Header2: yyyy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   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03" name="CustomShape 3"/>
          <p:cNvSpPr/>
          <p:nvPr/>
        </p:nvSpPr>
        <p:spPr>
          <a:xfrm>
            <a:off x="4664160" y="3030480"/>
            <a:ext cx="3107160" cy="641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Blank Line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(two CR/LF) indicates end of headers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4" name="CustomShape 4"/>
          <p:cNvSpPr/>
          <p:nvPr/>
        </p:nvSpPr>
        <p:spPr>
          <a:xfrm>
            <a:off x="1096920" y="5295960"/>
            <a:ext cx="7314120" cy="824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Only POST and PUT requests have a REQUEST BODY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05" name="Line 5"/>
          <p:cNvSpPr/>
          <p:nvPr/>
        </p:nvSpPr>
        <p:spPr>
          <a:xfrm flipH="1">
            <a:off x="3607920" y="3395520"/>
            <a:ext cx="1104840" cy="1800"/>
          </a:xfrm>
          <a:prstGeom prst="line">
            <a:avLst/>
          </a:prstGeom>
          <a:ln cap="sq"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CustomShape 6"/>
          <p:cNvSpPr/>
          <p:nvPr/>
        </p:nvSpPr>
        <p:spPr>
          <a:xfrm>
            <a:off x="1189080" y="3781440"/>
            <a:ext cx="7131600" cy="100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no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REQUEST BODY (POST and PUT only)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07" name="CustomShape 7"/>
          <p:cNvSpPr/>
          <p:nvPr/>
        </p:nvSpPr>
        <p:spPr>
          <a:xfrm>
            <a:off x="5760720" y="2011680"/>
            <a:ext cx="273240" cy="821880"/>
          </a:xfrm>
          <a:custGeom>
            <a:avLst/>
            <a:gdLst/>
            <a:ahLst/>
            <a:rect l="l" t="t" r="r" b="b"/>
            <a:pathLst>
              <a:path w="764" h="2288">
                <a:moveTo>
                  <a:pt x="0" y="0"/>
                </a:moveTo>
                <a:cubicBezTo>
                  <a:pt x="190" y="0"/>
                  <a:pt x="381" y="95"/>
                  <a:pt x="381" y="190"/>
                </a:cubicBezTo>
                <a:lnTo>
                  <a:pt x="381" y="952"/>
                </a:lnTo>
                <a:cubicBezTo>
                  <a:pt x="381" y="1048"/>
                  <a:pt x="572" y="1143"/>
                  <a:pt x="763" y="1143"/>
                </a:cubicBezTo>
                <a:cubicBezTo>
                  <a:pt x="572" y="1143"/>
                  <a:pt x="381" y="1238"/>
                  <a:pt x="381" y="1334"/>
                </a:cubicBezTo>
                <a:lnTo>
                  <a:pt x="381" y="2096"/>
                </a:lnTo>
                <a:cubicBezTo>
                  <a:pt x="381" y="2191"/>
                  <a:pt x="190" y="2287"/>
                  <a:pt x="0" y="2287"/>
                </a:cubicBezTo>
              </a:path>
            </a:pathLst>
          </a:cu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CustomShape 8"/>
          <p:cNvSpPr/>
          <p:nvPr/>
        </p:nvSpPr>
        <p:spPr>
          <a:xfrm>
            <a:off x="6217920" y="2247120"/>
            <a:ext cx="155340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Headers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Request Example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0" name="CustomShape 2"/>
          <p:cNvSpPr/>
          <p:nvPr/>
        </p:nvSpPr>
        <p:spPr>
          <a:xfrm>
            <a:off x="1143000" y="1833120"/>
            <a:ext cx="7268040" cy="4016880"/>
          </a:xfrm>
          <a:prstGeom prst="rect">
            <a:avLst/>
          </a:prstGeom>
          <a:noFill/>
          <a:ln cap="sq" w="12600">
            <a:solidFill>
              <a:srgbClr val="0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80"/>
                </a:solidFill>
                <a:latin typeface="Courier New"/>
                <a:ea typeface="DejaVu Sans"/>
              </a:rPr>
              <a:t>GET /index.html HTTP/1.1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80"/>
                </a:solidFill>
                <a:latin typeface="Courier New"/>
                <a:ea typeface="DejaVu Sans"/>
              </a:rPr>
              <a:t>Host: www.cpe.ku.ac.th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User-Agent: Mozilla/5.0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Accept: text/html, </a:t>
            </a:r>
            <a:r>
              <a:rPr b="1" lang="en-US" sz="2000" spc="-1" strike="noStrike">
                <a:solidFill>
                  <a:srgbClr val="333399"/>
                </a:solidFill>
                <a:latin typeface="Courier New"/>
                <a:ea typeface="DejaVu Sans"/>
              </a:rPr>
              <a:t>text/plain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, image/gif, image/jpeg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Accept-Language: en, th</a:t>
            </a:r>
            <a:r>
              <a:rPr b="1" lang="en-US" sz="2000" spc="-1" strike="noStrike">
                <a:solidFill>
                  <a:srgbClr val="000080"/>
                </a:solidFill>
                <a:latin typeface="Courier New"/>
                <a:ea typeface="DejaVu Sans"/>
              </a:rPr>
              <a:t>;q=0.5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Accept-Charset: ascii, ISO8859-1, ISO8859-13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Accept-Encoding: gzip,deflate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11" name="CustomShape 3"/>
          <p:cNvSpPr/>
          <p:nvPr/>
        </p:nvSpPr>
        <p:spPr>
          <a:xfrm>
            <a:off x="5213520" y="4843440"/>
            <a:ext cx="3107160" cy="641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Blank 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two CR/LF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) indicates end of headers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2" name="CustomShape 4"/>
          <p:cNvSpPr/>
          <p:nvPr/>
        </p:nvSpPr>
        <p:spPr>
          <a:xfrm>
            <a:off x="822240" y="5943600"/>
            <a:ext cx="7679160" cy="45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Accept: includes "</a:t>
            </a:r>
            <a:r>
              <a:rPr b="1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text/plain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" or "*/*" as a last resort.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13" name="Line 5"/>
          <p:cNvSpPr/>
          <p:nvPr/>
        </p:nvSpPr>
        <p:spPr>
          <a:xfrm flipH="1">
            <a:off x="4171680" y="4976640"/>
            <a:ext cx="1104840" cy="1800"/>
          </a:xfrm>
          <a:prstGeom prst="line">
            <a:avLst/>
          </a:prstGeom>
          <a:ln cap="sq"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CustomShape 6"/>
          <p:cNvSpPr/>
          <p:nvPr/>
        </p:nvSpPr>
        <p:spPr>
          <a:xfrm>
            <a:off x="1189080" y="1279440"/>
            <a:ext cx="7771320" cy="394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 browser enter: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http://www.cpe.ku.ac.th/index.html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Request Methods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6" name="CustomShape 2"/>
          <p:cNvSpPr/>
          <p:nvPr/>
        </p:nvSpPr>
        <p:spPr>
          <a:xfrm>
            <a:off x="674280" y="1399680"/>
            <a:ext cx="7920720" cy="531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GET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get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the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resource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specified by URL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POST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send information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to server using body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may have side effects; not repeatable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PUT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save or update a resource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at the URL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used to create or update resource at URL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DELETE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delete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resource at the given URL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request info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about available options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HEAD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retrieve meta-information about URL</a:t>
            </a:r>
            <a:endParaRPr b="0" lang="en-US" sz="2400" spc="-1" strike="noStrike">
              <a:latin typeface="Arial"/>
            </a:endParaRPr>
          </a:p>
          <a:p>
            <a:pPr marL="2057400" indent="-189720">
              <a:lnSpc>
                <a:spcPct val="100000"/>
              </a:lnSpc>
              <a:spcBef>
                <a:spcPts val="44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(used by search engines &amp; web crawlers)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TRACE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trace request through the network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CONNECT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connect to another server; used by proxies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CustomShape 1"/>
          <p:cNvSpPr/>
          <p:nvPr/>
        </p:nvSpPr>
        <p:spPr>
          <a:xfrm>
            <a:off x="610920" y="259920"/>
            <a:ext cx="7909200" cy="853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Common Request Headers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8" name="CustomShape 2"/>
          <p:cNvSpPr/>
          <p:nvPr/>
        </p:nvSpPr>
        <p:spPr>
          <a:xfrm>
            <a:off x="776160" y="5303520"/>
            <a:ext cx="7909560" cy="1281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006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w3schools.net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and </a:t>
            </a:r>
            <a:r>
              <a:rPr b="0" lang="en-US" sz="2400" spc="-1" strike="noStrike">
                <a:solidFill>
                  <a:srgbClr val="ce181e"/>
                </a:solidFill>
                <a:latin typeface="Arial"/>
                <a:ea typeface="DejaVu Sans"/>
              </a:rPr>
              <a:t>httpwatch.com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have a longer list.</a:t>
            </a:r>
            <a:endParaRPr b="0" lang="en-US" sz="2400" spc="-1" strike="noStrike">
              <a:latin typeface="Arial"/>
            </a:endParaRPr>
          </a:p>
          <a:p>
            <a:pPr marL="342720" indent="-3006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RFC2616: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http://www.w3.org/Protocols/rfc2616/rfc2616.html</a:t>
            </a:r>
            <a:endParaRPr b="0" lang="en-US" sz="2000" spc="-1" strike="noStrike">
              <a:latin typeface="Arial"/>
            </a:endParaRPr>
          </a:p>
          <a:p>
            <a:pPr marL="342720" indent="-3006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19" name="CustomShape 3"/>
          <p:cNvSpPr/>
          <p:nvPr/>
        </p:nvSpPr>
        <p:spPr>
          <a:xfrm>
            <a:off x="798480" y="1316160"/>
            <a:ext cx="7430040" cy="3796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342720" indent="-300600">
              <a:lnSpc>
                <a:spcPct val="100000"/>
              </a:lnSpc>
              <a:spcBef>
                <a:spcPts val="887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Accept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text/html,application/xhtml+xml,text/plain</a:t>
            </a:r>
            <a:endParaRPr b="0" lang="en-US" sz="2400" spc="-1" strike="noStrike">
              <a:latin typeface="Arial"/>
            </a:endParaRPr>
          </a:p>
          <a:p>
            <a:pPr marL="342720" indent="-300600">
              <a:lnSpc>
                <a:spcPct val="100000"/>
              </a:lnSpc>
              <a:spcBef>
                <a:spcPts val="887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Accept-Language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 en-US,en-GB;q=0.5</a:t>
            </a:r>
            <a:endParaRPr b="0" lang="en-US" sz="2400" spc="-1" strike="noStrike">
              <a:latin typeface="Arial"/>
            </a:endParaRPr>
          </a:p>
          <a:p>
            <a:pPr marL="342720" indent="-300600">
              <a:lnSpc>
                <a:spcPct val="100000"/>
              </a:lnSpc>
              <a:spcBef>
                <a:spcPts val="887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Accept-Encoding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 gzip, deflate</a:t>
            </a:r>
            <a:endParaRPr b="0" lang="en-US" sz="2400" spc="-1" strike="noStrike">
              <a:latin typeface="Arial"/>
            </a:endParaRPr>
          </a:p>
          <a:p>
            <a:pPr marL="342720" indent="-300600">
              <a:lnSpc>
                <a:spcPct val="100000"/>
              </a:lnSpc>
              <a:spcBef>
                <a:spcPts val="887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Host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www.google.com </a:t>
            </a:r>
            <a:endParaRPr b="0" lang="en-US" sz="2400" spc="-1" strike="noStrike">
              <a:latin typeface="Arial"/>
            </a:endParaRPr>
          </a:p>
          <a:p>
            <a:pPr marL="342720" indent="-300600">
              <a:lnSpc>
                <a:spcPct val="100000"/>
              </a:lnSpc>
              <a:spcBef>
                <a:spcPts val="887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User-Agent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Mozilla/5.0</a:t>
            </a:r>
            <a:endParaRPr b="0" lang="en-US" sz="2400" spc="-1" strike="noStrike">
              <a:latin typeface="Arial"/>
            </a:endParaRPr>
          </a:p>
          <a:p>
            <a:pPr marL="342720" indent="-300600">
              <a:lnSpc>
                <a:spcPct val="100000"/>
              </a:lnSpc>
              <a:spcBef>
                <a:spcPts val="887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Content-Type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multipart/form-data  (for POST)</a:t>
            </a:r>
            <a:endParaRPr b="0" lang="en-US" sz="2400" spc="-1" strike="noStrike">
              <a:latin typeface="Arial"/>
            </a:endParaRPr>
          </a:p>
          <a:p>
            <a:pPr marL="342720" indent="-300600">
              <a:lnSpc>
                <a:spcPct val="100000"/>
              </a:lnSpc>
              <a:spcBef>
                <a:spcPts val="887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Content-Length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2048     (for POST and PUT)</a:t>
            </a:r>
            <a:endParaRPr b="0" lang="en-US" sz="2400" spc="-1" strike="noStrike">
              <a:latin typeface="Arial"/>
            </a:endParaRPr>
          </a:p>
          <a:p>
            <a:pPr marL="342720" indent="-300600">
              <a:lnSpc>
                <a:spcPct val="100000"/>
              </a:lnSpc>
              <a:spcBef>
                <a:spcPts val="887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X-Powered-By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: Godzilla    (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X-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=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custom headers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20" name="CustomShape 4"/>
          <p:cNvSpPr/>
          <p:nvPr/>
        </p:nvSpPr>
        <p:spPr>
          <a:xfrm>
            <a:off x="7954920" y="1371600"/>
            <a:ext cx="548280" cy="273600"/>
          </a:xfrm>
          <a:custGeom>
            <a:avLst/>
            <a:gdLst/>
            <a:ahLst/>
            <a:rect l="l" t="t" r="r" b="b"/>
            <a:pathLst>
              <a:path w="1528" h="765">
                <a:moveTo>
                  <a:pt x="1527" y="191"/>
                </a:moveTo>
                <a:lnTo>
                  <a:pt x="381" y="191"/>
                </a:lnTo>
                <a:lnTo>
                  <a:pt x="381" y="0"/>
                </a:lnTo>
                <a:lnTo>
                  <a:pt x="0" y="382"/>
                </a:lnTo>
                <a:lnTo>
                  <a:pt x="381" y="764"/>
                </a:lnTo>
                <a:lnTo>
                  <a:pt x="381" y="573"/>
                </a:lnTo>
                <a:lnTo>
                  <a:pt x="1527" y="573"/>
                </a:lnTo>
                <a:lnTo>
                  <a:pt x="1527" y="191"/>
                </a:lnTo>
              </a:path>
            </a:pathLst>
          </a:custGeom>
          <a:solidFill>
            <a:srgbClr val="729fcf"/>
          </a:solidFill>
          <a:ln w="936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Response Example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22" name="CustomShape 2"/>
          <p:cNvSpPr/>
          <p:nvPr/>
        </p:nvSpPr>
        <p:spPr>
          <a:xfrm>
            <a:off x="1143000" y="1447920"/>
            <a:ext cx="7268040" cy="4859640"/>
          </a:xfrm>
          <a:prstGeom prst="rect">
            <a:avLst/>
          </a:prstGeom>
          <a:noFill/>
          <a:ln cap="sq" w="12600">
            <a:solidFill>
              <a:srgbClr val="0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HTTP/1.1 200 OK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Date: Mon, 28 Jul 2019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Server: Apache/2.2.24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Keep-Alive: timeout=5,max=100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Content-Type: text/html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dd4814"/>
                </a:solidFill>
                <a:latin typeface="Courier New"/>
                <a:ea typeface="DejaVu Sans"/>
              </a:rPr>
              <a:t>Content-Length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: 240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&lt;html&gt;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&lt;head&gt;</a:t>
            </a:r>
            <a:r>
              <a:rPr b="1" i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header fields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&lt;/head&gt;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&lt;body&gt;content of the page&lt;/body&gt;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&lt;/html&gt;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23" name="CustomShape 3"/>
          <p:cNvSpPr/>
          <p:nvPr/>
        </p:nvSpPr>
        <p:spPr>
          <a:xfrm>
            <a:off x="5029200" y="3929040"/>
            <a:ext cx="3107160" cy="641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Blank Line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(CR) indicates end of headers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4" name="Line 4"/>
          <p:cNvSpPr/>
          <p:nvPr/>
        </p:nvSpPr>
        <p:spPr>
          <a:xfrm flipH="1">
            <a:off x="3965400" y="4206960"/>
            <a:ext cx="1105200" cy="1440"/>
          </a:xfrm>
          <a:prstGeom prst="line">
            <a:avLst/>
          </a:prstGeom>
          <a:ln cap="sq"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CustomShape 1"/>
          <p:cNvSpPr/>
          <p:nvPr/>
        </p:nvSpPr>
        <p:spPr>
          <a:xfrm>
            <a:off x="1143000" y="3962520"/>
            <a:ext cx="6856920" cy="913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no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DATA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6" name="CustomShape 2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HTTP Response Format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27" name="CustomShape 3"/>
          <p:cNvSpPr/>
          <p:nvPr/>
        </p:nvSpPr>
        <p:spPr>
          <a:xfrm>
            <a:off x="1143000" y="1447560"/>
            <a:ext cx="6855480" cy="3427920"/>
          </a:xfrm>
          <a:prstGeom prst="rect">
            <a:avLst/>
          </a:pr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80"/>
                </a:solidFill>
                <a:latin typeface="Lucida Sans Unicode"/>
                <a:ea typeface="DejaVu Sans"/>
              </a:rPr>
              <a:t>HTTP/1.1</a:t>
            </a: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  </a:t>
            </a:r>
            <a:r>
              <a:rPr b="1" lang="en-US" sz="2000" spc="-1" strike="noStrike">
                <a:solidFill>
                  <a:srgbClr val="333399"/>
                </a:solidFill>
                <a:latin typeface="Lucida Sans Unicode"/>
                <a:ea typeface="DejaVu Sans"/>
              </a:rPr>
              <a:t>200  OK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Date: Tue 31 Aug 09:23:01 ICT 2019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Server: Apache/2.2.24 (Linux)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Last-Modified: 28 Aug 08:00:00 ICT 2019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Content-Length: 2408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Content-type: text/html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28" name="CustomShape 4"/>
          <p:cNvSpPr/>
          <p:nvPr/>
        </p:nvSpPr>
        <p:spPr>
          <a:xfrm>
            <a:off x="532800" y="5039280"/>
            <a:ext cx="7360200" cy="967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i="1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First Line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: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Protocol   StatusCode  Status-Msg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              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HTTP/1.1   200        OK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29" name="Line 5"/>
          <p:cNvSpPr/>
          <p:nvPr/>
        </p:nvSpPr>
        <p:spPr>
          <a:xfrm flipV="1">
            <a:off x="731520" y="1645920"/>
            <a:ext cx="0" cy="347472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Line 6"/>
          <p:cNvSpPr/>
          <p:nvPr/>
        </p:nvSpPr>
        <p:spPr>
          <a:xfrm flipH="1">
            <a:off x="731520" y="1701360"/>
            <a:ext cx="548640" cy="0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CustomShape 1"/>
          <p:cNvSpPr/>
          <p:nvPr/>
        </p:nvSpPr>
        <p:spPr>
          <a:xfrm>
            <a:off x="1143000" y="3962520"/>
            <a:ext cx="6856920" cy="913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no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DATA (16400 Bytes)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2" name="CustomShape 2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Response Content-Length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33" name="CustomShape 3"/>
          <p:cNvSpPr/>
          <p:nvPr/>
        </p:nvSpPr>
        <p:spPr>
          <a:xfrm>
            <a:off x="1143000" y="1447560"/>
            <a:ext cx="6855480" cy="3427920"/>
          </a:xfrm>
          <a:prstGeom prst="rect">
            <a:avLst/>
          </a:pr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HTTP/1.1  </a:t>
            </a:r>
            <a:r>
              <a:rPr b="1" lang="en-US" sz="2000" spc="-1" strike="noStrike">
                <a:solidFill>
                  <a:srgbClr val="333399"/>
                </a:solidFill>
                <a:latin typeface="Lucida Sans Unicode"/>
                <a:ea typeface="DejaVu Sans"/>
              </a:rPr>
              <a:t>200  OK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Date: Tue 31 Aug 09:23:01 ICT 2019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Server: Apache/2.2.24 (Linux)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Last-Modified: 28 Aug 08:00:00 ICT 2019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Content-Length: </a:t>
            </a:r>
            <a:r>
              <a:rPr b="1" lang="en-US" sz="2000" spc="-1" strike="noStrike">
                <a:solidFill>
                  <a:srgbClr val="0000ff"/>
                </a:solidFill>
                <a:latin typeface="Lucida Sans Unicode"/>
                <a:ea typeface="DejaVu Sans"/>
              </a:rPr>
              <a:t>16400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Content-type: image/jpeg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34" name="CustomShape 4"/>
          <p:cNvSpPr/>
          <p:nvPr/>
        </p:nvSpPr>
        <p:spPr>
          <a:xfrm>
            <a:off x="1143000" y="5029200"/>
            <a:ext cx="7177680" cy="145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For </a:t>
            </a:r>
            <a:r>
              <a:rPr b="0" lang="en-US" sz="2000" spc="-1" strike="noStrike">
                <a:solidFill>
                  <a:srgbClr val="000080"/>
                </a:solidFill>
                <a:latin typeface="Arial"/>
                <a:ea typeface="Arial"/>
              </a:rPr>
              <a:t>persistent connections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, client needs to know </a:t>
            </a:r>
            <a:r>
              <a:rPr b="0" lang="en-US" sz="2000" spc="-1" strike="noStrike" u="sng">
                <a:solidFill>
                  <a:srgbClr val="000000"/>
                </a:solidFill>
                <a:uFillTx/>
                <a:latin typeface="Arial"/>
                <a:ea typeface="Arial"/>
              </a:rPr>
              <a:t>how much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n-US" sz="2000" spc="-1" strike="noStrike" u="sng">
                <a:solidFill>
                  <a:srgbClr val="000000"/>
                </a:solidFill>
                <a:uFillTx/>
                <a:latin typeface="Arial"/>
                <a:ea typeface="Arial"/>
              </a:rPr>
              <a:t>data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 is in the response.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Example: server sends a JPEG file    How many bytes is it?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Arial"/>
                <a:ea typeface="Arial"/>
              </a:rPr>
              <a:t>Client uses the </a:t>
            </a:r>
            <a:r>
              <a:rPr b="1" lang="en-US" sz="2000" spc="-1" strike="noStrike">
                <a:solidFill>
                  <a:srgbClr val="333399"/>
                </a:solidFill>
                <a:latin typeface="Courier New"/>
                <a:ea typeface="Arial"/>
              </a:rPr>
              <a:t>Content-Length</a:t>
            </a:r>
            <a:r>
              <a:rPr b="1" lang="en-US" sz="2000" spc="-1" strike="noStrike">
                <a:solidFill>
                  <a:srgbClr val="333399"/>
                </a:solidFill>
                <a:latin typeface="Arial"/>
                <a:ea typeface="Arial"/>
              </a:rPr>
              <a:t> header.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CustomShape 1"/>
          <p:cNvSpPr/>
          <p:nvPr/>
        </p:nvSpPr>
        <p:spPr>
          <a:xfrm>
            <a:off x="1143000" y="3962520"/>
            <a:ext cx="6856920" cy="913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>
            <a:no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DATA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6" name="CustomShape 2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Unknown Content Length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37" name="CustomShape 3"/>
          <p:cNvSpPr/>
          <p:nvPr/>
        </p:nvSpPr>
        <p:spPr>
          <a:xfrm>
            <a:off x="1143000" y="1447560"/>
            <a:ext cx="6855480" cy="3427920"/>
          </a:xfrm>
          <a:prstGeom prst="rect">
            <a:avLst/>
          </a:pr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HTTP/1.1 </a:t>
            </a:r>
            <a:r>
              <a:rPr b="1" lang="en-US" sz="2000" spc="-1" strike="noStrike">
                <a:solidFill>
                  <a:srgbClr val="333399"/>
                </a:solidFill>
                <a:latin typeface="Lucida Sans Unicode"/>
                <a:ea typeface="DejaVu Sans"/>
              </a:rPr>
              <a:t>200 OK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Date: Tue 31 Aug 09:23:01 ICT 2019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Server: Apache/2.2.24 (Linux)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Last-Modified: 28 Aug 08:00:00 ICT 2019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333399"/>
                </a:solidFill>
                <a:latin typeface="Lucida Sans Unicode"/>
                <a:ea typeface="DejaVu Sans"/>
              </a:rPr>
              <a:t>Connection: close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Content-type: image/jpeg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38" name="CustomShape 4"/>
          <p:cNvSpPr/>
          <p:nvPr/>
        </p:nvSpPr>
        <p:spPr>
          <a:xfrm>
            <a:off x="1143000" y="5029200"/>
            <a:ext cx="6780600" cy="1598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If content length is not known by server, the server uses header "Connection: close".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After the response is sent, server </a:t>
            </a:r>
            <a:r>
              <a:rPr b="1" lang="en-US" sz="2000" spc="-1" strike="noStrike">
                <a:solidFill>
                  <a:srgbClr val="333399"/>
                </a:solidFill>
                <a:latin typeface="Arial"/>
                <a:ea typeface="Arial"/>
              </a:rPr>
              <a:t>closes the connection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Arial"/>
                <a:ea typeface="Arial"/>
              </a:rPr>
              <a:t>The client reads data until end-of-input (EOF).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9" name="Line 5"/>
          <p:cNvSpPr/>
          <p:nvPr/>
        </p:nvSpPr>
        <p:spPr>
          <a:xfrm flipV="1">
            <a:off x="1645920" y="3200400"/>
            <a:ext cx="0" cy="1920240"/>
          </a:xfrm>
          <a:prstGeom prst="line">
            <a:avLst/>
          </a:prstGeom>
          <a:ln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Response Codes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41" name="CustomShape 2"/>
          <p:cNvSpPr/>
          <p:nvPr/>
        </p:nvSpPr>
        <p:spPr>
          <a:xfrm>
            <a:off x="674280" y="1184400"/>
            <a:ext cx="7920720" cy="519480"/>
          </a:xfrm>
          <a:prstGeom prst="rect">
            <a:avLst/>
          </a:prstGeom>
          <a:noFill/>
          <a:ln cap="sq" w="936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HTTP/1.1 200 OK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2" name="CustomShape 3"/>
          <p:cNvSpPr/>
          <p:nvPr/>
        </p:nvSpPr>
        <p:spPr>
          <a:xfrm>
            <a:off x="730080" y="1743120"/>
            <a:ext cx="7863480" cy="4053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Response Codes: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1xx Information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100 Continue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2xx Success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200 OK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201 Created (a new resource was successfully created)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202 Accepted (I'll process your request later)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200" spc="-1" strike="noStrike">
                <a:solidFill>
                  <a:srgbClr val="000080"/>
                </a:solidFill>
                <a:latin typeface="Arial"/>
                <a:ea typeface="DejaVu Sans"/>
              </a:rPr>
              <a:t>3xx Redirection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301 Moved Permanently. New URL in 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  <a:ea typeface="DejaVu Sans"/>
              </a:rPr>
              <a:t>Location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 header.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302 Moved Temporarily. New URL in </a:t>
            </a:r>
            <a:r>
              <a:rPr b="0" lang="en-US" sz="2200" spc="-1" strike="noStrike">
                <a:solidFill>
                  <a:srgbClr val="000000"/>
                </a:solidFill>
                <a:latin typeface="Courier New"/>
                <a:ea typeface="DejaVu Sans"/>
              </a:rPr>
              <a:t>Location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 header.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303 Redirect and change POST to GET method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7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304 Not Modified ("</a:t>
            </a:r>
            <a:r>
              <a:rPr b="0" i="1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Look in your cache, stupid"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Error Response Codes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44" name="CustomShape 2"/>
          <p:cNvSpPr/>
          <p:nvPr/>
        </p:nvSpPr>
        <p:spPr>
          <a:xfrm>
            <a:off x="674280" y="1184040"/>
            <a:ext cx="7920720" cy="5366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4xx Client Error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400 Bad Request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401 Not Authorized (client not authorized to do this)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404 Not Found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5xx Server Error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500 Internal Server Error  (application error, config prob.)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503 Service Unavailable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List of all HTTP status codes: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http://stat.us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http://en.wikipedia.org/wiki/List_of_HTTP_status_codes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Why is "Host" header required?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46" name="CustomShape 2"/>
          <p:cNvSpPr/>
          <p:nvPr/>
        </p:nvSpPr>
        <p:spPr>
          <a:xfrm>
            <a:off x="1096920" y="2593800"/>
            <a:ext cx="7268040" cy="818280"/>
          </a:xfrm>
          <a:prstGeom prst="rect">
            <a:avLst/>
          </a:prstGeom>
          <a:noFill/>
          <a:ln cap="sq" w="12600">
            <a:solidFill>
              <a:srgbClr val="000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93000"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GET /index.html HTTP/1.1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ff"/>
                </a:solidFill>
                <a:latin typeface="Courier New"/>
                <a:ea typeface="DejaVu Sans"/>
              </a:rPr>
              <a:t>Host: www.ku.ac.th</a:t>
            </a: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347" name="CustomShape 3"/>
          <p:cNvSpPr/>
          <p:nvPr/>
        </p:nvSpPr>
        <p:spPr>
          <a:xfrm>
            <a:off x="1006560" y="3909960"/>
            <a:ext cx="7679160" cy="1551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ff0000"/>
                </a:solidFill>
                <a:latin typeface="Arial"/>
                <a:ea typeface="Arial"/>
              </a:rPr>
              <a:t>WHY?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Surely, the server must </a:t>
            </a:r>
            <a:r>
              <a:rPr b="0" lang="en-US" sz="2400" spc="-1" strike="noStrike">
                <a:solidFill>
                  <a:srgbClr val="ff0000"/>
                </a:solidFill>
                <a:latin typeface="Arial"/>
                <a:ea typeface="Arial"/>
              </a:rPr>
              <a:t>know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its </a:t>
            </a:r>
            <a:r>
              <a:rPr b="0" lang="en-US" sz="2400" spc="-1" strike="noStrike" u="sng">
                <a:solidFill>
                  <a:srgbClr val="ff0000"/>
                </a:solidFill>
                <a:uFillTx/>
                <a:latin typeface="Arial"/>
                <a:ea typeface="Arial"/>
              </a:rPr>
              <a:t>own</a:t>
            </a:r>
            <a:r>
              <a:rPr b="0" lang="en-US" sz="2400" spc="-1" strike="noStrike">
                <a:solidFill>
                  <a:srgbClr val="ff0000"/>
                </a:solidFill>
                <a:latin typeface="Arial"/>
                <a:ea typeface="Arial"/>
              </a:rPr>
              <a:t> host name!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…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or does it?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48" name="CustomShape 4"/>
          <p:cNvSpPr/>
          <p:nvPr/>
        </p:nvSpPr>
        <p:spPr>
          <a:xfrm>
            <a:off x="1096920" y="1341360"/>
            <a:ext cx="7588800" cy="394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 Requests always include a "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Host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 header.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is the name of the </a:t>
            </a:r>
            <a:r>
              <a:rPr b="0" i="1" lang="en-US" sz="2400" spc="-1" strike="noStrike" u="sng">
                <a:solidFill>
                  <a:srgbClr val="ff0000"/>
                </a:solidFill>
                <a:uFillTx/>
                <a:latin typeface="Arial"/>
                <a:ea typeface="DejaVu Sans"/>
              </a:rPr>
              <a:t>destination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host.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Uniform Resource Locators (URL)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50" name="CustomShape 2"/>
          <p:cNvSpPr/>
          <p:nvPr/>
        </p:nvSpPr>
        <p:spPr>
          <a:xfrm>
            <a:off x="609120" y="1447920"/>
            <a:ext cx="7920720" cy="18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 Uniform Resource Locators (URL) locate resources on the Internet (not just the web).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Structure of a URL: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351" name="CustomShape 3"/>
          <p:cNvSpPr/>
          <p:nvPr/>
        </p:nvSpPr>
        <p:spPr>
          <a:xfrm rot="5400000">
            <a:off x="1067760" y="3098520"/>
            <a:ext cx="227520" cy="608760"/>
          </a:xfrm>
          <a:custGeom>
            <a:avLst/>
            <a:gdLst/>
            <a:ahLst/>
            <a:rect l="l" t="t" r="r" b="b"/>
            <a:pathLst>
              <a:path w="637" h="1696">
                <a:moveTo>
                  <a:pt x="0" y="0"/>
                </a:moveTo>
                <a:cubicBezTo>
                  <a:pt x="159" y="0"/>
                  <a:pt x="318" y="70"/>
                  <a:pt x="318" y="141"/>
                </a:cubicBezTo>
                <a:lnTo>
                  <a:pt x="318" y="706"/>
                </a:lnTo>
                <a:cubicBezTo>
                  <a:pt x="318" y="776"/>
                  <a:pt x="477" y="847"/>
                  <a:pt x="636" y="847"/>
                </a:cubicBezTo>
                <a:cubicBezTo>
                  <a:pt x="477" y="847"/>
                  <a:pt x="318" y="918"/>
                  <a:pt x="318" y="988"/>
                </a:cubicBezTo>
                <a:lnTo>
                  <a:pt x="318" y="1553"/>
                </a:lnTo>
                <a:cubicBezTo>
                  <a:pt x="318" y="1624"/>
                  <a:pt x="159" y="1695"/>
                  <a:pt x="0" y="1695"/>
                </a:cubicBezTo>
              </a:path>
            </a:pathLst>
          </a:custGeom>
          <a:noFill/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CustomShape 4"/>
          <p:cNvSpPr/>
          <p:nvPr/>
        </p:nvSpPr>
        <p:spPr>
          <a:xfrm rot="5400000">
            <a:off x="3356280" y="1821960"/>
            <a:ext cx="216360" cy="3088440"/>
          </a:xfrm>
          <a:custGeom>
            <a:avLst/>
            <a:gdLst/>
            <a:ahLst/>
            <a:rect l="l" t="t" r="r" b="b"/>
            <a:pathLst>
              <a:path w="606" h="8584">
                <a:moveTo>
                  <a:pt x="0" y="0"/>
                </a:moveTo>
                <a:cubicBezTo>
                  <a:pt x="151" y="0"/>
                  <a:pt x="302" y="357"/>
                  <a:pt x="302" y="715"/>
                </a:cubicBezTo>
                <a:lnTo>
                  <a:pt x="302" y="3576"/>
                </a:lnTo>
                <a:cubicBezTo>
                  <a:pt x="302" y="3933"/>
                  <a:pt x="453" y="4291"/>
                  <a:pt x="605" y="4291"/>
                </a:cubicBezTo>
                <a:cubicBezTo>
                  <a:pt x="453" y="4291"/>
                  <a:pt x="302" y="4649"/>
                  <a:pt x="302" y="5006"/>
                </a:cubicBezTo>
                <a:lnTo>
                  <a:pt x="302" y="7867"/>
                </a:lnTo>
                <a:cubicBezTo>
                  <a:pt x="302" y="8225"/>
                  <a:pt x="151" y="8583"/>
                  <a:pt x="0" y="8583"/>
                </a:cubicBezTo>
              </a:path>
            </a:pathLst>
          </a:custGeom>
          <a:noFill/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CustomShape 5"/>
          <p:cNvSpPr/>
          <p:nvPr/>
        </p:nvSpPr>
        <p:spPr>
          <a:xfrm rot="5400000">
            <a:off x="6589080" y="1915920"/>
            <a:ext cx="181440" cy="2935440"/>
          </a:xfrm>
          <a:custGeom>
            <a:avLst/>
            <a:gdLst/>
            <a:ahLst/>
            <a:rect l="l" t="t" r="r" b="b"/>
            <a:pathLst>
              <a:path w="509" h="8667">
                <a:moveTo>
                  <a:pt x="0" y="0"/>
                </a:moveTo>
                <a:cubicBezTo>
                  <a:pt x="127" y="0"/>
                  <a:pt x="254" y="361"/>
                  <a:pt x="254" y="722"/>
                </a:cubicBezTo>
                <a:lnTo>
                  <a:pt x="254" y="3610"/>
                </a:lnTo>
                <a:cubicBezTo>
                  <a:pt x="254" y="3971"/>
                  <a:pt x="381" y="4333"/>
                  <a:pt x="508" y="4333"/>
                </a:cubicBezTo>
                <a:cubicBezTo>
                  <a:pt x="381" y="4333"/>
                  <a:pt x="254" y="4694"/>
                  <a:pt x="254" y="5055"/>
                </a:cubicBezTo>
                <a:lnTo>
                  <a:pt x="254" y="7943"/>
                </a:lnTo>
                <a:cubicBezTo>
                  <a:pt x="254" y="8304"/>
                  <a:pt x="127" y="8666"/>
                  <a:pt x="0" y="8666"/>
                </a:cubicBezTo>
              </a:path>
            </a:pathLst>
          </a:custGeom>
          <a:noFill/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CustomShape 6"/>
          <p:cNvSpPr/>
          <p:nvPr/>
        </p:nvSpPr>
        <p:spPr>
          <a:xfrm>
            <a:off x="793800" y="3652920"/>
            <a:ext cx="1398960" cy="1856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333399"/>
                </a:solidFill>
                <a:latin typeface="Arial"/>
                <a:ea typeface="Arial"/>
              </a:rPr>
              <a:t>Protocol: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Console"/>
                <a:ea typeface="Arial"/>
              </a:rPr>
              <a:t>http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Console"/>
                <a:ea typeface="Arial"/>
              </a:rPr>
              <a:t>ftp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Console"/>
                <a:ea typeface="Arial"/>
              </a:rPr>
              <a:t>jdbc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Console"/>
                <a:ea typeface="Arial"/>
              </a:rPr>
              <a:t>file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Console"/>
                <a:ea typeface="Arial"/>
              </a:rPr>
              <a:t>mysql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5" name="CustomShape 7"/>
          <p:cNvSpPr/>
          <p:nvPr/>
        </p:nvSpPr>
        <p:spPr>
          <a:xfrm>
            <a:off x="2271600" y="3652920"/>
            <a:ext cx="2848680" cy="1212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333399"/>
                </a:solidFill>
                <a:latin typeface="Arial"/>
                <a:ea typeface="Arial"/>
              </a:rPr>
              <a:t>Hostname and port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or IP address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Arial"/>
              </a:rPr>
              <a:t>Port is optional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356" name="CustomShape 8"/>
          <p:cNvSpPr/>
          <p:nvPr/>
        </p:nvSpPr>
        <p:spPr>
          <a:xfrm>
            <a:off x="5181480" y="3652920"/>
            <a:ext cx="3321720" cy="759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200" spc="-1" strike="noStrike">
                <a:solidFill>
                  <a:srgbClr val="333399"/>
                </a:solidFill>
                <a:latin typeface="Arial"/>
                <a:ea typeface="Arial"/>
              </a:rPr>
              <a:t>Path and resource name,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the path is optional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57" name="CustomShape 9"/>
          <p:cNvSpPr/>
          <p:nvPr/>
        </p:nvSpPr>
        <p:spPr>
          <a:xfrm>
            <a:off x="693720" y="2860560"/>
            <a:ext cx="7809480" cy="2989800"/>
          </a:xfrm>
          <a:prstGeom prst="rect">
            <a:avLst/>
          </a:pr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CustomShape 10"/>
          <p:cNvSpPr/>
          <p:nvPr/>
        </p:nvSpPr>
        <p:spPr>
          <a:xfrm>
            <a:off x="758880" y="2897280"/>
            <a:ext cx="7771320" cy="394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http://www.cpe.ku.ac.th:8080/~jim/dictionary.txt</a:t>
            </a:r>
            <a:endParaRPr b="0" lang="en-US" sz="2000" spc="-1" strike="noStrike"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CustomShape 1"/>
          <p:cNvSpPr/>
          <p:nvPr/>
        </p:nvSpPr>
        <p:spPr>
          <a:xfrm>
            <a:off x="610920" y="259920"/>
            <a:ext cx="77997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Uniform Resource Locator (URL)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60" name="CustomShape 2"/>
          <p:cNvSpPr/>
          <p:nvPr/>
        </p:nvSpPr>
        <p:spPr>
          <a:xfrm>
            <a:off x="876240" y="1447560"/>
            <a:ext cx="7390440" cy="989280"/>
          </a:xfrm>
          <a:prstGeom prst="rect">
            <a:avLst/>
          </a:pr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http://www.cpe.ku.ac.th/forms/junk.html? 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name=jim%40.cpe.ku.ac.th&amp;msgid=0x4412858798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61" name="CustomShape 3"/>
          <p:cNvSpPr/>
          <p:nvPr/>
        </p:nvSpPr>
        <p:spPr>
          <a:xfrm>
            <a:off x="536400" y="2438280"/>
            <a:ext cx="792072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333399"/>
                </a:solidFill>
                <a:latin typeface="Arial"/>
                <a:ea typeface="Arial"/>
              </a:rPr>
              <a:t>General Form of a Uniform Resource Location (URL)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Console"/>
                <a:ea typeface="Arial"/>
              </a:rPr>
              <a:t>http://www.cpe.ku.ac.th:80/~jim/images/cat.jpg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62" name="CustomShape 4"/>
          <p:cNvSpPr/>
          <p:nvPr/>
        </p:nvSpPr>
        <p:spPr>
          <a:xfrm rot="5400000">
            <a:off x="812160" y="3214440"/>
            <a:ext cx="227520" cy="608760"/>
          </a:xfrm>
          <a:custGeom>
            <a:avLst/>
            <a:gdLst/>
            <a:ahLst/>
            <a:rect l="l" t="t" r="r" b="b"/>
            <a:pathLst>
              <a:path w="637" h="1696">
                <a:moveTo>
                  <a:pt x="0" y="0"/>
                </a:moveTo>
                <a:cubicBezTo>
                  <a:pt x="159" y="0"/>
                  <a:pt x="318" y="70"/>
                  <a:pt x="318" y="141"/>
                </a:cubicBezTo>
                <a:lnTo>
                  <a:pt x="318" y="706"/>
                </a:lnTo>
                <a:cubicBezTo>
                  <a:pt x="318" y="776"/>
                  <a:pt x="477" y="847"/>
                  <a:pt x="636" y="847"/>
                </a:cubicBezTo>
                <a:cubicBezTo>
                  <a:pt x="477" y="847"/>
                  <a:pt x="318" y="918"/>
                  <a:pt x="318" y="988"/>
                </a:cubicBezTo>
                <a:lnTo>
                  <a:pt x="318" y="1553"/>
                </a:lnTo>
                <a:cubicBezTo>
                  <a:pt x="318" y="1624"/>
                  <a:pt x="159" y="1695"/>
                  <a:pt x="0" y="1695"/>
                </a:cubicBezTo>
              </a:path>
            </a:pathLst>
          </a:custGeom>
          <a:noFill/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CustomShape 5"/>
          <p:cNvSpPr/>
          <p:nvPr/>
        </p:nvSpPr>
        <p:spPr>
          <a:xfrm rot="5400000">
            <a:off x="2716920" y="2298960"/>
            <a:ext cx="303840" cy="2513520"/>
          </a:xfrm>
          <a:custGeom>
            <a:avLst/>
            <a:gdLst/>
            <a:ahLst/>
            <a:rect l="l" t="t" r="r" b="b"/>
            <a:pathLst>
              <a:path w="849" h="6987">
                <a:moveTo>
                  <a:pt x="0" y="0"/>
                </a:moveTo>
                <a:cubicBezTo>
                  <a:pt x="212" y="0"/>
                  <a:pt x="424" y="291"/>
                  <a:pt x="424" y="582"/>
                </a:cubicBezTo>
                <a:lnTo>
                  <a:pt x="424" y="2910"/>
                </a:lnTo>
                <a:cubicBezTo>
                  <a:pt x="424" y="3201"/>
                  <a:pt x="636" y="3493"/>
                  <a:pt x="848" y="3493"/>
                </a:cubicBezTo>
                <a:cubicBezTo>
                  <a:pt x="636" y="3493"/>
                  <a:pt x="424" y="3784"/>
                  <a:pt x="424" y="4075"/>
                </a:cubicBezTo>
                <a:lnTo>
                  <a:pt x="424" y="6403"/>
                </a:lnTo>
                <a:cubicBezTo>
                  <a:pt x="424" y="6694"/>
                  <a:pt x="212" y="6986"/>
                  <a:pt x="0" y="6986"/>
                </a:cubicBezTo>
              </a:path>
            </a:pathLst>
          </a:custGeom>
          <a:noFill/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64" name="CustomShape 6"/>
          <p:cNvSpPr/>
          <p:nvPr/>
        </p:nvSpPr>
        <p:spPr>
          <a:xfrm rot="5400000">
            <a:off x="6260400" y="1881000"/>
            <a:ext cx="227520" cy="3275640"/>
          </a:xfrm>
          <a:custGeom>
            <a:avLst/>
            <a:gdLst/>
            <a:ahLst/>
            <a:rect l="l" t="t" r="r" b="b"/>
            <a:pathLst>
              <a:path w="637" h="9104">
                <a:moveTo>
                  <a:pt x="0" y="0"/>
                </a:moveTo>
                <a:cubicBezTo>
                  <a:pt x="159" y="0"/>
                  <a:pt x="318" y="379"/>
                  <a:pt x="318" y="758"/>
                </a:cubicBezTo>
                <a:lnTo>
                  <a:pt x="318" y="3792"/>
                </a:lnTo>
                <a:cubicBezTo>
                  <a:pt x="318" y="4172"/>
                  <a:pt x="477" y="4551"/>
                  <a:pt x="636" y="4551"/>
                </a:cubicBezTo>
                <a:cubicBezTo>
                  <a:pt x="477" y="4551"/>
                  <a:pt x="318" y="4930"/>
                  <a:pt x="318" y="5310"/>
                </a:cubicBezTo>
                <a:lnTo>
                  <a:pt x="318" y="8344"/>
                </a:lnTo>
                <a:cubicBezTo>
                  <a:pt x="318" y="8723"/>
                  <a:pt x="159" y="9103"/>
                  <a:pt x="0" y="9103"/>
                </a:cubicBezTo>
              </a:path>
            </a:pathLst>
          </a:custGeom>
          <a:noFill/>
          <a:ln cap="sq"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CustomShape 7"/>
          <p:cNvSpPr/>
          <p:nvPr/>
        </p:nvSpPr>
        <p:spPr>
          <a:xfrm>
            <a:off x="458640" y="3733920"/>
            <a:ext cx="1369080" cy="973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Tahoma"/>
                <a:ea typeface="Tahoma"/>
              </a:rPr>
              <a:t>Protocol: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Console"/>
                <a:ea typeface="Tahoma"/>
              </a:rPr>
              <a:t>http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Console"/>
                <a:ea typeface="Tahoma"/>
              </a:rPr>
              <a:t>ftp,</a:t>
            </a: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Tahoma"/>
              </a:rPr>
              <a:t>...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66" name="CustomShape 8"/>
          <p:cNvSpPr/>
          <p:nvPr/>
        </p:nvSpPr>
        <p:spPr>
          <a:xfrm>
            <a:off x="1982880" y="3733920"/>
            <a:ext cx="1675080" cy="973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Tahoma"/>
                <a:ea typeface="Tahoma"/>
              </a:rPr>
              <a:t>Authority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Tahoma"/>
              </a:rPr>
              <a:t>hostname or IP address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67" name="CustomShape 9"/>
          <p:cNvSpPr/>
          <p:nvPr/>
        </p:nvSpPr>
        <p:spPr>
          <a:xfrm>
            <a:off x="5335560" y="3657600"/>
            <a:ext cx="2818440" cy="973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Tahoma"/>
                <a:ea typeface="Tahoma"/>
              </a:rPr>
              <a:t>Path and resource name,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ahoma"/>
                <a:ea typeface="Tahoma"/>
              </a:rPr>
              <a:t>the path is optional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68" name="CustomShape 10"/>
          <p:cNvSpPr/>
          <p:nvPr/>
        </p:nvSpPr>
        <p:spPr>
          <a:xfrm>
            <a:off x="4116240" y="3657600"/>
            <a:ext cx="684720" cy="698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333399"/>
                </a:solidFill>
                <a:latin typeface="Tahoma"/>
                <a:ea typeface="Tahoma"/>
              </a:rPr>
              <a:t>Port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369" name="Line 11"/>
          <p:cNvSpPr/>
          <p:nvPr/>
        </p:nvSpPr>
        <p:spPr>
          <a:xfrm flipV="1">
            <a:off x="4421160" y="3147840"/>
            <a:ext cx="1440" cy="56232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CustomShape 12"/>
          <p:cNvSpPr/>
          <p:nvPr/>
        </p:nvSpPr>
        <p:spPr>
          <a:xfrm>
            <a:off x="533520" y="4800600"/>
            <a:ext cx="7920360" cy="175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URL Details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72" name="CustomShape 2"/>
          <p:cNvSpPr/>
          <p:nvPr/>
        </p:nvSpPr>
        <p:spPr>
          <a:xfrm>
            <a:off x="458640" y="2835360"/>
            <a:ext cx="8319240" cy="175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Path Parameters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- extra info in path segment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Console"/>
                <a:ea typeface="Arial"/>
              </a:rPr>
              <a:t>http://finger.com/person</a:t>
            </a:r>
            <a:r>
              <a:rPr b="0" lang="en-US" sz="2400" spc="-1" strike="noStrike">
                <a:solidFill>
                  <a:srgbClr val="800000"/>
                </a:solidFill>
                <a:latin typeface="Lucida Console"/>
                <a:ea typeface="Arial"/>
              </a:rPr>
              <a:t>;</a:t>
            </a:r>
            <a:r>
              <a:rPr b="0" lang="en-US" sz="2400" spc="-1" strike="noStrike" u="sng">
                <a:solidFill>
                  <a:srgbClr val="800000"/>
                </a:solidFill>
                <a:uFillTx/>
                <a:latin typeface="Lucida Console"/>
                <a:ea typeface="Arial"/>
              </a:rPr>
              <a:t>name=joe</a:t>
            </a:r>
            <a:r>
              <a:rPr b="0" lang="en-US" sz="2000" spc="-1" strike="noStrike">
                <a:solidFill>
                  <a:srgbClr val="000000"/>
                </a:solidFill>
                <a:latin typeface="Lucida Console"/>
                <a:ea typeface="Arial"/>
              </a:rPr>
              <a:t>/telephone</a:t>
            </a:r>
            <a:r>
              <a:rPr b="0" lang="en-US" sz="2400" spc="-1" strike="noStrike">
                <a:solidFill>
                  <a:srgbClr val="800000"/>
                </a:solidFill>
                <a:latin typeface="Lucida Console"/>
                <a:ea typeface="Arial"/>
              </a:rPr>
              <a:t>;</a:t>
            </a:r>
            <a:r>
              <a:rPr b="0" lang="en-US" sz="2400" spc="-1" strike="noStrike" u="sng">
                <a:solidFill>
                  <a:srgbClr val="800000"/>
                </a:solidFill>
                <a:uFillTx/>
                <a:latin typeface="Lucida Console"/>
                <a:ea typeface="Arial"/>
              </a:rPr>
              <a:t>co=th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373" name="CustomShape 3"/>
          <p:cNvSpPr/>
          <p:nvPr/>
        </p:nvSpPr>
        <p:spPr>
          <a:xfrm>
            <a:off x="458640" y="4191120"/>
            <a:ext cx="8317440" cy="175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Query Parameters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- used for GET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http://host.com/adduser.cgi</a:t>
            </a:r>
            <a:r>
              <a:rPr b="1" lang="en-US" sz="2400" spc="-1" strike="noStrike" u="sng">
                <a:solidFill>
                  <a:srgbClr val="800000"/>
                </a:solidFill>
                <a:uFillTx/>
                <a:latin typeface="Courier New"/>
                <a:ea typeface="Arial"/>
              </a:rPr>
              <a:t>?</a:t>
            </a:r>
            <a:r>
              <a:rPr b="1" i="1" lang="en-US" sz="2400" spc="-1" strike="noStrike" u="sng">
                <a:solidFill>
                  <a:srgbClr val="800000"/>
                </a:solidFill>
                <a:uFillTx/>
                <a:latin typeface="Courier New"/>
                <a:ea typeface="Arial"/>
              </a:rPr>
              <a:t>name=joe&amp;age=23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374" name="CustomShape 4"/>
          <p:cNvSpPr/>
          <p:nvPr/>
        </p:nvSpPr>
        <p:spPr>
          <a:xfrm>
            <a:off x="490680" y="1355760"/>
            <a:ext cx="7920360" cy="175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Encode special characters using </a:t>
            </a:r>
            <a:r>
              <a:rPr b="1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%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"http://host.com/web svc"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 becomes: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http://host.com/web</a:t>
            </a:r>
            <a:r>
              <a:rPr b="1" lang="en-US" sz="2400" spc="-1" strike="noStrike">
                <a:solidFill>
                  <a:srgbClr val="800000"/>
                </a:solidFill>
                <a:latin typeface="Courier New"/>
                <a:ea typeface="Arial"/>
              </a:rPr>
              <a:t>%20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Arial"/>
              </a:rPr>
              <a:t>svc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CustomShape 1"/>
          <p:cNvSpPr/>
          <p:nvPr/>
        </p:nvSpPr>
        <p:spPr>
          <a:xfrm>
            <a:off x="610920" y="259920"/>
            <a:ext cx="77997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URL for File, URL with user info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76" name="CustomShape 2"/>
          <p:cNvSpPr/>
          <p:nvPr/>
        </p:nvSpPr>
        <p:spPr>
          <a:xfrm>
            <a:off x="536400" y="1935000"/>
            <a:ext cx="8149320" cy="1354680"/>
          </a:xfrm>
          <a:prstGeom prst="rect">
            <a:avLst/>
          </a:pr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894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80"/>
                </a:solidFill>
                <a:latin typeface="Courier New"/>
                <a:ea typeface="DejaVu Sans"/>
              </a:rPr>
              <a:t>file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:///home/me/workspace/unittesting/fraction.py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You can omit "//" since there is no host: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80"/>
                </a:solidFill>
                <a:latin typeface="Courier New"/>
                <a:ea typeface="DejaVu Sans"/>
              </a:rPr>
              <a:t>file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:/home/me/workspace/unittesting/fraction.py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7" name="CustomShape 3"/>
          <p:cNvSpPr/>
          <p:nvPr/>
        </p:nvSpPr>
        <p:spPr>
          <a:xfrm>
            <a:off x="536400" y="1322280"/>
            <a:ext cx="792072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Use a web browser to open a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FILE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on your computer: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378" name="CustomShape 4"/>
          <p:cNvSpPr/>
          <p:nvPr/>
        </p:nvSpPr>
        <p:spPr>
          <a:xfrm>
            <a:off x="549360" y="4187880"/>
            <a:ext cx="8148960" cy="1022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marL="342720" indent="-2894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protocol://</a:t>
            </a:r>
            <a:r>
              <a:rPr b="1" lang="en-US" sz="2000" spc="-1" strike="noStrike">
                <a:solidFill>
                  <a:srgbClr val="000080"/>
                </a:solidFill>
                <a:latin typeface="Courier New"/>
                <a:ea typeface="Arial"/>
              </a:rPr>
              <a:t>username:password@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hostname/...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http://</a:t>
            </a:r>
            <a:r>
              <a:rPr b="1" lang="en-US" sz="2000" spc="-1" strike="noStrike">
                <a:solidFill>
                  <a:srgbClr val="000080"/>
                </a:solidFill>
                <a:latin typeface="Courier New"/>
                <a:ea typeface="Arial"/>
              </a:rPr>
              <a:t>jim@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cpe.ku.ac.th/something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79" name="CustomShape 5"/>
          <p:cNvSpPr/>
          <p:nvPr/>
        </p:nvSpPr>
        <p:spPr>
          <a:xfrm>
            <a:off x="549360" y="3575160"/>
            <a:ext cx="7920360" cy="538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May include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Arial"/>
              </a:rPr>
              <a:t>user info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in a URL: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80" name="CustomShape 6"/>
          <p:cNvSpPr/>
          <p:nvPr/>
        </p:nvSpPr>
        <p:spPr>
          <a:xfrm>
            <a:off x="549360" y="5864400"/>
            <a:ext cx="8148960" cy="565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marL="342720" indent="-2894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mysql://</a:t>
            </a:r>
            <a:r>
              <a:rPr b="1" lang="en-US" sz="2000" spc="-1" strike="noStrike" u="sng">
                <a:solidFill>
                  <a:srgbClr val="000080"/>
                </a:solidFill>
                <a:uFillTx/>
                <a:latin typeface="Courier New"/>
                <a:ea typeface="Arial"/>
              </a:rPr>
              <a:t>myuser:mypassword@</a:t>
            </a:r>
            <a:r>
              <a:rPr b="1" lang="en-US" sz="2000" spc="-1" strike="noStrike">
                <a:solidFill>
                  <a:srgbClr val="000000"/>
                </a:solidFill>
                <a:latin typeface="Courier New"/>
                <a:ea typeface="Arial"/>
              </a:rPr>
              <a:t>hostname/mydatabase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81" name="CustomShape 7"/>
          <p:cNvSpPr/>
          <p:nvPr/>
        </p:nvSpPr>
        <p:spPr>
          <a:xfrm>
            <a:off x="549360" y="5251320"/>
            <a:ext cx="7920360" cy="53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URL for database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 (Django dj-database-url uses this):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CustomShape 1"/>
          <p:cNvSpPr/>
          <p:nvPr/>
        </p:nvSpPr>
        <p:spPr>
          <a:xfrm>
            <a:off x="457200" y="274680"/>
            <a:ext cx="8228520" cy="86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Command Line HTTP Tools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83" name="CustomShape 2"/>
          <p:cNvSpPr/>
          <p:nvPr/>
        </p:nvSpPr>
        <p:spPr>
          <a:xfrm>
            <a:off x="457200" y="1371240"/>
            <a:ext cx="8228520" cy="531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128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Sometimes you want to use HTTP from command line</a:t>
            </a:r>
            <a:endParaRPr b="0" lang="en-US" sz="2400" spc="-1" strike="noStrike">
              <a:latin typeface="Arial"/>
            </a:endParaRPr>
          </a:p>
          <a:p>
            <a:pPr marL="34128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03120" indent="-29412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0"/>
                <a:tab algn="l" pos="33948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80"/>
                </a:solidFill>
                <a:latin typeface="Arial"/>
                <a:ea typeface="DejaVu Sans"/>
              </a:rPr>
              <a:t>curl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- command line HTTP client (from Unix)</a:t>
            </a:r>
            <a:endParaRPr b="0" lang="en-US" sz="2400" spc="-1" strike="noStrike">
              <a:latin typeface="Arial"/>
            </a:endParaRPr>
          </a:p>
          <a:p>
            <a:pPr marL="320400" indent="-2941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03120" indent="-29412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0"/>
                <a:tab algn="l" pos="33948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80"/>
                </a:solidFill>
                <a:latin typeface="Arial"/>
                <a:ea typeface="DejaVu Sans"/>
              </a:rPr>
              <a:t>netcat (nc)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- send TCP or UDP,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listen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for TCP or UDP</a:t>
            </a:r>
            <a:endParaRPr b="0" lang="en-US" sz="2400" spc="-1" strike="noStrike">
              <a:latin typeface="Arial"/>
            </a:endParaRPr>
          </a:p>
          <a:p>
            <a:pPr marL="334800" indent="-286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03120" indent="-29412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0"/>
                <a:tab algn="l" pos="33948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800" spc="-1" strike="noStrike">
                <a:solidFill>
                  <a:srgbClr val="000080"/>
                </a:solidFill>
                <a:latin typeface="Arial"/>
                <a:ea typeface="DejaVu Sans"/>
              </a:rPr>
              <a:t>telnet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- primitive way to access any TCP port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3948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  <a:p>
            <a:pPr marL="303120" indent="-29412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0"/>
                <a:tab algn="l" pos="339480"/>
                <a:tab algn="l" pos="353880"/>
                <a:tab algn="l" pos="712440"/>
                <a:tab algn="l" pos="1071360"/>
                <a:tab algn="l" pos="1430280"/>
                <a:tab algn="l" pos="1788840"/>
                <a:tab algn="l" pos="2147760"/>
                <a:tab algn="l" pos="2506320"/>
                <a:tab algn="l" pos="2865240"/>
                <a:tab algn="l" pos="3224160"/>
                <a:tab algn="l" pos="3582720"/>
                <a:tab algn="l" pos="3941640"/>
                <a:tab algn="l" pos="4300200"/>
                <a:tab algn="l" pos="4659120"/>
                <a:tab algn="l" pos="5018040"/>
                <a:tab algn="l" pos="5376600"/>
                <a:tab algn="l" pos="5735520"/>
                <a:tab algn="l" pos="6094080"/>
                <a:tab algn="l" pos="6453000"/>
                <a:tab algn="l" pos="6811920"/>
                <a:tab algn="l" pos="7170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wget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- Download a web page, resource, or entire tree.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(Used by Zuckerberg in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Social Network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movie.)</a:t>
            </a:r>
            <a:endParaRPr b="0" lang="en-US" sz="2400" spc="-1" strike="noStrike">
              <a:latin typeface="Arial"/>
            </a:endParaRPr>
          </a:p>
          <a:p>
            <a:pPr marL="334800" indent="-286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128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128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CustomShape 1"/>
          <p:cNvSpPr/>
          <p:nvPr/>
        </p:nvSpPr>
        <p:spPr>
          <a:xfrm>
            <a:off x="610920" y="260280"/>
            <a:ext cx="7884000" cy="82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ce181e"/>
                </a:solidFill>
                <a:latin typeface="Arial"/>
                <a:ea typeface="DejaVu Sans"/>
              </a:rPr>
              <a:t>Exercises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85" name="CustomShape 2"/>
          <p:cNvSpPr/>
          <p:nvPr/>
        </p:nvSpPr>
        <p:spPr>
          <a:xfrm>
            <a:off x="674280" y="1399680"/>
            <a:ext cx="7884000" cy="4426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25800" algn="ctr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End of the HTTP basic slides.</a:t>
            </a:r>
            <a:endParaRPr b="0" lang="en-US" sz="2800" spc="-1" strike="noStrike">
              <a:latin typeface="Arial"/>
            </a:endParaRPr>
          </a:p>
          <a:p>
            <a:pPr marL="342720" indent="-325800" algn="ctr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342720" indent="-325800" algn="ctr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 the exercises described in class, </a:t>
            </a:r>
            <a:br/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or see the "</a:t>
            </a:r>
            <a:r>
              <a:rPr b="0" i="1" lang="en-US" sz="2800" spc="-1" strike="noStrike">
                <a:solidFill>
                  <a:srgbClr val="000080"/>
                </a:solidFill>
                <a:latin typeface="Arial"/>
                <a:ea typeface="DejaVu Sans"/>
              </a:rPr>
              <a:t>HTTP-in-Action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" slides.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CustomShape 1"/>
          <p:cNvSpPr/>
          <p:nvPr/>
        </p:nvSpPr>
        <p:spPr>
          <a:xfrm>
            <a:off x="610920" y="260280"/>
            <a:ext cx="7869600" cy="81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Questions</a:t>
            </a:r>
            <a:endParaRPr b="0" lang="en-US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CustomShape 1"/>
          <p:cNvSpPr/>
          <p:nvPr/>
        </p:nvSpPr>
        <p:spPr>
          <a:xfrm>
            <a:off x="610920" y="260280"/>
            <a:ext cx="7869600" cy="81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Host name --&gt; IP Address?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88" name="CustomShape 2"/>
          <p:cNvSpPr/>
          <p:nvPr/>
        </p:nvSpPr>
        <p:spPr>
          <a:xfrm>
            <a:off x="674640" y="1399680"/>
            <a:ext cx="7869960" cy="441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40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Internet uses IP addresses to send packets.</a:t>
            </a:r>
            <a:endParaRPr b="0" lang="en-US" sz="2400" spc="-1" strike="noStrike">
              <a:latin typeface="Arial"/>
            </a:endParaRPr>
          </a:p>
          <a:p>
            <a:pPr marL="342720" indent="-340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40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But we enter names like "mail.google.com".</a:t>
            </a:r>
            <a:endParaRPr b="0" lang="en-US" sz="2400" spc="-1" strike="noStrike">
              <a:latin typeface="Arial"/>
            </a:endParaRPr>
          </a:p>
          <a:p>
            <a:pPr marL="342720" indent="-340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40200" algn="ctr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ff0000"/>
                </a:solidFill>
                <a:latin typeface="Arial"/>
                <a:ea typeface="DejaVu Sans"/>
              </a:rPr>
              <a:t>How does the computer know what address to use for "mail.google.com"?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CustomShape 1"/>
          <p:cNvSpPr/>
          <p:nvPr/>
        </p:nvSpPr>
        <p:spPr>
          <a:xfrm>
            <a:off x="610920" y="260280"/>
            <a:ext cx="7869600" cy="81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IP Address --&gt; Hostname?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90" name="CustomShape 2"/>
          <p:cNvSpPr/>
          <p:nvPr/>
        </p:nvSpPr>
        <p:spPr>
          <a:xfrm>
            <a:off x="674640" y="1399680"/>
            <a:ext cx="7869960" cy="441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40200" algn="ctr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 your web application log file, you see many attempted logins from 93.174.93.33.</a:t>
            </a:r>
            <a:endParaRPr b="0" lang="en-US" sz="2800" spc="-1" strike="noStrike">
              <a:latin typeface="Arial"/>
            </a:endParaRPr>
          </a:p>
          <a:p>
            <a:pPr marL="342720" indent="-340200" algn="ctr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marL="342720" indent="-340200" algn="ctr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ff0000"/>
                </a:solidFill>
                <a:latin typeface="Arial"/>
                <a:ea typeface="DejaVu Sans"/>
              </a:rPr>
              <a:t>How can you determine who owns this address, and where it is?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CustomShape 1"/>
          <p:cNvSpPr/>
          <p:nvPr/>
        </p:nvSpPr>
        <p:spPr>
          <a:xfrm>
            <a:off x="610920" y="260280"/>
            <a:ext cx="7869600" cy="81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207200"/>
                <a:tab algn="l" pos="756756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How do they know this?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92" name="CustomShape 2"/>
          <p:cNvSpPr/>
          <p:nvPr/>
        </p:nvSpPr>
        <p:spPr>
          <a:xfrm>
            <a:off x="723600" y="1279440"/>
            <a:ext cx="7869600" cy="10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40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When I visit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https://ipinfo.io</a:t>
            </a:r>
            <a:endParaRPr b="0" lang="en-US" sz="2400" spc="-1" strike="noStrike">
              <a:latin typeface="Arial"/>
            </a:endParaRPr>
          </a:p>
          <a:p>
            <a:pPr marL="342720" indent="-3402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replies...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393" name="" descr=""/>
          <p:cNvPicPr/>
          <p:nvPr/>
        </p:nvPicPr>
        <p:blipFill>
          <a:blip r:embed="rId1"/>
          <a:stretch/>
        </p:blipFill>
        <p:spPr>
          <a:xfrm>
            <a:off x="4022640" y="2008080"/>
            <a:ext cx="3682080" cy="4574160"/>
          </a:xfrm>
          <a:prstGeom prst="rect">
            <a:avLst/>
          </a:prstGeom>
          <a:ln>
            <a:noFill/>
          </a:ln>
        </p:spPr>
      </p:pic>
      <p:sp>
        <p:nvSpPr>
          <p:cNvPr id="394" name="CustomShape 3"/>
          <p:cNvSpPr/>
          <p:nvPr/>
        </p:nvSpPr>
        <p:spPr>
          <a:xfrm>
            <a:off x="274680" y="3565440"/>
            <a:ext cx="3656520" cy="2284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357120"/>
                <a:tab algn="l" pos="715680"/>
                <a:tab algn="l" pos="1074600"/>
                <a:tab algn="l" pos="1433160"/>
                <a:tab algn="l" pos="1792080"/>
                <a:tab algn="l" pos="2151000"/>
                <a:tab algn="l" pos="2509560"/>
                <a:tab algn="l" pos="2868480"/>
                <a:tab algn="l" pos="3227040"/>
                <a:tab algn="l" pos="3585960"/>
                <a:tab algn="l" pos="3944880"/>
                <a:tab algn="l" pos="4303440"/>
                <a:tab algn="l" pos="4662360"/>
                <a:tab algn="l" pos="5020920"/>
                <a:tab algn="l" pos="5379840"/>
                <a:tab algn="l" pos="5738760"/>
                <a:tab algn="l" pos="6097320"/>
                <a:tab algn="l" pos="6456240"/>
                <a:tab algn="l" pos="6814800"/>
                <a:tab algn="l" pos="7173720"/>
                <a:tab algn="l" pos="7175160"/>
                <a:tab algn="l" pos="7534080"/>
                <a:tab algn="l" pos="7893000"/>
                <a:tab algn="l" pos="8251560"/>
                <a:tab algn="l" pos="8610480"/>
                <a:tab algn="l" pos="8969040"/>
                <a:tab algn="l" pos="9327960"/>
                <a:tab algn="l" pos="9686880"/>
                <a:tab algn="l" pos="10045440"/>
                <a:tab algn="l" pos="10404360"/>
                <a:tab algn="l" pos="10762920"/>
              </a:tabLst>
            </a:pPr>
            <a:r>
              <a:rPr b="0" i="1" lang="en-US" sz="2800" spc="-1" strike="noStrike">
                <a:solidFill>
                  <a:srgbClr val="ff0000"/>
                </a:solidFill>
                <a:latin typeface="Arial"/>
                <a:ea typeface="DejaVu Sans"/>
              </a:rPr>
              <a:t>How do they know this stuff?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CustomShape 1"/>
          <p:cNvSpPr/>
          <p:nvPr/>
        </p:nvSpPr>
        <p:spPr>
          <a:xfrm>
            <a:off x="610920" y="260280"/>
            <a:ext cx="7885440" cy="82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Optional Material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96" name="CustomShape 2"/>
          <p:cNvSpPr/>
          <p:nvPr/>
        </p:nvSpPr>
        <p:spPr>
          <a:xfrm>
            <a:off x="674640" y="1400040"/>
            <a:ext cx="7885800" cy="442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24360" algn="ctr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Stuff you aren't required to know.</a:t>
            </a:r>
            <a:endParaRPr b="0" lang="en-US" sz="2400" spc="-1" strike="noStrike">
              <a:latin typeface="Arial"/>
            </a:endParaRPr>
          </a:p>
          <a:p>
            <a:pPr marL="342720" indent="-324360" algn="ctr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24360" algn="ctr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Do the "HTTP in Action" exercises first.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"GET" in HTML Forms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98" name="CustomShape 2"/>
          <p:cNvSpPr/>
          <p:nvPr/>
        </p:nvSpPr>
        <p:spPr>
          <a:xfrm>
            <a:off x="674280" y="1399680"/>
            <a:ext cx="7920720" cy="126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Two methods of sending data from HTML forms to Web server: GET and POST.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GET puts all form data in the URL.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399" name="CustomShape 3"/>
          <p:cNvSpPr/>
          <p:nvPr/>
        </p:nvSpPr>
        <p:spPr>
          <a:xfrm>
            <a:off x="609480" y="2743200"/>
            <a:ext cx="7920720" cy="205632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&lt;HTML&gt;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Here is my form: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&lt;FORM ACTION=”/cgi-bin/parse.cgi” METHOD=”</a:t>
            </a:r>
            <a:r>
              <a:rPr b="1" lang="en-US" sz="1800" spc="-1" strike="noStrike">
                <a:solidFill>
                  <a:srgbClr val="000080"/>
                </a:solidFill>
                <a:latin typeface="Lucida Sans Unicode"/>
                <a:ea typeface="Arial"/>
              </a:rPr>
              <a:t>GET</a:t>
            </a: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”&gt;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Your name:&lt;INPUT TYPE=text NAME="Name"&gt;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&lt;BR&gt;&lt;INPUT TYPE=checkbox NAME="SpamMe"&gt; Want spam?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&lt;/FORM&gt;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00" name="CustomShape 4"/>
          <p:cNvSpPr/>
          <p:nvPr/>
        </p:nvSpPr>
        <p:spPr>
          <a:xfrm>
            <a:off x="609480" y="5257800"/>
            <a:ext cx="7920720" cy="1324440"/>
          </a:xfrm>
          <a:prstGeom prst="rect">
            <a:avLst/>
          </a:pr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GET /cgi-bin/parse.cgi?Name=Jim+Brucker&amp;SpamMe=yes HTTP/1.1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Host: register.seo.com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Accept: text/html, text/plain, ...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01" name="CustomShape 5"/>
          <p:cNvSpPr/>
          <p:nvPr/>
        </p:nvSpPr>
        <p:spPr>
          <a:xfrm>
            <a:off x="4419720" y="4800600"/>
            <a:ext cx="456120" cy="456120"/>
          </a:xfrm>
          <a:custGeom>
            <a:avLst/>
            <a:gdLst/>
            <a:ahLst/>
            <a:rect l="l" t="t" r="r" b="b"/>
            <a:pathLst>
              <a:path w="1272" h="1272">
                <a:moveTo>
                  <a:pt x="317" y="0"/>
                </a:moveTo>
                <a:lnTo>
                  <a:pt x="317" y="953"/>
                </a:lnTo>
                <a:lnTo>
                  <a:pt x="0" y="953"/>
                </a:lnTo>
                <a:lnTo>
                  <a:pt x="635" y="1271"/>
                </a:lnTo>
                <a:lnTo>
                  <a:pt x="1271" y="953"/>
                </a:lnTo>
                <a:lnTo>
                  <a:pt x="953" y="953"/>
                </a:lnTo>
                <a:lnTo>
                  <a:pt x="953" y="0"/>
                </a:lnTo>
                <a:lnTo>
                  <a:pt x="317" y="0"/>
                </a:lnTo>
              </a:path>
            </a:pathLst>
          </a:custGeom>
          <a:solidFill>
            <a:srgbClr val="6699ff"/>
          </a:solidFill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"POST" in HTML Forms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03" name="CustomShape 2"/>
          <p:cNvSpPr/>
          <p:nvPr/>
        </p:nvSpPr>
        <p:spPr>
          <a:xfrm>
            <a:off x="674280" y="1399680"/>
            <a:ext cx="7920720" cy="126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POST puts the form data in the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body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of the HTTP request.  POST can transfer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more data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than GET.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04" name="CustomShape 3"/>
          <p:cNvSpPr/>
          <p:nvPr/>
        </p:nvSpPr>
        <p:spPr>
          <a:xfrm>
            <a:off x="609480" y="2362320"/>
            <a:ext cx="7920720" cy="205632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&lt;HTML&gt;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Here is my form: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&lt;FORM ACTION=”/cgi-bin/parse.cgi” METHOD=”</a:t>
            </a:r>
            <a:r>
              <a:rPr b="1" lang="en-US" sz="1800" spc="-1" strike="noStrike">
                <a:solidFill>
                  <a:srgbClr val="000080"/>
                </a:solidFill>
                <a:latin typeface="Lucida Sans Unicode"/>
                <a:ea typeface="Arial"/>
              </a:rPr>
              <a:t>POST</a:t>
            </a: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”&gt;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Your name:&lt;INPUT TYPE=text NAME="Name"&gt;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&lt;BR&gt;&lt;INPUT TYPE=checkbox NAME="SpamMe"&gt; Want spam?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&lt;/FORM&gt;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05" name="CustomShape 4"/>
          <p:cNvSpPr/>
          <p:nvPr/>
        </p:nvSpPr>
        <p:spPr>
          <a:xfrm>
            <a:off x="609480" y="4876920"/>
            <a:ext cx="7920720" cy="1797480"/>
          </a:xfrm>
          <a:prstGeom prst="rect">
            <a:avLst/>
          </a:prstGeom>
          <a:noFill/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POST /cgi-bin/parse.cgi  HTTP/1.1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Host: register.seo.com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Name=Jim+Brucker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Lucida Sans Unicode"/>
                <a:ea typeface="Arial"/>
              </a:rPr>
              <a:t>SpamMe=yes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06" name="CustomShape 5"/>
          <p:cNvSpPr/>
          <p:nvPr/>
        </p:nvSpPr>
        <p:spPr>
          <a:xfrm>
            <a:off x="4343400" y="4419720"/>
            <a:ext cx="456120" cy="456120"/>
          </a:xfrm>
          <a:custGeom>
            <a:avLst/>
            <a:gdLst/>
            <a:ahLst/>
            <a:rect l="l" t="t" r="r" b="b"/>
            <a:pathLst>
              <a:path w="1272" h="1272">
                <a:moveTo>
                  <a:pt x="317" y="0"/>
                </a:moveTo>
                <a:lnTo>
                  <a:pt x="317" y="953"/>
                </a:lnTo>
                <a:lnTo>
                  <a:pt x="0" y="953"/>
                </a:lnTo>
                <a:lnTo>
                  <a:pt x="635" y="1271"/>
                </a:lnTo>
                <a:lnTo>
                  <a:pt x="1271" y="953"/>
                </a:lnTo>
                <a:lnTo>
                  <a:pt x="953" y="953"/>
                </a:lnTo>
                <a:lnTo>
                  <a:pt x="953" y="0"/>
                </a:lnTo>
                <a:lnTo>
                  <a:pt x="317" y="0"/>
                </a:lnTo>
              </a:path>
            </a:pathLst>
          </a:custGeom>
          <a:solidFill>
            <a:srgbClr val="6699ff"/>
          </a:solidFill>
          <a:ln cap="sq" w="936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Implementing State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08" name="CustomShape 2"/>
          <p:cNvSpPr/>
          <p:nvPr/>
        </p:nvSpPr>
        <p:spPr>
          <a:xfrm>
            <a:off x="674280" y="1399680"/>
            <a:ext cx="7920720" cy="446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90160" indent="-2890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 is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stateless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So, how can web server remember (identify) a client?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How can server remember what page you are on?</a:t>
            </a:r>
            <a:endParaRPr b="0" lang="en-US" sz="2400" spc="-1" strike="noStrike">
              <a:latin typeface="Arial"/>
            </a:endParaRPr>
          </a:p>
          <a:p>
            <a:pPr marL="3283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How to Implement State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10" name="CustomShape 2"/>
          <p:cNvSpPr/>
          <p:nvPr/>
        </p:nvSpPr>
        <p:spPr>
          <a:xfrm>
            <a:off x="674280" y="1399680"/>
            <a:ext cx="7920720" cy="446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3624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3 common ways:</a:t>
            </a:r>
            <a:endParaRPr b="0" lang="en-US" sz="2400" spc="-1" strike="noStrike">
              <a:latin typeface="Arial"/>
            </a:endParaRPr>
          </a:p>
          <a:p>
            <a:pPr marL="298440" indent="-29736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Font typeface="Arial"/>
              <a:buAutoNum type="arabicPeriod"/>
              <a:tabLst>
                <a:tab algn="l" pos="0"/>
                <a:tab algn="l" pos="334800"/>
                <a:tab algn="l" pos="349200"/>
                <a:tab algn="l" pos="707760"/>
                <a:tab algn="l" pos="1066680"/>
                <a:tab algn="l" pos="1425240"/>
                <a:tab algn="l" pos="1784160"/>
                <a:tab algn="l" pos="2143080"/>
                <a:tab algn="l" pos="2501640"/>
                <a:tab algn="l" pos="2860560"/>
                <a:tab algn="l" pos="3219120"/>
                <a:tab algn="l" pos="3578040"/>
                <a:tab algn="l" pos="3936960"/>
                <a:tab algn="l" pos="4295520"/>
                <a:tab algn="l" pos="4654440"/>
                <a:tab algn="l" pos="5013000"/>
                <a:tab algn="l" pos="5371920"/>
                <a:tab algn="l" pos="5730840"/>
                <a:tab algn="l" pos="6089400"/>
                <a:tab algn="l" pos="6448320"/>
                <a:tab algn="l" pos="6806880"/>
                <a:tab algn="l" pos="716580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Hidden fields</a:t>
            </a:r>
            <a:endParaRPr b="0" lang="en-US" sz="2400" spc="-1" strike="noStrike">
              <a:latin typeface="Arial"/>
            </a:endParaRPr>
          </a:p>
          <a:p>
            <a:pPr marL="336240" indent="-289440">
              <a:lnSpc>
                <a:spcPct val="100000"/>
              </a:lnSpc>
              <a:spcBef>
                <a:spcPts val="2837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&lt;form method=”GET”&gt;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&lt;input type=”hidden” name=”id” value=”123456789”&gt;</a:t>
            </a:r>
            <a:endParaRPr b="0" lang="en-US" sz="2400" spc="-1" strike="noStrike">
              <a:latin typeface="Arial"/>
            </a:endParaRPr>
          </a:p>
          <a:p>
            <a:pPr marL="298440" indent="-29736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Font typeface="Arial"/>
              <a:buAutoNum type="arabicPeriod" startAt="2"/>
              <a:tabLst>
                <a:tab algn="l" pos="0"/>
                <a:tab algn="l" pos="334800"/>
                <a:tab algn="l" pos="349200"/>
                <a:tab algn="l" pos="707760"/>
                <a:tab algn="l" pos="1066680"/>
                <a:tab algn="l" pos="1425240"/>
                <a:tab algn="l" pos="1784160"/>
                <a:tab algn="l" pos="2143080"/>
                <a:tab algn="l" pos="2501640"/>
                <a:tab algn="l" pos="2860560"/>
                <a:tab algn="l" pos="3219120"/>
                <a:tab algn="l" pos="3578040"/>
                <a:tab algn="l" pos="3936960"/>
                <a:tab algn="l" pos="4295520"/>
                <a:tab algn="l" pos="4654440"/>
                <a:tab algn="l" pos="5013000"/>
                <a:tab algn="l" pos="5371920"/>
                <a:tab algn="l" pos="5730840"/>
                <a:tab algn="l" pos="6089400"/>
                <a:tab algn="l" pos="6448320"/>
                <a:tab algn="l" pos="6806880"/>
                <a:tab algn="l" pos="716580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Path parameters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or custom URL</a:t>
            </a:r>
            <a:endParaRPr b="0" lang="en-US" sz="2400" spc="-1" strike="noStrike">
              <a:latin typeface="Arial"/>
            </a:endParaRPr>
          </a:p>
          <a:p>
            <a:pPr marL="298440" indent="-29736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Font typeface="Arial"/>
              <a:buAutoNum type="arabicPeriod"/>
              <a:tabLst>
                <a:tab algn="l" pos="0"/>
                <a:tab algn="l" pos="334800"/>
                <a:tab algn="l" pos="349200"/>
                <a:tab algn="l" pos="707760"/>
                <a:tab algn="l" pos="1066680"/>
                <a:tab algn="l" pos="1425240"/>
                <a:tab algn="l" pos="1784160"/>
                <a:tab algn="l" pos="2143080"/>
                <a:tab algn="l" pos="2501640"/>
                <a:tab algn="l" pos="2860560"/>
                <a:tab algn="l" pos="3219120"/>
                <a:tab algn="l" pos="3578040"/>
                <a:tab algn="l" pos="3936960"/>
                <a:tab algn="l" pos="4295520"/>
                <a:tab algn="l" pos="4654440"/>
                <a:tab algn="l" pos="5013000"/>
                <a:tab algn="l" pos="5371920"/>
                <a:tab algn="l" pos="5730840"/>
                <a:tab algn="l" pos="6089400"/>
                <a:tab algn="l" pos="6448320"/>
                <a:tab algn="l" pos="6806880"/>
                <a:tab algn="l" pos="716580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Cookies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  In HTTP response, server adds header:</a:t>
            </a:r>
            <a:endParaRPr b="0" lang="en-US" sz="2400" spc="-1" strike="noStrike">
              <a:latin typeface="Arial"/>
            </a:endParaRPr>
          </a:p>
          <a:p>
            <a:pPr marL="336240" indent="-289440">
              <a:lnSpc>
                <a:spcPct val="100000"/>
              </a:lnSpc>
              <a:spcBef>
                <a:spcPts val="2837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Set-cookie: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asderwq3498sdfkwrdfiuq235947dasd</a:t>
            </a:r>
            <a:endParaRPr b="0" lang="en-US" sz="2400" spc="-1" strike="noStrike">
              <a:latin typeface="Arial"/>
            </a:endParaRPr>
          </a:p>
          <a:p>
            <a:pPr marL="33624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Exercise: View your Cookies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12" name="CustomShape 2"/>
          <p:cNvSpPr/>
          <p:nvPr/>
        </p:nvSpPr>
        <p:spPr>
          <a:xfrm>
            <a:off x="674280" y="1399680"/>
            <a:ext cx="7920720" cy="446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Look at some cookies in your browser cache.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information is included in a cookie?</a:t>
            </a:r>
            <a:endParaRPr b="0" lang="en-US" sz="2400" spc="-1" strike="noStrike">
              <a:latin typeface="Arial"/>
            </a:endParaRPr>
          </a:p>
          <a:p>
            <a:pPr marL="325080" indent="-2890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283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Firefox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: Preferences → Privacy → Remove Individual Cookies</a:t>
            </a:r>
            <a:endParaRPr b="0" lang="en-US" sz="2400" spc="-1" strike="noStrike">
              <a:latin typeface="Arial"/>
            </a:endParaRPr>
          </a:p>
          <a:p>
            <a:pPr marL="3283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283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Chrome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: Settings → Show Advanced → [Content Settings] button → [All Cookies and Site Data]</a:t>
            </a:r>
            <a:endParaRPr b="0" lang="en-US" sz="2400" spc="-1" strike="noStrike">
              <a:latin typeface="Arial"/>
            </a:endParaRPr>
          </a:p>
          <a:p>
            <a:pPr marL="3283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283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Why does Chrome make cookies </a:t>
            </a: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so hard to find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CustomShape 1"/>
          <p:cNvSpPr/>
          <p:nvPr/>
        </p:nvSpPr>
        <p:spPr>
          <a:xfrm>
            <a:off x="274680" y="259920"/>
            <a:ext cx="8593560" cy="85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8648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Exercise: How many requests per page?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14" name="CustomShape 2"/>
          <p:cNvSpPr/>
          <p:nvPr/>
        </p:nvSpPr>
        <p:spPr>
          <a:xfrm>
            <a:off x="674640" y="1399680"/>
            <a:ext cx="7911000" cy="499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988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1. Open Chrome  More Tools  -&gt;  Developer Tools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(also works in Brave, maybe in Edge)</a:t>
            </a:r>
            <a:endParaRPr b="0" lang="en-US" sz="2400" spc="-1" strike="noStrike">
              <a:latin typeface="Arial"/>
            </a:endParaRPr>
          </a:p>
          <a:p>
            <a:pPr marL="342720" indent="-2988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2. Select the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Network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tab.</a:t>
            </a:r>
            <a:endParaRPr b="0" lang="en-US" sz="2400" spc="-1" strike="noStrike">
              <a:latin typeface="Arial"/>
            </a:endParaRPr>
          </a:p>
          <a:p>
            <a:pPr marL="342720" indent="-2988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3. In a normal Chrome browser window, visit any site.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Try: cnn.com     www.cpe.ku.ac.th</a:t>
            </a:r>
            <a:endParaRPr b="0" lang="en-US" sz="2400" spc="-1" strike="noStrike">
              <a:latin typeface="Arial"/>
            </a:endParaRPr>
          </a:p>
          <a:p>
            <a:pPr marL="342720" indent="-298800">
              <a:lnSpc>
                <a:spcPct val="100000"/>
              </a:lnSpc>
              <a:spcBef>
                <a:spcPts val="227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ff0000"/>
                </a:solidFill>
                <a:latin typeface="Arial"/>
                <a:ea typeface="DejaVu Sans"/>
              </a:rPr>
              <a:t>How many requests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did the browser send?</a:t>
            </a:r>
            <a:endParaRPr b="0" lang="en-US" sz="2400" spc="-1" strike="noStrike">
              <a:latin typeface="Arial"/>
            </a:endParaRPr>
          </a:p>
          <a:p>
            <a:pPr marL="342720" indent="-2988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Why so many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? </a:t>
            </a:r>
            <a:endParaRPr b="0" lang="en-US" sz="2400" spc="-1" strike="noStrike">
              <a:latin typeface="Arial"/>
            </a:endParaRPr>
          </a:p>
          <a:p>
            <a:pPr marL="342720" indent="-2988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988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Note: Look at the </a:t>
            </a: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timeline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of requests. Does the browser wait for a reply before sending next request?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ustomShape 1"/>
          <p:cNvSpPr/>
          <p:nvPr/>
        </p:nvSpPr>
        <p:spPr>
          <a:xfrm>
            <a:off x="611280" y="260280"/>
            <a:ext cx="7874280" cy="81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Traffic to load page "cnn.com"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416" name="" descr=""/>
          <p:cNvPicPr/>
          <p:nvPr/>
        </p:nvPicPr>
        <p:blipFill>
          <a:blip r:embed="rId1"/>
          <a:stretch/>
        </p:blipFill>
        <p:spPr>
          <a:xfrm>
            <a:off x="225360" y="1378080"/>
            <a:ext cx="8370000" cy="5386680"/>
          </a:xfrm>
          <a:prstGeom prst="rect">
            <a:avLst/>
          </a:prstGeom>
          <a:ln>
            <a:noFill/>
          </a:ln>
        </p:spPr>
      </p:pic>
      <p:sp>
        <p:nvSpPr>
          <p:cNvPr id="417" name="CustomShape 2"/>
          <p:cNvSpPr/>
          <p:nvPr/>
        </p:nvSpPr>
        <p:spPr>
          <a:xfrm>
            <a:off x="611280" y="995400"/>
            <a:ext cx="7709400" cy="394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72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178+ requests to get a single page.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CustomShape 1"/>
          <p:cNvSpPr/>
          <p:nvPr/>
        </p:nvSpPr>
        <p:spPr>
          <a:xfrm>
            <a:off x="610920" y="259920"/>
            <a:ext cx="7917120" cy="86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Tools for a Single Request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19" name="CustomShape 2"/>
          <p:cNvSpPr/>
          <p:nvPr/>
        </p:nvSpPr>
        <p:spPr>
          <a:xfrm>
            <a:off x="674640" y="1399680"/>
            <a:ext cx="7917480" cy="509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34800" indent="-28476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Sometimes we want to...</a:t>
            </a:r>
            <a:endParaRPr b="0" lang="en-US" sz="2400" spc="-1" strike="noStrike">
              <a:latin typeface="Arial"/>
            </a:endParaRPr>
          </a:p>
          <a:p>
            <a:pPr marL="303120" indent="-294120">
              <a:lnSpc>
                <a:spcPct val="100000"/>
              </a:lnSpc>
              <a:spcBef>
                <a:spcPts val="1423"/>
              </a:spcBef>
              <a:buClr>
                <a:srgbClr val="333399"/>
              </a:buClr>
              <a:buFont typeface="Wingdings" charset="2"/>
              <a:buChar char=""/>
              <a:tabLst>
                <a:tab algn="l" pos="0"/>
                <a:tab algn="l" pos="333360"/>
                <a:tab algn="l" pos="347400"/>
                <a:tab algn="l" pos="706320"/>
                <a:tab algn="l" pos="1064880"/>
                <a:tab algn="l" pos="1423800"/>
                <a:tab algn="l" pos="1782720"/>
                <a:tab algn="l" pos="2141280"/>
                <a:tab algn="l" pos="2500200"/>
                <a:tab algn="l" pos="2858760"/>
                <a:tab algn="l" pos="3217680"/>
                <a:tab algn="l" pos="3576600"/>
                <a:tab algn="l" pos="3935160"/>
                <a:tab algn="l" pos="4294080"/>
                <a:tab algn="l" pos="4652640"/>
                <a:tab algn="l" pos="5011560"/>
                <a:tab algn="l" pos="5370480"/>
                <a:tab algn="l" pos="5729040"/>
                <a:tab algn="l" pos="6087960"/>
                <a:tab algn="l" pos="6446520"/>
                <a:tab algn="l" pos="6805440"/>
                <a:tab algn="l" pos="716436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manually create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&amp;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send an HTTP request (for testing)</a:t>
            </a:r>
            <a:endParaRPr b="0" lang="en-US" sz="2400" spc="-1" strike="noStrike">
              <a:latin typeface="Arial"/>
            </a:endParaRPr>
          </a:p>
          <a:p>
            <a:pPr marL="303120" indent="-294120">
              <a:lnSpc>
                <a:spcPct val="100000"/>
              </a:lnSpc>
              <a:spcBef>
                <a:spcPts val="1423"/>
              </a:spcBef>
              <a:buClr>
                <a:srgbClr val="333399"/>
              </a:buClr>
              <a:buFont typeface="Wingdings" charset="2"/>
              <a:buChar char=""/>
              <a:tabLst>
                <a:tab algn="l" pos="0"/>
                <a:tab algn="l" pos="333360"/>
                <a:tab algn="l" pos="347400"/>
                <a:tab algn="l" pos="706320"/>
                <a:tab algn="l" pos="1064880"/>
                <a:tab algn="l" pos="1423800"/>
                <a:tab algn="l" pos="1782720"/>
                <a:tab algn="l" pos="2141280"/>
                <a:tab algn="l" pos="2500200"/>
                <a:tab algn="l" pos="2858760"/>
                <a:tab algn="l" pos="3217680"/>
                <a:tab algn="l" pos="3576600"/>
                <a:tab algn="l" pos="3935160"/>
                <a:tab algn="l" pos="4294080"/>
                <a:tab algn="l" pos="4652640"/>
                <a:tab algn="l" pos="5011560"/>
                <a:tab algn="l" pos="5370480"/>
                <a:tab algn="l" pos="5729040"/>
                <a:tab algn="l" pos="6087960"/>
                <a:tab algn="l" pos="6446520"/>
                <a:tab algn="l" pos="6805440"/>
                <a:tab algn="l" pos="716436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control what headers are sent</a:t>
            </a:r>
            <a:endParaRPr b="0" lang="en-US" sz="2400" spc="-1" strike="noStrike">
              <a:latin typeface="Arial"/>
            </a:endParaRPr>
          </a:p>
          <a:p>
            <a:pPr marL="303120" indent="-294120">
              <a:lnSpc>
                <a:spcPct val="100000"/>
              </a:lnSpc>
              <a:spcBef>
                <a:spcPts val="1423"/>
              </a:spcBef>
              <a:buClr>
                <a:srgbClr val="333399"/>
              </a:buClr>
              <a:buFont typeface="Wingdings" charset="2"/>
              <a:buChar char=""/>
              <a:tabLst>
                <a:tab algn="l" pos="0"/>
                <a:tab algn="l" pos="333360"/>
                <a:tab algn="l" pos="347400"/>
                <a:tab algn="l" pos="706320"/>
                <a:tab algn="l" pos="1064880"/>
                <a:tab algn="l" pos="1423800"/>
                <a:tab algn="l" pos="1782720"/>
                <a:tab algn="l" pos="2141280"/>
                <a:tab algn="l" pos="2500200"/>
                <a:tab algn="l" pos="2858760"/>
                <a:tab algn="l" pos="3217680"/>
                <a:tab algn="l" pos="3576600"/>
                <a:tab algn="l" pos="3935160"/>
                <a:tab algn="l" pos="4294080"/>
                <a:tab algn="l" pos="4652640"/>
                <a:tab algn="l" pos="5011560"/>
                <a:tab algn="l" pos="5370480"/>
                <a:tab algn="l" pos="5729040"/>
                <a:tab algn="l" pos="6087960"/>
                <a:tab algn="l" pos="6446520"/>
                <a:tab algn="l" pos="6805440"/>
                <a:tab algn="l" pos="716436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inspect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details of the request and response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333360"/>
                <a:tab algn="l" pos="347400"/>
                <a:tab algn="l" pos="706320"/>
                <a:tab algn="l" pos="1064880"/>
                <a:tab algn="l" pos="1423800"/>
                <a:tab algn="l" pos="1782720"/>
                <a:tab algn="l" pos="2141280"/>
                <a:tab algn="l" pos="2500200"/>
                <a:tab algn="l" pos="2858760"/>
                <a:tab algn="l" pos="3217680"/>
                <a:tab algn="l" pos="3576600"/>
                <a:tab algn="l" pos="3935160"/>
                <a:tab algn="l" pos="4294080"/>
                <a:tab algn="l" pos="4652640"/>
                <a:tab algn="l" pos="5011560"/>
                <a:tab algn="l" pos="5370480"/>
                <a:tab algn="l" pos="5729040"/>
                <a:tab algn="l" pos="6087960"/>
                <a:tab algn="l" pos="6446520"/>
                <a:tab algn="l" pos="6805440"/>
                <a:tab algn="l" pos="716436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926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CustomShape 1"/>
          <p:cNvSpPr/>
          <p:nvPr/>
        </p:nvSpPr>
        <p:spPr>
          <a:xfrm>
            <a:off x="610920" y="259920"/>
            <a:ext cx="7917120" cy="86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Tools for Viewing Http Traffic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1" name="CustomShape 2"/>
          <p:cNvSpPr/>
          <p:nvPr/>
        </p:nvSpPr>
        <p:spPr>
          <a:xfrm>
            <a:off x="674640" y="1400040"/>
            <a:ext cx="7917480" cy="509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HttpFox or HttpRequester (free)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– monitor/inspect http requests (Firefox). Great for seeing what is happening.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23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Chrome "Developer Tools"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– use Network tab to watch network traffic.</a:t>
            </a:r>
            <a:endParaRPr b="0" lang="en-US" sz="2400" spc="-1" strike="noStrike">
              <a:latin typeface="Arial"/>
            </a:endParaRPr>
          </a:p>
          <a:p>
            <a:pPr marL="342720" indent="-29268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Dev HTTP Client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aka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"Rest HTTP API Client" (Chrome)</a:t>
            </a:r>
            <a:endParaRPr b="0" lang="en-US" sz="2400" spc="-1" strike="noStrike">
              <a:latin typeface="Arial"/>
            </a:endParaRPr>
          </a:p>
          <a:p>
            <a:pPr marL="342720" indent="-29268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httpwatch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– Watches all traffic. Can perform security checks. Chrome &amp; Firefox plugin (free and paid versions) www.httpwatch.com</a:t>
            </a:r>
            <a:endParaRPr b="0" lang="en-US" sz="2400" spc="-1" strike="noStrike">
              <a:latin typeface="Arial"/>
            </a:endParaRPr>
          </a:p>
          <a:p>
            <a:pPr marL="342720" indent="-292680" algn="ctr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These tools are great for testing web services.</a:t>
            </a:r>
            <a:endParaRPr b="0" lang="en-US" sz="2400" spc="-1" strike="noStrike">
              <a:latin typeface="Arial"/>
            </a:endParaRPr>
          </a:p>
          <a:p>
            <a:pPr marL="342720" indent="-2926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926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92680">
              <a:lnSpc>
                <a:spcPct val="100000"/>
              </a:lnSpc>
              <a:spcBef>
                <a:spcPts val="1162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9268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CustomShape 1"/>
          <p:cNvSpPr/>
          <p:nvPr/>
        </p:nvSpPr>
        <p:spPr>
          <a:xfrm>
            <a:off x="457200" y="274680"/>
            <a:ext cx="8228520" cy="86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Get KU's Home Page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3" name="CustomShape 2"/>
          <p:cNvSpPr/>
          <p:nvPr/>
        </p:nvSpPr>
        <p:spPr>
          <a:xfrm>
            <a:off x="457200" y="1371240"/>
            <a:ext cx="8228520" cy="531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Try curl --verbose or </a:t>
            </a:r>
            <a:r>
              <a:rPr b="0" lang="en-US" sz="2400" spc="-1" strike="noStrike">
                <a:solidFill>
                  <a:srgbClr val="2300dc"/>
                </a:solidFill>
                <a:latin typeface="Arial"/>
                <a:ea typeface="DejaVu Sans"/>
              </a:rPr>
              <a:t>Chrome DHC extension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1) send a GET request to: https: //www.ku.ac.th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is the response?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2) send a GET request to the refresh url in the response.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is the new response?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Where does it tell you to go? What is different?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3) send a GET to the new location.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Keep going...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03840" algn="ctr">
              <a:lnSpc>
                <a:spcPct val="100000"/>
              </a:lnSpc>
              <a:spcBef>
                <a:spcPts val="1137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ff0000"/>
                </a:solidFill>
                <a:latin typeface="Arial"/>
                <a:ea typeface="DejaVu Sans"/>
              </a:rPr>
              <a:t>How would you make KU's web site more efficient?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128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128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CustomShape 1"/>
          <p:cNvSpPr/>
          <p:nvPr/>
        </p:nvSpPr>
        <p:spPr>
          <a:xfrm>
            <a:off x="457200" y="274680"/>
            <a:ext cx="8228520" cy="86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Get KU's Home Page in </a:t>
            </a:r>
            <a:r>
              <a:rPr b="0" i="1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English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5" name="CustomShape 2"/>
          <p:cNvSpPr/>
          <p:nvPr/>
        </p:nvSpPr>
        <p:spPr>
          <a:xfrm>
            <a:off x="457200" y="1371240"/>
            <a:ext cx="8228520" cy="531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After you successfully get KU's home page,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try adding some request headers (one at a time):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Accept-Language: en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Accept: text/plain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Accept: image/*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Do they work?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</a:t>
            </a:r>
            <a:r>
              <a:rPr b="0" i="1" lang="en-US" sz="2400" spc="-1" strike="noStrike">
                <a:solidFill>
                  <a:srgbClr val="ff0000"/>
                </a:solidFill>
                <a:latin typeface="Arial"/>
                <a:ea typeface="DejaVu Sans"/>
              </a:rPr>
              <a:t>methods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does this URL allow?  Do they work?</a:t>
            </a: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3038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128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128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CustomShape 1"/>
          <p:cNvSpPr/>
          <p:nvPr/>
        </p:nvSpPr>
        <p:spPr>
          <a:xfrm>
            <a:off x="611280" y="259920"/>
            <a:ext cx="7896600" cy="84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Example Web Services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7" name="CustomShape 2"/>
          <p:cNvSpPr/>
          <p:nvPr/>
        </p:nvSpPr>
        <p:spPr>
          <a:xfrm>
            <a:off x="674280" y="1400040"/>
            <a:ext cx="7896960" cy="4439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Explore California</a:t>
            </a:r>
            <a:endParaRPr b="0" lang="en-US" sz="2400" spc="-1" strike="noStrike">
              <a:latin typeface="Arial"/>
            </a:endParaRPr>
          </a:p>
          <a:p>
            <a:pPr marL="342720"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http://services.explorecalifornia.org/pox/tours.php</a:t>
            </a:r>
            <a:endParaRPr b="0" lang="en-US" sz="2400" spc="-1" strike="noStrike">
              <a:latin typeface="Arial"/>
            </a:endParaRPr>
          </a:p>
          <a:p>
            <a:pPr marL="342720"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(pox = Plain Old XML, or "rss" or "json")</a:t>
            </a:r>
            <a:endParaRPr b="0" lang="en-US" sz="2400" spc="-1" strike="noStrike">
              <a:latin typeface="Arial"/>
            </a:endParaRPr>
          </a:p>
          <a:p>
            <a:pPr marL="342720"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  <a:p>
            <a:pPr marL="342720"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Google Maps API</a:t>
            </a:r>
            <a:endParaRPr b="0" lang="en-US" sz="2400" spc="-1" strike="noStrike">
              <a:latin typeface="Arial"/>
            </a:endParaRPr>
          </a:p>
          <a:p>
            <a:pPr marL="342720"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http://maps.googleapis.com/maps/api/geocode/xml?</a:t>
            </a:r>
            <a:endParaRPr b="0" lang="en-US" sz="2400" spc="-1" strike="noStrike">
              <a:latin typeface="Arial"/>
            </a:endParaRPr>
          </a:p>
          <a:p>
            <a:pPr marL="342720"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4128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address=Kasetsart%20University&amp;sensor=false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CustomShape 1"/>
          <p:cNvSpPr/>
          <p:nvPr/>
        </p:nvSpPr>
        <p:spPr>
          <a:xfrm>
            <a:off x="457200" y="274680"/>
            <a:ext cx="8227080" cy="865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curl Examples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29" name="CustomShape 2"/>
          <p:cNvSpPr/>
          <p:nvPr/>
        </p:nvSpPr>
        <p:spPr>
          <a:xfrm>
            <a:off x="457200" y="1371600"/>
            <a:ext cx="8227080" cy="4950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88720" indent="-2876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"/>
              <a:tabLst>
                <a:tab algn="l" pos="288720"/>
                <a:tab algn="l" pos="303120"/>
                <a:tab algn="l" pos="661680"/>
                <a:tab algn="l" pos="1020600"/>
                <a:tab algn="l" pos="1379520"/>
                <a:tab algn="l" pos="1738080"/>
                <a:tab algn="l" pos="2097000"/>
                <a:tab algn="l" pos="2455560"/>
                <a:tab algn="l" pos="2814480"/>
                <a:tab algn="l" pos="3173400"/>
                <a:tab algn="l" pos="3531960"/>
                <a:tab algn="l" pos="3890880"/>
                <a:tab algn="l" pos="4249440"/>
                <a:tab algn="l" pos="4608360"/>
                <a:tab algn="l" pos="4967280"/>
                <a:tab algn="l" pos="5325840"/>
                <a:tab algn="l" pos="5684760"/>
                <a:tab algn="l" pos="6043320"/>
                <a:tab algn="l" pos="6402240"/>
                <a:tab algn="l" pos="6761160"/>
                <a:tab algn="l" pos="711972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ff"/>
                </a:solidFill>
                <a:latin typeface="Arial"/>
                <a:ea typeface="DejaVu Sans"/>
              </a:rPr>
              <a:t>Get a resource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(web page, image, anything):</a:t>
            </a:r>
            <a:endParaRPr b="0" lang="en-US" sz="2400" spc="-1" strike="noStrike">
              <a:latin typeface="Arial"/>
            </a:endParaRPr>
          </a:p>
          <a:p>
            <a:pPr marL="326880" indent="-288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curl -v  http://somehost.com/favicon.jpg</a:t>
            </a:r>
            <a:endParaRPr b="0" lang="en-US" sz="2000" spc="-1" strike="noStrike">
              <a:latin typeface="Arial"/>
            </a:endParaRPr>
          </a:p>
          <a:p>
            <a:pPr marL="288720" indent="-287640">
              <a:lnSpc>
                <a:spcPct val="100000"/>
              </a:lnSpc>
              <a:spcBef>
                <a:spcPts val="1437"/>
              </a:spcBef>
              <a:buClr>
                <a:srgbClr val="000000"/>
              </a:buClr>
              <a:buSzPct val="45000"/>
              <a:buFont typeface="Wingdings" charset="2"/>
              <a:buChar char=""/>
              <a:tabLst>
                <a:tab algn="l" pos="288720"/>
                <a:tab algn="l" pos="303120"/>
                <a:tab algn="l" pos="661680"/>
                <a:tab algn="l" pos="1020600"/>
                <a:tab algn="l" pos="1379520"/>
                <a:tab algn="l" pos="1738080"/>
                <a:tab algn="l" pos="2097000"/>
                <a:tab algn="l" pos="2455560"/>
                <a:tab algn="l" pos="2814480"/>
                <a:tab algn="l" pos="3173400"/>
                <a:tab algn="l" pos="3531960"/>
                <a:tab algn="l" pos="3890880"/>
                <a:tab algn="l" pos="4249440"/>
                <a:tab algn="l" pos="4608360"/>
                <a:tab algn="l" pos="4967280"/>
                <a:tab algn="l" pos="5325840"/>
                <a:tab algn="l" pos="5684760"/>
                <a:tab algn="l" pos="6043320"/>
                <a:tab algn="l" pos="6402240"/>
                <a:tab algn="l" pos="6761160"/>
                <a:tab algn="l" pos="711972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ff"/>
                </a:solidFill>
                <a:latin typeface="Arial"/>
                <a:ea typeface="DejaVu Sans"/>
              </a:rPr>
              <a:t>Send a POST request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with username=hacker</a:t>
            </a:r>
            <a:endParaRPr b="0" lang="en-US" sz="2400" spc="-1" strike="noStrike">
              <a:latin typeface="Arial"/>
            </a:endParaRPr>
          </a:p>
          <a:p>
            <a:pPr marL="326880" indent="-288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curl http://somehost.com/login.jpg </a:t>
            </a:r>
            <a:endParaRPr b="0" lang="en-US" sz="2000" spc="-1" strike="noStrike">
              <a:latin typeface="Arial"/>
            </a:endParaRPr>
          </a:p>
          <a:p>
            <a:pPr marL="326880" indent="-288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             </a:t>
            </a: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--data username=hacker</a:t>
            </a:r>
            <a:endParaRPr b="0" lang="en-US" sz="2000" spc="-1" strike="noStrike">
              <a:latin typeface="Arial"/>
            </a:endParaRPr>
          </a:p>
          <a:p>
            <a:pPr marL="288720" indent="-2876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"/>
              <a:tabLst>
                <a:tab algn="l" pos="288720"/>
                <a:tab algn="l" pos="303120"/>
                <a:tab algn="l" pos="661680"/>
                <a:tab algn="l" pos="1020600"/>
                <a:tab algn="l" pos="1379520"/>
                <a:tab algn="l" pos="1738080"/>
                <a:tab algn="l" pos="2097000"/>
                <a:tab algn="l" pos="2455560"/>
                <a:tab algn="l" pos="2814480"/>
                <a:tab algn="l" pos="3173400"/>
                <a:tab algn="l" pos="3531960"/>
                <a:tab algn="l" pos="3890880"/>
                <a:tab algn="l" pos="4249440"/>
                <a:tab algn="l" pos="4608360"/>
                <a:tab algn="l" pos="4967280"/>
                <a:tab algn="l" pos="5325840"/>
                <a:tab algn="l" pos="5684760"/>
                <a:tab algn="l" pos="6043320"/>
                <a:tab algn="l" pos="6402240"/>
                <a:tab algn="l" pos="6761160"/>
                <a:tab algn="l" pos="711972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ff"/>
                </a:solidFill>
                <a:latin typeface="Arial"/>
                <a:ea typeface="DejaVu Sans"/>
              </a:rPr>
              <a:t>Specify a header option in request</a:t>
            </a:r>
            <a:endParaRPr b="0" lang="en-US" sz="2400" spc="-1" strike="noStrike">
              <a:latin typeface="Arial"/>
            </a:endParaRPr>
          </a:p>
          <a:p>
            <a:pPr marL="326880" indent="-288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ourier New"/>
                <a:ea typeface="DejaVu Sans"/>
              </a:rPr>
              <a:t>curl -H “Accept: text/plain” </a:t>
            </a:r>
            <a:r>
              <a:rPr b="0" lang="en-US" sz="18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http://somehost.com/path</a:t>
            </a:r>
            <a:endParaRPr b="0" lang="en-US" sz="1800" spc="-1" strike="noStrike">
              <a:latin typeface="Arial"/>
            </a:endParaRPr>
          </a:p>
          <a:p>
            <a:pPr marL="288720" indent="-287640">
              <a:lnSpc>
                <a:spcPct val="100000"/>
              </a:lnSpc>
              <a:spcBef>
                <a:spcPts val="1437"/>
              </a:spcBef>
              <a:buClr>
                <a:srgbClr val="000000"/>
              </a:buClr>
              <a:buSzPct val="45000"/>
              <a:buFont typeface="Wingdings" charset="2"/>
              <a:buChar char=""/>
              <a:tabLst>
                <a:tab algn="l" pos="288720"/>
                <a:tab algn="l" pos="303120"/>
                <a:tab algn="l" pos="661680"/>
                <a:tab algn="l" pos="1020600"/>
                <a:tab algn="l" pos="1379520"/>
                <a:tab algn="l" pos="1738080"/>
                <a:tab algn="l" pos="2097000"/>
                <a:tab algn="l" pos="2455560"/>
                <a:tab algn="l" pos="2814480"/>
                <a:tab algn="l" pos="3173400"/>
                <a:tab algn="l" pos="3531960"/>
                <a:tab algn="l" pos="3890880"/>
                <a:tab algn="l" pos="4249440"/>
                <a:tab algn="l" pos="4608360"/>
                <a:tab algn="l" pos="4967280"/>
                <a:tab algn="l" pos="5325840"/>
                <a:tab algn="l" pos="5684760"/>
                <a:tab algn="l" pos="6043320"/>
                <a:tab algn="l" pos="6402240"/>
                <a:tab algn="l" pos="6761160"/>
                <a:tab algn="l" pos="711972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ff"/>
                </a:solidFill>
                <a:latin typeface="Arial"/>
                <a:ea typeface="DejaVu Sans"/>
              </a:rPr>
              <a:t>Get help</a:t>
            </a:r>
            <a:endParaRPr b="0" lang="en-US" sz="2400" spc="-1" strike="noStrike">
              <a:latin typeface="Arial"/>
            </a:endParaRPr>
          </a:p>
          <a:p>
            <a:pPr marL="326880" indent="-288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curl --help</a:t>
            </a:r>
            <a:endParaRPr b="0" lang="en-US" sz="2400" spc="-1" strike="noStrike">
              <a:latin typeface="Arial"/>
            </a:endParaRPr>
          </a:p>
          <a:p>
            <a:pPr marL="326880" indent="-28800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i="1" lang="en-US" sz="2400" spc="-1" strike="noStrike">
                <a:solidFill>
                  <a:srgbClr val="0000ff"/>
                </a:solidFill>
                <a:latin typeface="Arial"/>
                <a:ea typeface="DejaVu Sans"/>
              </a:rPr>
              <a:t>Many options have 2 forms: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-d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or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--data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CustomShape 1"/>
          <p:cNvSpPr/>
          <p:nvPr/>
        </p:nvSpPr>
        <p:spPr>
          <a:xfrm>
            <a:off x="610920" y="260280"/>
            <a:ext cx="7914240" cy="85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curl Exercise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31" name="CustomShape 2"/>
          <p:cNvSpPr/>
          <p:nvPr/>
        </p:nvSpPr>
        <p:spPr>
          <a:xfrm>
            <a:off x="639360" y="1279080"/>
            <a:ext cx="7914240" cy="568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Get KU's home page </a:t>
            </a:r>
            <a:r>
              <a:rPr b="0" i="1" lang="en-US" sz="2400" spc="-1" strike="noStrike">
                <a:solidFill>
                  <a:srgbClr val="0000ff"/>
                </a:solidFill>
                <a:latin typeface="Arial"/>
                <a:ea typeface="DejaVu Sans"/>
              </a:rPr>
              <a:t>in English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cmd&gt; </a:t>
            </a:r>
            <a:r>
              <a:rPr b="0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curl -H "Accept-language: en" http://www.ku.ac.th/web2012/index.php</a:t>
            </a: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ustomShape 1"/>
          <p:cNvSpPr/>
          <p:nvPr/>
        </p:nvSpPr>
        <p:spPr>
          <a:xfrm>
            <a:off x="457200" y="274680"/>
            <a:ext cx="8228520" cy="86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Experiment with methods &amp; headers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33" name="CustomShape 2"/>
          <p:cNvSpPr/>
          <p:nvPr/>
        </p:nvSpPr>
        <p:spPr>
          <a:xfrm>
            <a:off x="457200" y="1371600"/>
            <a:ext cx="8228520" cy="5455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85480" indent="-28440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Use netcat to get a web page from </a:t>
            </a:r>
            <a:r>
              <a:rPr b="0" lang="en-US" sz="2400" spc="-1" strike="noStrike">
                <a:solidFill>
                  <a:srgbClr val="ccccff"/>
                </a:solidFill>
                <a:latin typeface="Arial"/>
                <a:ea typeface="DejaVu Sans"/>
              </a:rPr>
              <a:t>iup.eng.ku.ac.th</a:t>
            </a:r>
            <a:endParaRPr b="0" lang="en-US" sz="2400" spc="-1" strike="noStrike">
              <a:latin typeface="Arial"/>
            </a:endParaRPr>
          </a:p>
          <a:p>
            <a:pPr marL="285480" indent="-28440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Find the actual location of their default home page</a:t>
            </a:r>
            <a:endParaRPr b="0" lang="en-US" sz="2400" spc="-1" strike="noStrike">
              <a:latin typeface="Arial"/>
            </a:endParaRPr>
          </a:p>
          <a:p>
            <a:pPr marL="285480" indent="-28440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What METHODS does it accept?</a:t>
            </a:r>
            <a:endParaRPr b="0" lang="en-US" sz="2400" spc="-1" strike="noStrike">
              <a:latin typeface="Arial"/>
            </a:endParaRPr>
          </a:p>
          <a:p>
            <a:pPr lvl="1" marL="1439640" indent="-52416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GET  POST  PUT  HEAD  OPTIONS  DELETE ?</a:t>
            </a:r>
            <a:endParaRPr b="0" lang="en-US" sz="2400" spc="-1" strike="noStrike">
              <a:latin typeface="Arial"/>
            </a:endParaRPr>
          </a:p>
          <a:p>
            <a:pPr marL="285480" indent="-28440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Send some invalid requests and note the responses</a:t>
            </a:r>
            <a:endParaRPr b="0" lang="en-US" sz="2400" spc="-1" strike="noStrike">
              <a:latin typeface="Arial"/>
            </a:endParaRPr>
          </a:p>
          <a:p>
            <a:pPr lvl="1" marL="1439640" indent="-52416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Arial"/>
              <a:buChar char="•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send to invalid URL</a:t>
            </a:r>
            <a:endParaRPr b="0" lang="en-US" sz="2400" spc="-1" strike="noStrike">
              <a:latin typeface="Arial"/>
            </a:endParaRPr>
          </a:p>
          <a:p>
            <a:pPr lvl="1" marL="1439640" indent="-52416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Arial"/>
              <a:buChar char="•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send unsupported method: DELETE, PUT, POST</a:t>
            </a:r>
            <a:endParaRPr b="0" lang="en-US" sz="2400" spc="-1" strike="noStrike">
              <a:latin typeface="Arial"/>
            </a:endParaRPr>
          </a:p>
          <a:p>
            <a:pPr lvl="1" marL="1439640" indent="-52416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Arial"/>
              <a:buChar char="•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try to DELETE something!</a:t>
            </a:r>
            <a:endParaRPr b="0" lang="en-US" sz="2400" spc="-1" strike="noStrike">
              <a:latin typeface="Arial"/>
            </a:endParaRPr>
          </a:p>
          <a:p>
            <a:pPr lvl="1" marL="1439640" indent="-52416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Arial"/>
              <a:buChar char="•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send header that server can't handle, e.g: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Accept: text/plain         or application/xml</a:t>
            </a:r>
            <a:br/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Accept-language: jp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CustomShape 1"/>
          <p:cNvSpPr/>
          <p:nvPr/>
        </p:nvSpPr>
        <p:spPr>
          <a:xfrm>
            <a:off x="610920" y="260280"/>
            <a:ext cx="7914240" cy="85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Insecurity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35" name="CustomShape 2"/>
          <p:cNvSpPr/>
          <p:nvPr/>
        </p:nvSpPr>
        <p:spPr>
          <a:xfrm>
            <a:off x="678960" y="1371240"/>
            <a:ext cx="7914240" cy="445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91000"/>
          </a:bodyPr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There seems to be a bug in regis.ku.ac.th that allows unauthenticated download of pages, if you know the URL.</a:t>
            </a: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01219245 (450) class student list is here:</a:t>
            </a: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https://regis.ku.ac.th/grade/download_file/class_01219245_611.txt</a:t>
            </a:r>
            <a:endParaRPr b="0" lang="en-US" sz="20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(You can download it w/o logging in.)</a:t>
            </a:r>
            <a:endParaRPr b="0" lang="en-US" sz="18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a) download it. (use wget)</a:t>
            </a: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b) can you download other course lists?</a:t>
            </a: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You have to guess the last 3 digits, but so what?</a:t>
            </a: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    </a:t>
            </a: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Computers are good at repetitive tasks.</a:t>
            </a: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c) can you </a:t>
            </a:r>
            <a:r>
              <a:rPr b="0" lang="en-US" sz="2400" spc="-1" strike="noStrike">
                <a:solidFill>
                  <a:srgbClr val="ff0000"/>
                </a:solidFill>
                <a:latin typeface="Arial"/>
                <a:ea typeface="DejaVu Sans"/>
              </a:rPr>
              <a:t>upload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a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new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class list (use PUT or POST)?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CustomShape 1"/>
          <p:cNvSpPr/>
          <p:nvPr/>
        </p:nvSpPr>
        <p:spPr>
          <a:xfrm>
            <a:off x="457200" y="274680"/>
            <a:ext cx="8228520" cy="86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Exercise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37" name="CustomShape 2"/>
          <p:cNvSpPr/>
          <p:nvPr/>
        </p:nvSpPr>
        <p:spPr>
          <a:xfrm>
            <a:off x="457200" y="1371240"/>
            <a:ext cx="8228520" cy="5302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85480" indent="-28440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Find a web page containing a FORM using POST</a:t>
            </a:r>
            <a:endParaRPr b="0" lang="en-US" sz="2400" spc="-1" strike="noStrike">
              <a:latin typeface="Arial"/>
            </a:endParaRPr>
          </a:p>
          <a:p>
            <a:pPr marL="32364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&lt;form method=”POST” action=”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some_url”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&gt;</a:t>
            </a:r>
            <a:endParaRPr b="0" lang="en-US" sz="2400" spc="-1" strike="noStrike">
              <a:latin typeface="Arial"/>
            </a:endParaRPr>
          </a:p>
          <a:p>
            <a:pPr marL="32364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&lt;input type=”text” name=”username” .../&gt;</a:t>
            </a:r>
            <a:endParaRPr b="0" lang="en-US" sz="2400" spc="-1" strike="noStrike">
              <a:latin typeface="Arial"/>
            </a:endParaRPr>
          </a:p>
          <a:p>
            <a:pPr marL="32364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285480" indent="-28440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Arial"/>
              <a:buAutoNum type="arabicPeriod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examine the page source</a:t>
            </a:r>
            <a:endParaRPr b="0" lang="en-US" sz="2400" spc="-1" strike="noStrike">
              <a:latin typeface="Arial"/>
            </a:endParaRPr>
          </a:p>
          <a:p>
            <a:pPr marL="285480" indent="-28440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Arial"/>
              <a:buAutoNum type="arabicPeriod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note the FORM URL and what fields it sends</a:t>
            </a:r>
            <a:endParaRPr b="0" lang="en-US" sz="2400" spc="-1" strike="noStrike">
              <a:latin typeface="Arial"/>
            </a:endParaRPr>
          </a:p>
          <a:p>
            <a:pPr marL="285480" indent="-284400">
              <a:lnSpc>
                <a:spcPct val="100000"/>
              </a:lnSpc>
              <a:spcBef>
                <a:spcPts val="598"/>
              </a:spcBef>
              <a:buClr>
                <a:srgbClr val="333399"/>
              </a:buClr>
              <a:buFont typeface="Arial"/>
              <a:buAutoNum type="arabicPeriod"/>
              <a:tabLst>
                <a:tab algn="l" pos="285480"/>
                <a:tab algn="l" pos="299880"/>
                <a:tab algn="l" pos="658800"/>
                <a:tab algn="l" pos="1017360"/>
                <a:tab algn="l" pos="1376280"/>
                <a:tab algn="l" pos="1734840"/>
                <a:tab algn="l" pos="2093760"/>
                <a:tab algn="l" pos="2452680"/>
                <a:tab algn="l" pos="2811240"/>
                <a:tab algn="l" pos="3170160"/>
                <a:tab algn="l" pos="3528720"/>
                <a:tab algn="l" pos="3887640"/>
                <a:tab algn="l" pos="4246560"/>
                <a:tab algn="l" pos="4605120"/>
                <a:tab algn="l" pos="4964040"/>
                <a:tab algn="l" pos="5322600"/>
                <a:tab algn="l" pos="5681520"/>
                <a:tab algn="l" pos="6040080"/>
                <a:tab algn="l" pos="6400800"/>
                <a:tab algn="l" pos="6757920"/>
                <a:tab algn="l" pos="7116480"/>
                <a:tab algn="l" pos="720540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send the form (with data) using Curl or Dev HTTP</a:t>
            </a:r>
            <a:endParaRPr b="0" lang="en-US" sz="2400" spc="-1" strike="noStrike">
              <a:latin typeface="Arial"/>
            </a:endParaRPr>
          </a:p>
          <a:p>
            <a:pPr marL="32364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2364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POST /some/url HTTP/1.1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Host: </a:t>
            </a:r>
            <a:r>
              <a:rPr b="0" lang="en-US" sz="20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/>
              </a:rPr>
              <a:t>www.example.com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Content-length: 26</a:t>
            </a:r>
            <a:endParaRPr b="0" lang="en-US" sz="2000" spc="-1" strike="noStrike">
              <a:latin typeface="Arial"/>
            </a:endParaRPr>
          </a:p>
          <a:p>
            <a:pPr marL="32364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23640" indent="-28476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name=jim&amp;birthday=1/1/1900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CustomShape 1"/>
          <p:cNvSpPr/>
          <p:nvPr/>
        </p:nvSpPr>
        <p:spPr>
          <a:xfrm>
            <a:off x="610920" y="260280"/>
            <a:ext cx="7914240" cy="85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Compression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39" name="CustomShape 2"/>
          <p:cNvSpPr/>
          <p:nvPr/>
        </p:nvSpPr>
        <p:spPr>
          <a:xfrm>
            <a:off x="674280" y="1400040"/>
            <a:ext cx="7914240" cy="21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Accept-Encoding: gzip, deflate</a:t>
            </a: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2720" indent="-29592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Allow server to compress response body.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0" name="CustomShape 3"/>
          <p:cNvSpPr/>
          <p:nvPr/>
        </p:nvSpPr>
        <p:spPr>
          <a:xfrm>
            <a:off x="731880" y="3657600"/>
            <a:ext cx="7496640" cy="45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9360">
            <a:solidFill>
              <a:srgbClr val="000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Q?  Can HTTP transmit data in </a:t>
            </a:r>
            <a:r>
              <a:rPr b="0" i="1" lang="en-US" sz="2400" spc="-1" strike="noStrike">
                <a:solidFill>
                  <a:srgbClr val="000080"/>
                </a:solidFill>
                <a:latin typeface="Arial"/>
                <a:ea typeface="DejaVu Sans"/>
              </a:rPr>
              <a:t>binary form?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Surreptitious User Tracking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42" name="CustomShape 2"/>
          <p:cNvSpPr/>
          <p:nvPr/>
        </p:nvSpPr>
        <p:spPr>
          <a:xfrm>
            <a:off x="533160" y="2971800"/>
            <a:ext cx="7877520" cy="3091320"/>
          </a:xfrm>
          <a:prstGeom prst="rect">
            <a:avLst/>
          </a:pr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67000"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&lt;HTML&gt;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&lt;BODY&gt;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Hello, victim.  So you think just opening e-mail is safe?  </a:t>
            </a:r>
            <a:br/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Well, think again.  You'll be getting more SPAM from us soon!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&lt;img src=http://www.spammer.com/images/barf.gif? id=428683927566 /&gt;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&lt;!-- this is better, no query params --&gt;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DejaVu Sans"/>
              </a:rPr>
              <a:t>&lt;img src=http://www.spammer.com/images/428683927566.gif? /&gt;</a:t>
            </a:r>
            <a:br/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12600"/>
                <a:tab algn="l" pos="371160"/>
                <a:tab algn="l" pos="730080"/>
                <a:tab algn="l" pos="1089000"/>
                <a:tab algn="l" pos="1447560"/>
                <a:tab algn="l" pos="1806480"/>
                <a:tab algn="l" pos="2165040"/>
                <a:tab algn="l" pos="2523960"/>
                <a:tab algn="l" pos="2882880"/>
                <a:tab algn="l" pos="3241440"/>
                <a:tab algn="l" pos="3600360"/>
                <a:tab algn="l" pos="3958920"/>
                <a:tab algn="l" pos="4317840"/>
                <a:tab algn="l" pos="4676760"/>
                <a:tab algn="l" pos="5035320"/>
                <a:tab algn="l" pos="5394240"/>
                <a:tab algn="l" pos="5752800"/>
                <a:tab algn="l" pos="6111720"/>
                <a:tab algn="l" pos="6470640"/>
                <a:tab algn="l" pos="6829200"/>
                <a:tab algn="l" pos="684504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443" name="CustomShape 3"/>
          <p:cNvSpPr/>
          <p:nvPr/>
        </p:nvSpPr>
        <p:spPr>
          <a:xfrm>
            <a:off x="533520" y="1523880"/>
            <a:ext cx="7920360" cy="175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If you </a:t>
            </a:r>
            <a:r>
              <a:rPr b="0" i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open an E-mail message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, does the sender know you looked at it?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Conditional GET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45" name="CustomShape 2"/>
          <p:cNvSpPr/>
          <p:nvPr/>
        </p:nvSpPr>
        <p:spPr>
          <a:xfrm>
            <a:off x="674280" y="1400040"/>
            <a:ext cx="7920720" cy="195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 Client can request a resource </a:t>
            </a:r>
            <a:r>
              <a:rPr b="0" lang="en-US" sz="2400" spc="-1" strike="noStrike">
                <a:solidFill>
                  <a:srgbClr val="ff0000"/>
                </a:solidFill>
                <a:latin typeface="Arial"/>
                <a:ea typeface="DejaVu Sans"/>
              </a:rPr>
              <a:t>only if it has been modified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since a given date.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Used for efficiency &amp; caching.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Use "If-modified-since: " or "Etag:" headers.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46" name="CustomShape 3"/>
          <p:cNvSpPr/>
          <p:nvPr/>
        </p:nvSpPr>
        <p:spPr>
          <a:xfrm>
            <a:off x="1098720" y="3352680"/>
            <a:ext cx="6855120" cy="1400760"/>
          </a:xfrm>
          <a:prstGeom prst="rect">
            <a:avLst/>
          </a:pr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Arial"/>
              </a:rPr>
              <a:t>GET /path/index.html HTTP/1.1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80"/>
                </a:solidFill>
                <a:latin typeface="Lucida Sans Unicode"/>
                <a:ea typeface="Arial"/>
              </a:rPr>
              <a:t>If-modified-since:  1 Aug 18:32:00 ICT 2014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Arial"/>
              </a:rPr>
              <a:t>...etc...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47" name="CustomShape 4"/>
          <p:cNvSpPr/>
          <p:nvPr/>
        </p:nvSpPr>
        <p:spPr>
          <a:xfrm>
            <a:off x="822240" y="4937040"/>
            <a:ext cx="7771320" cy="929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If page has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not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been modified, the server responds: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84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HTTP/1.1 304 Not Modified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CustomShape 1"/>
          <p:cNvSpPr/>
          <p:nvPr/>
        </p:nvSpPr>
        <p:spPr>
          <a:xfrm>
            <a:off x="990720" y="3124080"/>
            <a:ext cx="6932880" cy="68472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CustomShape 2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Conditional GET: server response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50" name="CustomShape 3"/>
          <p:cNvSpPr/>
          <p:nvPr/>
        </p:nvSpPr>
        <p:spPr>
          <a:xfrm>
            <a:off x="674280" y="1399680"/>
            <a:ext cx="7920720" cy="88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If page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has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been modified, server responds: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1" name="CustomShape 4"/>
          <p:cNvSpPr/>
          <p:nvPr/>
        </p:nvSpPr>
        <p:spPr>
          <a:xfrm>
            <a:off x="990720" y="2057400"/>
            <a:ext cx="6855120" cy="1751400"/>
          </a:xfrm>
          <a:prstGeom prst="rect">
            <a:avLst/>
          </a:pr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Arial"/>
              </a:rPr>
              <a:t>HTTP/1.1 200 OK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Arial"/>
              </a:rPr>
              <a:t>Content-type: blah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Arial"/>
              </a:rPr>
              <a:t>DATA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52" name="CustomShape 5"/>
          <p:cNvSpPr/>
          <p:nvPr/>
        </p:nvSpPr>
        <p:spPr>
          <a:xfrm>
            <a:off x="762120" y="4038480"/>
            <a:ext cx="7920360" cy="884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647640"/>
                <a:tab algn="l" pos="1006200"/>
                <a:tab algn="l" pos="1365120"/>
                <a:tab algn="l" pos="1723680"/>
                <a:tab algn="l" pos="2082600"/>
                <a:tab algn="l" pos="2441520"/>
                <a:tab algn="l" pos="2800080"/>
                <a:tab algn="l" pos="3159000"/>
                <a:tab algn="l" pos="3517560"/>
                <a:tab algn="l" pos="3876480"/>
                <a:tab algn="l" pos="4235400"/>
                <a:tab algn="l" pos="4593960"/>
                <a:tab algn="l" pos="4952880"/>
                <a:tab algn="l" pos="5311440"/>
                <a:tab algn="l" pos="5670360"/>
                <a:tab algn="l" pos="6029280"/>
                <a:tab algn="l" pos="6387840"/>
                <a:tab algn="l" pos="6746760"/>
                <a:tab algn="l" pos="7105320"/>
                <a:tab algn="l" pos="746424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If page has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not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been modified, server responds: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3" name="CustomShape 6"/>
          <p:cNvSpPr/>
          <p:nvPr/>
        </p:nvSpPr>
        <p:spPr>
          <a:xfrm>
            <a:off x="1066680" y="4648320"/>
            <a:ext cx="6855480" cy="837000"/>
          </a:xfrm>
          <a:prstGeom prst="rect">
            <a:avLst/>
          </a:pr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Arial"/>
              </a:rPr>
              <a:t>HTTP/1.1 304 Not Modified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Conditional GET using Etag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55" name="CustomShape 2"/>
          <p:cNvSpPr/>
          <p:nvPr/>
        </p:nvSpPr>
        <p:spPr>
          <a:xfrm>
            <a:off x="674280" y="1400040"/>
            <a:ext cx="7920720" cy="195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 server can include an "Etag" as page identifier. It is usually an MD5 hash but can be anything: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6" name="CustomShape 3"/>
          <p:cNvSpPr/>
          <p:nvPr/>
        </p:nvSpPr>
        <p:spPr>
          <a:xfrm>
            <a:off x="1098720" y="2378160"/>
            <a:ext cx="6855120" cy="1827720"/>
          </a:xfrm>
          <a:prstGeom prst="rect">
            <a:avLst/>
          </a:pr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Autofit/>
          </a:bodyPr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Arial"/>
              </a:rPr>
              <a:t>HTTP/1.1 200 OK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ucida Sans Unicode"/>
                <a:ea typeface="Arial"/>
              </a:rPr>
              <a:t>Content-Type: image/jpeg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80"/>
                </a:solidFill>
                <a:latin typeface="Lucida Sans Unicode"/>
                <a:ea typeface="Arial"/>
              </a:rPr>
              <a:t>Etag:  "33101963682008"</a:t>
            </a: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42720" indent="-289440">
              <a:lnSpc>
                <a:spcPct val="10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457" name="CustomShape 4"/>
          <p:cNvSpPr/>
          <p:nvPr/>
        </p:nvSpPr>
        <p:spPr>
          <a:xfrm>
            <a:off x="716040" y="4619520"/>
            <a:ext cx="7771320" cy="17690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 marL="180720" indent="-179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"/>
              <a:tabLst>
                <a:tab algn="l" pos="180720"/>
                <a:tab algn="l" pos="537840"/>
                <a:tab algn="l" pos="896760"/>
                <a:tab algn="l" pos="1255680"/>
                <a:tab algn="l" pos="1614240"/>
                <a:tab algn="l" pos="1973160"/>
                <a:tab algn="l" pos="2331720"/>
                <a:tab algn="l" pos="2690640"/>
                <a:tab algn="l" pos="3049560"/>
                <a:tab algn="l" pos="3408120"/>
                <a:tab algn="l" pos="3767040"/>
                <a:tab algn="l" pos="4125600"/>
                <a:tab algn="l" pos="4484520"/>
                <a:tab algn="l" pos="4843440"/>
                <a:tab algn="l" pos="5202000"/>
                <a:tab algn="l" pos="5560920"/>
                <a:tab algn="l" pos="5919480"/>
                <a:tab algn="l" pos="6278400"/>
                <a:tab algn="l" pos="6637320"/>
                <a:tab algn="l" pos="6995880"/>
                <a:tab algn="l" pos="73548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Next time the client needs the image (but its still in his cache) he sends: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848"/>
              </a:spcBef>
              <a:tabLst>
                <a:tab algn="l" pos="0"/>
                <a:tab algn="l" pos="180720"/>
                <a:tab algn="l" pos="537840"/>
                <a:tab algn="l" pos="896760"/>
                <a:tab algn="l" pos="1255680"/>
                <a:tab algn="l" pos="1614240"/>
                <a:tab algn="l" pos="1973160"/>
                <a:tab algn="l" pos="2331720"/>
                <a:tab algn="l" pos="2690640"/>
                <a:tab algn="l" pos="3049560"/>
                <a:tab algn="l" pos="3408120"/>
                <a:tab algn="l" pos="3767040"/>
                <a:tab algn="l" pos="4125600"/>
                <a:tab algn="l" pos="4484520"/>
                <a:tab algn="l" pos="4843440"/>
                <a:tab algn="l" pos="5202000"/>
                <a:tab algn="l" pos="5560920"/>
                <a:tab algn="l" pos="5919480"/>
                <a:tab algn="l" pos="6278400"/>
                <a:tab algn="l" pos="6637320"/>
                <a:tab algn="l" pos="6995880"/>
                <a:tab algn="l" pos="73548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GET /path/image.jpeg HTTP/1.1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848"/>
              </a:spcBef>
              <a:tabLst>
                <a:tab algn="l" pos="0"/>
                <a:tab algn="l" pos="180720"/>
                <a:tab algn="l" pos="537840"/>
                <a:tab algn="l" pos="896760"/>
                <a:tab algn="l" pos="1255680"/>
                <a:tab algn="l" pos="1614240"/>
                <a:tab algn="l" pos="1973160"/>
                <a:tab algn="l" pos="2331720"/>
                <a:tab algn="l" pos="2690640"/>
                <a:tab algn="l" pos="3049560"/>
                <a:tab algn="l" pos="3408120"/>
                <a:tab algn="l" pos="3767040"/>
                <a:tab algn="l" pos="4125600"/>
                <a:tab algn="l" pos="4484520"/>
                <a:tab algn="l" pos="4843440"/>
                <a:tab algn="l" pos="5202000"/>
                <a:tab algn="l" pos="5560920"/>
                <a:tab algn="l" pos="5919480"/>
                <a:tab algn="l" pos="6278400"/>
                <a:tab algn="l" pos="6637320"/>
                <a:tab algn="l" pos="6995880"/>
                <a:tab algn="l" pos="73548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80"/>
                </a:solidFill>
                <a:latin typeface="Courier New"/>
                <a:ea typeface="DejaVu Sans"/>
              </a:rPr>
              <a:t>If-None-Match: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80"/>
                </a:solidFill>
                <a:latin typeface="Lucida Sans Unicode"/>
                <a:ea typeface="Arial"/>
              </a:rPr>
              <a:t>"33101963682008"</a:t>
            </a:r>
            <a:r>
              <a:rPr b="1" lang="en-US" sz="2400" spc="-1" strike="noStrike">
                <a:solidFill>
                  <a:srgbClr val="000000"/>
                </a:solidFill>
                <a:latin typeface="Courier New"/>
                <a:ea typeface="DejaVu Sans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58" name="CustomShape 5"/>
          <p:cNvSpPr/>
          <p:nvPr/>
        </p:nvSpPr>
        <p:spPr>
          <a:xfrm>
            <a:off x="1098720" y="3749760"/>
            <a:ext cx="6855120" cy="456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cfe7f5"/>
          </a:solid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Image data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Non-persistent Connection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460" name="" descr=""/>
          <p:cNvPicPr/>
          <p:nvPr/>
        </p:nvPicPr>
        <p:blipFill>
          <a:blip r:embed="rId1"/>
          <a:stretch/>
        </p:blipFill>
        <p:spPr>
          <a:xfrm>
            <a:off x="5334120" y="1523880"/>
            <a:ext cx="837000" cy="837360"/>
          </a:xfrm>
          <a:prstGeom prst="rect">
            <a:avLst/>
          </a:prstGeom>
          <a:ln>
            <a:noFill/>
          </a:ln>
        </p:spPr>
      </p:pic>
      <p:pic>
        <p:nvPicPr>
          <p:cNvPr id="461" name="" descr=""/>
          <p:cNvPicPr/>
          <p:nvPr/>
        </p:nvPicPr>
        <p:blipFill>
          <a:blip r:embed="rId2"/>
          <a:stretch/>
        </p:blipFill>
        <p:spPr>
          <a:xfrm>
            <a:off x="7467480" y="1371600"/>
            <a:ext cx="627840" cy="930960"/>
          </a:xfrm>
          <a:prstGeom prst="rect">
            <a:avLst/>
          </a:prstGeom>
          <a:ln>
            <a:noFill/>
          </a:ln>
        </p:spPr>
      </p:pic>
      <p:sp>
        <p:nvSpPr>
          <p:cNvPr id="462" name="CustomShape 2"/>
          <p:cNvSpPr/>
          <p:nvPr/>
        </p:nvSpPr>
        <p:spPr>
          <a:xfrm>
            <a:off x="6629400" y="2286000"/>
            <a:ext cx="205632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listen *:80/TCP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63" name="CustomShape 3"/>
          <p:cNvSpPr/>
          <p:nvPr/>
        </p:nvSpPr>
        <p:spPr>
          <a:xfrm>
            <a:off x="5486400" y="2666880"/>
            <a:ext cx="220860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9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SYN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64" name="CustomShape 4"/>
          <p:cNvSpPr/>
          <p:nvPr/>
        </p:nvSpPr>
        <p:spPr>
          <a:xfrm>
            <a:off x="5638680" y="3200400"/>
            <a:ext cx="205632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r">
              <a:lnSpc>
                <a:spcPct val="100000"/>
              </a:lnSpc>
              <a:spcBef>
                <a:spcPts val="9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SYN/ACK-SYN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65" name="CustomShape 5"/>
          <p:cNvSpPr/>
          <p:nvPr/>
        </p:nvSpPr>
        <p:spPr>
          <a:xfrm>
            <a:off x="5562720" y="3581280"/>
            <a:ext cx="274212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GET webpage /ACK-SYN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66" name="Line 6"/>
          <p:cNvSpPr/>
          <p:nvPr/>
        </p:nvSpPr>
        <p:spPr>
          <a:xfrm>
            <a:off x="5562720" y="30481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Line 7"/>
          <p:cNvSpPr/>
          <p:nvPr/>
        </p:nvSpPr>
        <p:spPr>
          <a:xfrm>
            <a:off x="5562720" y="35053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Line 8"/>
          <p:cNvSpPr/>
          <p:nvPr/>
        </p:nvSpPr>
        <p:spPr>
          <a:xfrm>
            <a:off x="5562720" y="39625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Line 9"/>
          <p:cNvSpPr/>
          <p:nvPr/>
        </p:nvSpPr>
        <p:spPr>
          <a:xfrm>
            <a:off x="5562720" y="44197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70" name="CustomShape 10"/>
          <p:cNvSpPr/>
          <p:nvPr/>
        </p:nvSpPr>
        <p:spPr>
          <a:xfrm>
            <a:off x="5638680" y="4038480"/>
            <a:ext cx="205632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r"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send page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71" name="CustomShape 11"/>
          <p:cNvSpPr/>
          <p:nvPr/>
        </p:nvSpPr>
        <p:spPr>
          <a:xfrm>
            <a:off x="5181480" y="5867280"/>
            <a:ext cx="289476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224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CLOSE WAIT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2" name="CustomShape 12"/>
          <p:cNvSpPr/>
          <p:nvPr/>
        </p:nvSpPr>
        <p:spPr>
          <a:xfrm>
            <a:off x="5638680" y="4495680"/>
            <a:ext cx="190404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ACK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73" name="Line 13"/>
          <p:cNvSpPr/>
          <p:nvPr/>
        </p:nvSpPr>
        <p:spPr>
          <a:xfrm>
            <a:off x="5562720" y="53341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Line 14"/>
          <p:cNvSpPr/>
          <p:nvPr/>
        </p:nvSpPr>
        <p:spPr>
          <a:xfrm>
            <a:off x="5638680" y="4876920"/>
            <a:ext cx="213372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CustomShape 15"/>
          <p:cNvSpPr/>
          <p:nvPr/>
        </p:nvSpPr>
        <p:spPr>
          <a:xfrm>
            <a:off x="5562720" y="5410080"/>
            <a:ext cx="190368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FIN/ACK-FIN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76" name="Line 16"/>
          <p:cNvSpPr/>
          <p:nvPr/>
        </p:nvSpPr>
        <p:spPr>
          <a:xfrm>
            <a:off x="5562720" y="57913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CustomShape 17"/>
          <p:cNvSpPr/>
          <p:nvPr/>
        </p:nvSpPr>
        <p:spPr>
          <a:xfrm>
            <a:off x="5715000" y="4952880"/>
            <a:ext cx="205632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r">
              <a:lnSpc>
                <a:spcPct val="100000"/>
              </a:lnSpc>
              <a:spcBef>
                <a:spcPts val="9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FIN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78" name="CustomShape 18"/>
          <p:cNvSpPr/>
          <p:nvPr/>
        </p:nvSpPr>
        <p:spPr>
          <a:xfrm>
            <a:off x="4952880" y="2819520"/>
            <a:ext cx="380160" cy="2970720"/>
          </a:xfrm>
          <a:custGeom>
            <a:avLst/>
            <a:gdLst/>
            <a:ahLst/>
            <a:rect l="l" t="t" r="r" b="b"/>
            <a:pathLst>
              <a:path w="1061" h="8257">
                <a:moveTo>
                  <a:pt x="1060" y="0"/>
                </a:moveTo>
                <a:cubicBezTo>
                  <a:pt x="795" y="0"/>
                  <a:pt x="530" y="344"/>
                  <a:pt x="530" y="688"/>
                </a:cubicBezTo>
                <a:lnTo>
                  <a:pt x="530" y="3440"/>
                </a:lnTo>
                <a:cubicBezTo>
                  <a:pt x="530" y="3784"/>
                  <a:pt x="265" y="4128"/>
                  <a:pt x="0" y="4128"/>
                </a:cubicBezTo>
                <a:cubicBezTo>
                  <a:pt x="265" y="4128"/>
                  <a:pt x="530" y="4472"/>
                  <a:pt x="530" y="4816"/>
                </a:cubicBezTo>
                <a:lnTo>
                  <a:pt x="530" y="7568"/>
                </a:lnTo>
                <a:cubicBezTo>
                  <a:pt x="530" y="7912"/>
                  <a:pt x="795" y="8256"/>
                  <a:pt x="1060" y="8256"/>
                </a:cubicBezTo>
              </a:path>
            </a:pathLst>
          </a:custGeom>
          <a:noFill/>
          <a:ln cap="sq" w="1908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CustomShape 19"/>
          <p:cNvSpPr/>
          <p:nvPr/>
        </p:nvSpPr>
        <p:spPr>
          <a:xfrm>
            <a:off x="1981080" y="4114800"/>
            <a:ext cx="2818440" cy="365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CustomShape 20"/>
          <p:cNvSpPr/>
          <p:nvPr/>
        </p:nvSpPr>
        <p:spPr>
          <a:xfrm>
            <a:off x="2057400" y="4021200"/>
            <a:ext cx="2742120" cy="641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Sequence repeated for </a:t>
            </a:r>
            <a:r>
              <a:rPr b="0" i="1" lang="en-US" sz="1800" spc="-1" strike="noStrike" u="sng">
                <a:solidFill>
                  <a:srgbClr val="0000ff"/>
                </a:solidFill>
                <a:uFillTx/>
                <a:latin typeface="Arial"/>
                <a:ea typeface="Arial"/>
              </a:rPr>
              <a:t>every</a:t>
            </a:r>
            <a:r>
              <a:rPr b="0" i="1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 web request!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1" name="CustomShape 21"/>
          <p:cNvSpPr/>
          <p:nvPr/>
        </p:nvSpPr>
        <p:spPr>
          <a:xfrm>
            <a:off x="609480" y="1600200"/>
            <a:ext cx="4266360" cy="2401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171360" indent="-170280">
              <a:lnSpc>
                <a:spcPct val="100000"/>
              </a:lnSpc>
              <a:spcBef>
                <a:spcPts val="44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In HTTP 1.0, client must open a new connection for</a:t>
            </a:r>
            <a:r>
              <a:rPr b="0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 </a:t>
            </a:r>
            <a:r>
              <a:rPr b="1" lang="en-US" sz="2400" spc="-1" strike="noStrike">
                <a:solidFill>
                  <a:srgbClr val="333399"/>
                </a:solidFill>
                <a:latin typeface="Arial"/>
                <a:ea typeface="Arial"/>
              </a:rPr>
              <a:t>each request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44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Lots of delay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44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Lots of traffic and server overhead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Exercise: How many requests?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483" name="CustomShape 2"/>
          <p:cNvSpPr/>
          <p:nvPr/>
        </p:nvSpPr>
        <p:spPr>
          <a:xfrm>
            <a:off x="1981080" y="4114800"/>
            <a:ext cx="2818440" cy="365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4" name="CustomShape 3"/>
          <p:cNvSpPr/>
          <p:nvPr/>
        </p:nvSpPr>
        <p:spPr>
          <a:xfrm>
            <a:off x="609480" y="1279440"/>
            <a:ext cx="7984080" cy="16131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171360" indent="-170280">
              <a:lnSpc>
                <a:spcPct val="100000"/>
              </a:lnSpc>
              <a:spcBef>
                <a:spcPts val="44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To download and display this web page, how many requests does client have to send to server?</a:t>
            </a:r>
            <a:endParaRPr b="0" lang="en-US" sz="24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44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65760"/>
                <a:tab algn="l" pos="792612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Arial"/>
              </a:rPr>
              <a:t>For HTTP/1.0 how many connections to server are needed?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85" name="CustomShape 4"/>
          <p:cNvSpPr/>
          <p:nvPr/>
        </p:nvSpPr>
        <p:spPr>
          <a:xfrm>
            <a:off x="639720" y="2998800"/>
            <a:ext cx="7406280" cy="2761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cap="sq" w="1260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223560" indent="-170280">
              <a:lnSpc>
                <a:spcPct val="100000"/>
              </a:lnSpc>
              <a:spcBef>
                <a:spcPts val="224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&lt;HTML&gt;</a:t>
            </a:r>
            <a:endParaRPr b="0" lang="en-US" sz="1800" spc="-1" strike="noStrike">
              <a:latin typeface="Arial"/>
            </a:endParaRPr>
          </a:p>
          <a:p>
            <a:pPr marL="223560" indent="-170280">
              <a:lnSpc>
                <a:spcPct val="100000"/>
              </a:lnSpc>
              <a:spcBef>
                <a:spcPts val="224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&lt;link rel="stylesheet" href="</a:t>
            </a:r>
            <a:r>
              <a:rPr b="0" lang="en-US" sz="1800" spc="-1" strike="noStrike">
                <a:solidFill>
                  <a:srgbClr val="333399"/>
                </a:solidFill>
                <a:latin typeface="Arial"/>
                <a:ea typeface="Arial"/>
              </a:rPr>
              <a:t>stylesheet.css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"&gt;</a:t>
            </a:r>
            <a:endParaRPr b="0" lang="en-US" sz="1800" spc="-1" strike="noStrike">
              <a:latin typeface="Arial"/>
            </a:endParaRPr>
          </a:p>
          <a:p>
            <a:pPr marL="223560" indent="-170280">
              <a:lnSpc>
                <a:spcPct val="100000"/>
              </a:lnSpc>
              <a:spcBef>
                <a:spcPts val="224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&lt;BODY&gt;</a:t>
            </a:r>
            <a:endParaRPr b="0" lang="en-US" sz="1800" spc="-1" strike="noStrike">
              <a:latin typeface="Arial"/>
            </a:endParaRPr>
          </a:p>
          <a:p>
            <a:pPr marL="223560" indent="-170280">
              <a:lnSpc>
                <a:spcPct val="100000"/>
              </a:lnSpc>
              <a:spcBef>
                <a:spcPts val="224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&lt;h1&gt;My vacation&lt;/h1&gt;</a:t>
            </a:r>
            <a:endParaRPr b="0" lang="en-US" sz="1800" spc="-1" strike="noStrike">
              <a:latin typeface="Arial"/>
            </a:endParaRPr>
          </a:p>
          <a:p>
            <a:pPr marL="223560" indent="-170280">
              <a:lnSpc>
                <a:spcPct val="100000"/>
              </a:lnSpc>
              <a:spcBef>
                <a:spcPts val="224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&lt;p&gt;</a:t>
            </a:r>
            <a:endParaRPr b="0" lang="en-US" sz="1800" spc="-1" strike="noStrike">
              <a:latin typeface="Arial"/>
            </a:endParaRPr>
          </a:p>
          <a:p>
            <a:pPr marL="223560" indent="-170280">
              <a:lnSpc>
                <a:spcPct val="100000"/>
              </a:lnSpc>
              <a:spcBef>
                <a:spcPts val="224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For vacation we went to &lt;a href=”http://www.unseen.com/bangkok”&gt;Bangkok&lt;/a&gt;.</a:t>
            </a:r>
            <a:endParaRPr b="0" lang="en-US" sz="1800" spc="-1" strike="noStrike">
              <a:latin typeface="Arial"/>
            </a:endParaRPr>
          </a:p>
          <a:p>
            <a:pPr marL="223560" indent="-170280">
              <a:lnSpc>
                <a:spcPct val="100000"/>
              </a:lnSpc>
              <a:spcBef>
                <a:spcPts val="224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Here's a photo of &lt;em&gt;Wat Phra Kaeo&lt;/em&gt; &lt;br&gt;</a:t>
            </a:r>
            <a:endParaRPr b="0" lang="en-US" sz="1800" spc="-1" strike="noStrike">
              <a:latin typeface="Arial"/>
            </a:endParaRPr>
          </a:p>
          <a:p>
            <a:pPr marL="223560" indent="-170280">
              <a:lnSpc>
                <a:spcPct val="100000"/>
              </a:lnSpc>
              <a:spcBef>
                <a:spcPts val="224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&lt;IMG SRC="</a:t>
            </a:r>
            <a:r>
              <a:rPr b="0" lang="en-US" sz="1800" spc="-1" strike="noStrike">
                <a:solidFill>
                  <a:srgbClr val="333399"/>
                </a:solidFill>
                <a:latin typeface="Arial"/>
                <a:ea typeface="Arial"/>
              </a:rPr>
              <a:t>images/watprakaew.jpeg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"&gt;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Persistent Connection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487" name="" descr=""/>
          <p:cNvPicPr/>
          <p:nvPr/>
        </p:nvPicPr>
        <p:blipFill>
          <a:blip r:embed="rId1"/>
          <a:stretch/>
        </p:blipFill>
        <p:spPr>
          <a:xfrm>
            <a:off x="5334120" y="1523880"/>
            <a:ext cx="837000" cy="837360"/>
          </a:xfrm>
          <a:prstGeom prst="rect">
            <a:avLst/>
          </a:prstGeom>
          <a:ln>
            <a:noFill/>
          </a:ln>
        </p:spPr>
      </p:pic>
      <p:pic>
        <p:nvPicPr>
          <p:cNvPr id="488" name="" descr=""/>
          <p:cNvPicPr/>
          <p:nvPr/>
        </p:nvPicPr>
        <p:blipFill>
          <a:blip r:embed="rId2"/>
          <a:stretch/>
        </p:blipFill>
        <p:spPr>
          <a:xfrm>
            <a:off x="7467480" y="1371600"/>
            <a:ext cx="627840" cy="930960"/>
          </a:xfrm>
          <a:prstGeom prst="rect">
            <a:avLst/>
          </a:prstGeom>
          <a:ln>
            <a:noFill/>
          </a:ln>
        </p:spPr>
      </p:pic>
      <p:sp>
        <p:nvSpPr>
          <p:cNvPr id="489" name="CustomShape 2"/>
          <p:cNvSpPr/>
          <p:nvPr/>
        </p:nvSpPr>
        <p:spPr>
          <a:xfrm>
            <a:off x="6629400" y="2286000"/>
            <a:ext cx="2056320" cy="367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listen *:80/TCP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0" name="CustomShape 3"/>
          <p:cNvSpPr/>
          <p:nvPr/>
        </p:nvSpPr>
        <p:spPr>
          <a:xfrm>
            <a:off x="5486400" y="2666880"/>
            <a:ext cx="220860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9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Connect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91" name="CustomShape 4"/>
          <p:cNvSpPr/>
          <p:nvPr/>
        </p:nvSpPr>
        <p:spPr>
          <a:xfrm>
            <a:off x="5638680" y="3200400"/>
            <a:ext cx="205632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r">
              <a:lnSpc>
                <a:spcPct val="100000"/>
              </a:lnSpc>
              <a:spcBef>
                <a:spcPts val="9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SYN/ACK-SYN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92" name="CustomShape 5"/>
          <p:cNvSpPr/>
          <p:nvPr/>
        </p:nvSpPr>
        <p:spPr>
          <a:xfrm>
            <a:off x="5562720" y="3581280"/>
            <a:ext cx="274212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GET webpage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93" name="Line 6"/>
          <p:cNvSpPr/>
          <p:nvPr/>
        </p:nvSpPr>
        <p:spPr>
          <a:xfrm>
            <a:off x="5562720" y="30481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Line 7"/>
          <p:cNvSpPr/>
          <p:nvPr/>
        </p:nvSpPr>
        <p:spPr>
          <a:xfrm>
            <a:off x="5562720" y="35053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95" name="Line 8"/>
          <p:cNvSpPr/>
          <p:nvPr/>
        </p:nvSpPr>
        <p:spPr>
          <a:xfrm>
            <a:off x="5562720" y="39625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96" name="Line 9"/>
          <p:cNvSpPr/>
          <p:nvPr/>
        </p:nvSpPr>
        <p:spPr>
          <a:xfrm>
            <a:off x="5562720" y="44197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CustomShape 10"/>
          <p:cNvSpPr/>
          <p:nvPr/>
        </p:nvSpPr>
        <p:spPr>
          <a:xfrm>
            <a:off x="5638680" y="4038480"/>
            <a:ext cx="205632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send webpage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98" name="Line 11"/>
          <p:cNvSpPr/>
          <p:nvPr/>
        </p:nvSpPr>
        <p:spPr>
          <a:xfrm>
            <a:off x="5562720" y="53341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Line 12"/>
          <p:cNvSpPr/>
          <p:nvPr/>
        </p:nvSpPr>
        <p:spPr>
          <a:xfrm>
            <a:off x="5638680" y="4876920"/>
            <a:ext cx="213372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Line 13"/>
          <p:cNvSpPr/>
          <p:nvPr/>
        </p:nvSpPr>
        <p:spPr>
          <a:xfrm>
            <a:off x="5562720" y="5791320"/>
            <a:ext cx="2133360" cy="1440"/>
          </a:xfrm>
          <a:prstGeom prst="line">
            <a:avLst/>
          </a:prstGeom>
          <a:ln cap="sq" w="19080">
            <a:solidFill>
              <a:srgbClr val="3333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CustomShape 14"/>
          <p:cNvSpPr/>
          <p:nvPr/>
        </p:nvSpPr>
        <p:spPr>
          <a:xfrm>
            <a:off x="4952880" y="2819520"/>
            <a:ext cx="380160" cy="3580200"/>
          </a:xfrm>
          <a:custGeom>
            <a:avLst/>
            <a:gdLst/>
            <a:ahLst/>
            <a:rect l="l" t="t" r="r" b="b"/>
            <a:pathLst>
              <a:path w="1061" h="9950">
                <a:moveTo>
                  <a:pt x="1060" y="0"/>
                </a:moveTo>
                <a:cubicBezTo>
                  <a:pt x="795" y="0"/>
                  <a:pt x="530" y="414"/>
                  <a:pt x="530" y="829"/>
                </a:cubicBezTo>
                <a:lnTo>
                  <a:pt x="530" y="4145"/>
                </a:lnTo>
                <a:cubicBezTo>
                  <a:pt x="530" y="4559"/>
                  <a:pt x="265" y="4974"/>
                  <a:pt x="0" y="4974"/>
                </a:cubicBezTo>
                <a:cubicBezTo>
                  <a:pt x="265" y="4974"/>
                  <a:pt x="530" y="5389"/>
                  <a:pt x="530" y="5803"/>
                </a:cubicBezTo>
                <a:lnTo>
                  <a:pt x="530" y="9119"/>
                </a:lnTo>
                <a:cubicBezTo>
                  <a:pt x="530" y="9534"/>
                  <a:pt x="795" y="9949"/>
                  <a:pt x="1060" y="9949"/>
                </a:cubicBezTo>
              </a:path>
            </a:pathLst>
          </a:custGeom>
          <a:noFill/>
          <a:ln cap="sq" w="19080">
            <a:solidFill>
              <a:srgbClr val="333399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02" name="CustomShape 15"/>
          <p:cNvSpPr/>
          <p:nvPr/>
        </p:nvSpPr>
        <p:spPr>
          <a:xfrm>
            <a:off x="2057400" y="3949560"/>
            <a:ext cx="2742120" cy="641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r">
              <a:lnSpc>
                <a:spcPct val="100000"/>
              </a:lnSpc>
              <a:spcBef>
                <a:spcPts val="1123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Multiple request/reply in one connection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3" name="CustomShape 16"/>
          <p:cNvSpPr/>
          <p:nvPr/>
        </p:nvSpPr>
        <p:spPr>
          <a:xfrm>
            <a:off x="609480" y="1600200"/>
            <a:ext cx="4266360" cy="1692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marL="171360" indent="-170280">
              <a:lnSpc>
                <a:spcPct val="100000"/>
              </a:lnSpc>
              <a:spcBef>
                <a:spcPts val="44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HTTP 1.1 uses </a:t>
            </a:r>
            <a:r>
              <a:rPr b="0" lang="en-US" sz="1800" spc="-1" strike="noStrike">
                <a:solidFill>
                  <a:srgbClr val="000080"/>
                </a:solidFill>
                <a:latin typeface="Arial"/>
                <a:ea typeface="Arial"/>
              </a:rPr>
              <a:t>persistent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connection</a:t>
            </a:r>
            <a:endParaRPr b="0" lang="en-US" sz="18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44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Client can request using 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keep-alive</a:t>
            </a:r>
            <a:endParaRPr b="0" lang="en-US" sz="18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44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server keeps connection open </a:t>
            </a:r>
            <a:r>
              <a:rPr b="0" i="1" lang="en-US" sz="1800" spc="-1" strike="noStrike">
                <a:solidFill>
                  <a:srgbClr val="000080"/>
                </a:solidFill>
                <a:latin typeface="Arial"/>
                <a:ea typeface="Arial"/>
              </a:rPr>
              <a:t>briefly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44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client can </a:t>
            </a:r>
            <a:r>
              <a:rPr b="0" lang="en-US" sz="1800" spc="-1" strike="noStrike">
                <a:solidFill>
                  <a:srgbClr val="0000ff"/>
                </a:solidFill>
                <a:latin typeface="Arial"/>
                <a:ea typeface="Arial"/>
              </a:rPr>
              <a:t>pipeline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requests</a:t>
            </a:r>
            <a:endParaRPr b="0" lang="en-US" sz="1800" spc="-1" strike="noStrike">
              <a:latin typeface="Arial"/>
            </a:endParaRPr>
          </a:p>
          <a:p>
            <a:pPr marL="171360" indent="-170280">
              <a:lnSpc>
                <a:spcPct val="100000"/>
              </a:lnSpc>
              <a:spcBef>
                <a:spcPts val="448"/>
              </a:spcBef>
              <a:buClr>
                <a:srgbClr val="333399"/>
              </a:buClr>
              <a:buFont typeface="Wingdings" charset="2"/>
              <a:buChar char=""/>
              <a:tabLst>
                <a:tab algn="l" pos="171360"/>
                <a:tab algn="l" pos="528480"/>
                <a:tab algn="l" pos="887400"/>
                <a:tab algn="l" pos="1245960"/>
                <a:tab algn="l" pos="1604880"/>
                <a:tab algn="l" pos="1963440"/>
                <a:tab algn="l" pos="2322360"/>
                <a:tab algn="l" pos="2681280"/>
                <a:tab algn="l" pos="3039840"/>
                <a:tab algn="l" pos="3398760"/>
                <a:tab algn="l" pos="3757320"/>
                <a:tab algn="l" pos="4116240"/>
                <a:tab algn="l" pos="4475160"/>
                <a:tab algn="l" pos="4833720"/>
                <a:tab algn="l" pos="5192640"/>
                <a:tab algn="l" pos="5551200"/>
                <a:tab algn="l" pos="5910120"/>
                <a:tab algn="l" pos="6268680"/>
                <a:tab algn="l" pos="6629400"/>
                <a:tab algn="l" pos="6986520"/>
                <a:tab algn="l" pos="734508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client needs to know length of data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4" name="CustomShape 17"/>
          <p:cNvSpPr/>
          <p:nvPr/>
        </p:nvSpPr>
        <p:spPr>
          <a:xfrm>
            <a:off x="5638680" y="4495680"/>
            <a:ext cx="274212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GET stylesheet.css / ACK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05" name="CustomShape 18"/>
          <p:cNvSpPr/>
          <p:nvPr/>
        </p:nvSpPr>
        <p:spPr>
          <a:xfrm>
            <a:off x="5638680" y="4952880"/>
            <a:ext cx="274212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GET images/image1.jpeg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06" name="CustomShape 19"/>
          <p:cNvSpPr/>
          <p:nvPr/>
        </p:nvSpPr>
        <p:spPr>
          <a:xfrm>
            <a:off x="5638680" y="5410080"/>
            <a:ext cx="274212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GET images/image2.jpeg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07" name="Line 20"/>
          <p:cNvSpPr/>
          <p:nvPr/>
        </p:nvSpPr>
        <p:spPr>
          <a:xfrm>
            <a:off x="5562720" y="6324480"/>
            <a:ext cx="2133360" cy="1800"/>
          </a:xfrm>
          <a:prstGeom prst="line">
            <a:avLst/>
          </a:prstGeom>
          <a:ln cap="sq" w="19080">
            <a:solidFill>
              <a:srgbClr val="333399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08" name="CustomShape 21"/>
          <p:cNvSpPr/>
          <p:nvPr/>
        </p:nvSpPr>
        <p:spPr>
          <a:xfrm>
            <a:off x="5638680" y="5943600"/>
            <a:ext cx="2056320" cy="336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r">
              <a:lnSpc>
                <a:spcPct val="100000"/>
              </a:lnSpc>
              <a:spcBef>
                <a:spcPts val="198"/>
              </a:spcBef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173720"/>
                <a:tab algn="l" pos="753264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send stylesheet.css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Web Caching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10" name="CustomShape 2"/>
          <p:cNvSpPr/>
          <p:nvPr/>
        </p:nvSpPr>
        <p:spPr>
          <a:xfrm>
            <a:off x="674280" y="1399680"/>
            <a:ext cx="7920720" cy="4463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 fontScale="94000"/>
          </a:bodyPr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Caching is </a:t>
            </a:r>
            <a:r>
              <a:rPr b="0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critical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to performance of the web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Multiple levels of caching:</a:t>
            </a:r>
            <a:endParaRPr b="0" lang="en-US" sz="2400" spc="-1" strike="noStrike">
              <a:latin typeface="Arial"/>
            </a:endParaRPr>
          </a:p>
          <a:p>
            <a:pPr lvl="1" marL="1449360" indent="-5338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client (web browser cache)</a:t>
            </a:r>
            <a:endParaRPr b="0" lang="en-US" sz="2400" spc="-1" strike="noStrike">
              <a:latin typeface="Arial"/>
            </a:endParaRPr>
          </a:p>
          <a:p>
            <a:pPr lvl="1" marL="1449360" indent="-5338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server (manually configured cache)</a:t>
            </a:r>
            <a:endParaRPr b="0" lang="en-US" sz="2400" spc="-1" strike="noStrike">
              <a:latin typeface="Arial"/>
            </a:endParaRPr>
          </a:p>
          <a:p>
            <a:pPr lvl="1" marL="1449360" indent="-5338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gateway (transparent cache engine)</a:t>
            </a:r>
            <a:endParaRPr b="0" lang="en-US" sz="2400" spc="-1" strike="noStrike">
              <a:latin typeface="Arial"/>
            </a:endParaRPr>
          </a:p>
          <a:p>
            <a:pPr lvl="1" marL="1449360" indent="-53388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Times New Roman"/>
              <a:buChar char="–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network (CDN, cooperating caches)</a:t>
            </a:r>
            <a:endParaRPr b="0" lang="en-US" sz="2400" spc="-1" strike="noStrike">
              <a:latin typeface="Arial"/>
            </a:endParaRPr>
          </a:p>
          <a:p>
            <a:pPr marL="3283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28320" indent="-289440">
              <a:lnSpc>
                <a:spcPct val="100000"/>
              </a:lnSpc>
              <a:spcBef>
                <a:spcPts val="598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333399"/>
                </a:solidFill>
                <a:latin typeface="Arial"/>
                <a:ea typeface="DejaVu Sans"/>
              </a:rPr>
              <a:t>Cache Engines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Harvest (free)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Squid (free)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598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Cisco Cache Engine (based on Linux and Harvest)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Why Web Caching?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12" name="CustomShape 2"/>
          <p:cNvSpPr/>
          <p:nvPr/>
        </p:nvSpPr>
        <p:spPr>
          <a:xfrm>
            <a:off x="674280" y="1399680"/>
            <a:ext cx="7920720" cy="499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90160" indent="-2890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Decrease use of network bandwidth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Faster response time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Decrease server load</a:t>
            </a:r>
            <a:endParaRPr b="0" lang="en-US" sz="24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2837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Security and web access controls (auth, blocking)</a:t>
            </a:r>
            <a:endParaRPr b="0" lang="en-US" sz="2400" spc="-1" strike="noStrike">
              <a:latin typeface="Arial"/>
            </a:endParaRPr>
          </a:p>
          <a:p>
            <a:pPr marL="322200" indent="-289440">
              <a:lnSpc>
                <a:spcPct val="100000"/>
              </a:lnSpc>
              <a:spcBef>
                <a:spcPts val="2837"/>
              </a:spcBef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Content Delivery Networks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14" name="CustomShape 2"/>
          <p:cNvSpPr/>
          <p:nvPr/>
        </p:nvSpPr>
        <p:spPr>
          <a:xfrm>
            <a:off x="674280" y="1399680"/>
            <a:ext cx="7920720" cy="509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90160" indent="-28908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Akamai, DigitalIsland, etc.</a:t>
            </a:r>
            <a:endParaRPr b="0" lang="en-US" sz="20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Has its own network of servers that replicates content of the content provider (e.g. cnn.com), e.g. all images</a:t>
            </a:r>
            <a:endParaRPr b="0" lang="en-US" sz="2000" spc="-1" strike="noStrike">
              <a:latin typeface="Arial"/>
            </a:endParaRPr>
          </a:p>
          <a:p>
            <a:pPr lvl="1" marL="690480" indent="-232200">
              <a:lnSpc>
                <a:spcPct val="100000"/>
              </a:lnSpc>
              <a:spcBef>
                <a:spcPts val="1423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 the index.html file all references of:</a:t>
            </a:r>
            <a:endParaRPr b="0" lang="en-US" sz="2000" spc="-1" strike="noStrike">
              <a:latin typeface="Arial"/>
            </a:endParaRPr>
          </a:p>
          <a:p>
            <a:pPr marL="328320" indent="-289440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www.cnn.com/images/sports.gif </a:t>
            </a:r>
            <a:endParaRPr b="0" lang="en-US" sz="2000" spc="-1" strike="noStrike">
              <a:latin typeface="Arial"/>
            </a:endParaRPr>
          </a:p>
          <a:p>
            <a:pPr lvl="1" marL="690480" indent="-232200">
              <a:lnSpc>
                <a:spcPct val="100000"/>
              </a:lnSpc>
              <a:spcBef>
                <a:spcPts val="1423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is re-mapped 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www.akamai.com/www.cnn.com/images/sports.gif</a:t>
            </a:r>
            <a:endParaRPr b="0" lang="en-US" sz="20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Akamai servers cache images and index files for cnn.com</a:t>
            </a:r>
            <a:endParaRPr b="0" lang="en-US" sz="20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Server domain name: www.akamai.com</a:t>
            </a:r>
            <a:endParaRPr b="0" lang="en-US" sz="20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Index file changed to: www.akamai.com/.../images/sports.gif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CustomShape 1"/>
          <p:cNvSpPr/>
          <p:nvPr/>
        </p:nvSpPr>
        <p:spPr>
          <a:xfrm>
            <a:off x="611280" y="259920"/>
            <a:ext cx="7920360" cy="864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 anchorCtr="1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355320"/>
                <a:tab algn="l" pos="714240"/>
                <a:tab algn="l" pos="1072800"/>
                <a:tab algn="l" pos="1431720"/>
                <a:tab algn="l" pos="1790640"/>
                <a:tab algn="l" pos="2149200"/>
                <a:tab algn="l" pos="2508120"/>
                <a:tab algn="l" pos="2866680"/>
                <a:tab algn="l" pos="3225600"/>
                <a:tab algn="l" pos="3584520"/>
                <a:tab algn="l" pos="3943080"/>
                <a:tab algn="l" pos="4302000"/>
                <a:tab algn="l" pos="4660560"/>
                <a:tab algn="l" pos="5019480"/>
                <a:tab algn="l" pos="5378400"/>
                <a:tab algn="l" pos="5736960"/>
                <a:tab algn="l" pos="6095880"/>
                <a:tab algn="l" pos="6454440"/>
                <a:tab algn="l" pos="6813360"/>
                <a:tab algn="l" pos="717228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3600" spc="-1" strike="noStrike">
                <a:solidFill>
                  <a:srgbClr val="333399"/>
                </a:solidFill>
                <a:latin typeface="Arial"/>
                <a:ea typeface="DejaVu Sans"/>
              </a:rPr>
              <a:t>Content Delivery Networks (2)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16" name="CustomShape 2"/>
          <p:cNvSpPr/>
          <p:nvPr/>
        </p:nvSpPr>
        <p:spPr>
          <a:xfrm>
            <a:off x="674280" y="1399680"/>
            <a:ext cx="7920720" cy="509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normAutofit/>
          </a:bodyPr>
          <a:p>
            <a:pPr marL="290160" indent="-28908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When client downloads http://www.cnn.com/index.html he gets a cached (modified) file from cache server, containing</a:t>
            </a:r>
            <a:endParaRPr b="0" lang="en-US" sz="2000" spc="-1" strike="noStrike">
              <a:latin typeface="Arial"/>
            </a:endParaRPr>
          </a:p>
          <a:p>
            <a:pPr marL="328320" indent="-289440" algn="ctr">
              <a:lnSpc>
                <a:spcPct val="100000"/>
              </a:lnSpc>
              <a:spcBef>
                <a:spcPts val="1423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&lt;img src=http://www.akamai.com/www.cnn.com/images/sports.gif&gt;</a:t>
            </a:r>
            <a:endParaRPr b="0" lang="en-US" sz="20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Next, client tries to resolve "www.akamai.com"</a:t>
            </a:r>
            <a:endParaRPr b="0" lang="en-US" sz="2000" spc="-1" strike="noStrike">
              <a:latin typeface="Arial"/>
            </a:endParaRPr>
          </a:p>
          <a:p>
            <a:pPr marL="290160" indent="-289080">
              <a:lnSpc>
                <a:spcPct val="100000"/>
              </a:lnSpc>
              <a:spcBef>
                <a:spcPts val="1423"/>
              </a:spcBef>
              <a:buClr>
                <a:srgbClr val="3333cc"/>
              </a:buClr>
              <a:buSzPct val="60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DNS server of Akamai will...</a:t>
            </a:r>
            <a:endParaRPr b="0" lang="en-US" sz="2000" spc="-1" strike="noStrike">
              <a:latin typeface="Arial"/>
            </a:endParaRPr>
          </a:p>
          <a:p>
            <a:pPr lvl="1" marL="690480" indent="-232200">
              <a:lnSpc>
                <a:spcPct val="100000"/>
              </a:lnSpc>
              <a:spcBef>
                <a:spcPts val="1423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identify client's location based on client's IP address (database)</a:t>
            </a:r>
            <a:endParaRPr b="0" lang="en-US" sz="2000" spc="-1" strike="noStrike">
              <a:latin typeface="Arial"/>
            </a:endParaRPr>
          </a:p>
          <a:p>
            <a:pPr lvl="1" marL="690480" indent="-232200">
              <a:lnSpc>
                <a:spcPct val="100000"/>
              </a:lnSpc>
              <a:spcBef>
                <a:spcPts val="1423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chooses one of Akamai's cache servers which is "closest" to the client's location</a:t>
            </a:r>
            <a:endParaRPr b="0" lang="en-US" sz="2000" spc="-1" strike="noStrike">
              <a:latin typeface="Arial"/>
            </a:endParaRPr>
          </a:p>
          <a:p>
            <a:pPr lvl="1" marL="690480" indent="-232200">
              <a:lnSpc>
                <a:spcPct val="100000"/>
              </a:lnSpc>
              <a:spcBef>
                <a:spcPts val="1423"/>
              </a:spcBef>
              <a:buClr>
                <a:srgbClr val="ff0000"/>
              </a:buClr>
              <a:buSzPct val="55000"/>
              <a:buFont typeface="Wingdings" charset="2"/>
              <a:buChar char=""/>
              <a:tabLst>
                <a:tab algn="l" pos="290160"/>
                <a:tab algn="l" pos="304560"/>
                <a:tab algn="l" pos="663480"/>
                <a:tab algn="l" pos="1022040"/>
                <a:tab algn="l" pos="1380960"/>
                <a:tab algn="l" pos="1739880"/>
                <a:tab algn="l" pos="2098440"/>
                <a:tab algn="l" pos="2457360"/>
                <a:tab algn="l" pos="2815920"/>
                <a:tab algn="l" pos="3174840"/>
                <a:tab algn="l" pos="3533760"/>
                <a:tab algn="l" pos="3892320"/>
                <a:tab algn="l" pos="4251240"/>
                <a:tab algn="l" pos="4609800"/>
                <a:tab algn="l" pos="4968720"/>
                <a:tab algn="l" pos="5327640"/>
                <a:tab algn="l" pos="5686200"/>
                <a:tab algn="l" pos="6045120"/>
                <a:tab algn="l" pos="6403680"/>
                <a:tab algn="l" pos="6762600"/>
                <a:tab algn="l" pos="7121520"/>
                <a:tab algn="l" pos="7205400"/>
                <a:tab algn="l" pos="7565760"/>
                <a:tab algn="l" pos="7891200"/>
                <a:tab algn="l" pos="8250120"/>
                <a:tab algn="l" pos="8608680"/>
                <a:tab algn="l" pos="8967600"/>
                <a:tab algn="l" pos="9326520"/>
                <a:tab algn="l" pos="9685080"/>
                <a:tab algn="l" pos="10044000"/>
                <a:tab algn="l" pos="10402560"/>
                <a:tab algn="l" pos="10761480"/>
                <a:tab algn="l" pos="107629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returns IP address for "www.akamai.com" closest to client.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2004-08-31T06:54:20Z</dcterms:created>
  <dc:creator>Jim</dc:creator>
  <dc:description/>
  <dc:language>en-US</dc:language>
  <cp:lastModifiedBy/>
  <dcterms:modified xsi:type="dcterms:W3CDTF">2026-01-13T18:38:50Z</dcterms:modified>
  <cp:revision>53</cp:revision>
  <dc:subject/>
  <dc:title>Hypertext Transport Protocol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