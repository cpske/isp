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5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_rels/notesSlide21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.xml.rels" ContentType="application/vnd.openxmlformats-package.relationships+xml"/>
  <Override PartName="/ppt/notesSlides/notesSlide17.xml" ContentType="application/vnd.openxmlformats-officedocument.presentationml.notesSlide+xml"/>
  <Override PartName="/ppt/notesSlides/notesSlide21.xml" ContentType="application/vnd.openxmlformats-officedocument.presentationml.notesSlide+xml"/>
  <Override PartName="/ppt/_rels/presentation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53.xml.rels" ContentType="application/vnd.openxmlformats-package.relationships+xml"/>
  <Override PartName="/ppt/slideLayouts/slideLayout56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media/image9.wmf" ContentType="image/x-wmf"/>
  <Override PartName="/ppt/media/image14.png" ContentType="image/png"/>
  <Override PartName="/ppt/media/image13.png" ContentType="image/png"/>
  <Override PartName="/ppt/media/image8.png" ContentType="image/png"/>
  <Override PartName="/ppt/media/image12.png" ContentType="image/png"/>
  <Override PartName="/ppt/media/image7.png" ContentType="image/png"/>
  <Override PartName="/ppt/media/image11.png" ContentType="image/png"/>
  <Override PartName="/ppt/media/image19.png" ContentType="image/png"/>
  <Override PartName="/ppt/media/image2.wmf" ContentType="image/x-wmf"/>
  <Override PartName="/ppt/media/image3.png" ContentType="image/png"/>
  <Override PartName="/ppt/media/image20.png" ContentType="image/png"/>
  <Override PartName="/ppt/media/image18.png" ContentType="image/png"/>
  <Override PartName="/ppt/media/image17.png" ContentType="image/png"/>
  <Override PartName="/ppt/media/image16.png" ContentType="image/png"/>
  <Override PartName="/ppt/media/image15.png" ContentType="image/png"/>
  <Override PartName="/ppt/media/image1.wmf" ContentType="image/x-wmf"/>
  <Override PartName="/ppt/media/image4.wmf" ContentType="image/x-wmf"/>
  <Override PartName="/ppt/media/image5.wmf" ContentType="image/x-wmf"/>
  <Override PartName="/ppt/media/image6.png" ContentType="image/png"/>
  <Override PartName="/ppt/media/image10.wmf" ContentType="image/x-wmf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23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19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9144000" cy="6858000"/>
  <p:notesSz cx="6858000" cy="91440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6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move the slide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15" name="PlaceHolder 4"/>
          <p:cNvSpPr>
            <a:spLocks noGrp="1"/>
          </p:cNvSpPr>
          <p:nvPr>
            <p:ph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r"/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16" name="PlaceHolder 5"/>
          <p:cNvSpPr>
            <a:spLocks noGrp="1"/>
          </p:cNvSpPr>
          <p:nvPr>
            <p:ph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17" name="PlaceHolder 6"/>
          <p:cNvSpPr>
            <a:spLocks noGrp="1"/>
          </p:cNvSpPr>
          <p:nvPr>
            <p:ph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pPr algn="r"/>
            <a:fld id="{DFD4F9D6-2112-4EDC-8AE5-46F1E9DCF373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/>
          </p:cNvSpPr>
          <p:nvPr>
            <p:ph type="sldImg"/>
          </p:nvPr>
        </p:nvSpPr>
        <p:spPr>
          <a:xfrm>
            <a:off x="2143080" y="695160"/>
            <a:ext cx="2571120" cy="3428280"/>
          </a:xfrm>
          <a:prstGeom prst="rect">
            <a:avLst/>
          </a:prstGeom>
        </p:spPr>
      </p:sp>
      <p:sp>
        <p:nvSpPr>
          <p:cNvPr id="364" name="CustomShape 2"/>
          <p:cNvSpPr/>
          <p:nvPr/>
        </p:nvSpPr>
        <p:spPr>
          <a:xfrm>
            <a:off x="685800" y="4343400"/>
            <a:ext cx="5485680" cy="4114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PlaceHolder 1"/>
          <p:cNvSpPr>
            <a:spLocks noGrp="1"/>
          </p:cNvSpPr>
          <p:nvPr>
            <p:ph type="sldImg"/>
          </p:nvPr>
        </p:nvSpPr>
        <p:spPr>
          <a:xfrm>
            <a:off x="2143080" y="695160"/>
            <a:ext cx="2571120" cy="3428280"/>
          </a:xfrm>
          <a:prstGeom prst="rect">
            <a:avLst/>
          </a:prstGeom>
        </p:spPr>
      </p:sp>
      <p:sp>
        <p:nvSpPr>
          <p:cNvPr id="366" name="CustomShape 2"/>
          <p:cNvSpPr/>
          <p:nvPr/>
        </p:nvSpPr>
        <p:spPr>
          <a:xfrm>
            <a:off x="685800" y="4343400"/>
            <a:ext cx="5485680" cy="4114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52200" cy="3409200"/>
          </a:xfrm>
          <a:prstGeom prst="rect">
            <a:avLst/>
          </a:prstGeom>
        </p:spPr>
      </p:sp>
      <p:sp>
        <p:nvSpPr>
          <p:cNvPr id="368" name="CustomShape 2"/>
          <p:cNvSpPr/>
          <p:nvPr/>
        </p:nvSpPr>
        <p:spPr>
          <a:xfrm>
            <a:off x="914400" y="4343400"/>
            <a:ext cx="5009400" cy="4095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52200" cy="3409200"/>
          </a:xfrm>
          <a:prstGeom prst="rect">
            <a:avLst/>
          </a:prstGeom>
        </p:spPr>
      </p:sp>
      <p:sp>
        <p:nvSpPr>
          <p:cNvPr id="370" name="CustomShape 2"/>
          <p:cNvSpPr/>
          <p:nvPr/>
        </p:nvSpPr>
        <p:spPr>
          <a:xfrm>
            <a:off x="914400" y="4343400"/>
            <a:ext cx="5009400" cy="4095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52200" cy="3409200"/>
          </a:xfrm>
          <a:prstGeom prst="rect">
            <a:avLst/>
          </a:prstGeom>
        </p:spPr>
      </p:sp>
      <p:sp>
        <p:nvSpPr>
          <p:cNvPr id="372" name="CustomShape 2"/>
          <p:cNvSpPr/>
          <p:nvPr/>
        </p:nvSpPr>
        <p:spPr>
          <a:xfrm>
            <a:off x="914400" y="4343400"/>
            <a:ext cx="5009400" cy="4095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52200" cy="3409200"/>
          </a:xfrm>
          <a:prstGeom prst="rect">
            <a:avLst/>
          </a:prstGeom>
        </p:spPr>
      </p:sp>
      <p:sp>
        <p:nvSpPr>
          <p:cNvPr id="374" name="CustomShape 2"/>
          <p:cNvSpPr/>
          <p:nvPr/>
        </p:nvSpPr>
        <p:spPr>
          <a:xfrm>
            <a:off x="914400" y="4343400"/>
            <a:ext cx="5009400" cy="4095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52200" cy="3409200"/>
          </a:xfrm>
          <a:prstGeom prst="rect">
            <a:avLst/>
          </a:prstGeom>
        </p:spPr>
      </p:sp>
      <p:sp>
        <p:nvSpPr>
          <p:cNvPr id="376" name="CustomShape 2"/>
          <p:cNvSpPr/>
          <p:nvPr/>
        </p:nvSpPr>
        <p:spPr>
          <a:xfrm>
            <a:off x="914400" y="4343400"/>
            <a:ext cx="5009400" cy="4095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52200" cy="3409200"/>
          </a:xfrm>
          <a:prstGeom prst="rect">
            <a:avLst/>
          </a:prstGeom>
        </p:spPr>
      </p:sp>
      <p:sp>
        <p:nvSpPr>
          <p:cNvPr id="378" name="CustomShape 2"/>
          <p:cNvSpPr/>
          <p:nvPr/>
        </p:nvSpPr>
        <p:spPr>
          <a:xfrm>
            <a:off x="914400" y="4343400"/>
            <a:ext cx="5009400" cy="4095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52200" cy="3409200"/>
          </a:xfrm>
          <a:prstGeom prst="rect">
            <a:avLst/>
          </a:prstGeom>
        </p:spPr>
      </p:sp>
      <p:sp>
        <p:nvSpPr>
          <p:cNvPr id="380" name="CustomShape 2"/>
          <p:cNvSpPr/>
          <p:nvPr/>
        </p:nvSpPr>
        <p:spPr>
          <a:xfrm>
            <a:off x="914400" y="4343400"/>
            <a:ext cx="5009400" cy="4095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52200" cy="3409200"/>
          </a:xfrm>
          <a:prstGeom prst="rect">
            <a:avLst/>
          </a:prstGeom>
        </p:spPr>
      </p:sp>
      <p:sp>
        <p:nvSpPr>
          <p:cNvPr id="382" name="CustomShape 2"/>
          <p:cNvSpPr/>
          <p:nvPr/>
        </p:nvSpPr>
        <p:spPr>
          <a:xfrm>
            <a:off x="914400" y="4343400"/>
            <a:ext cx="5009400" cy="4095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PlaceHolder 1"/>
          <p:cNvSpPr>
            <a:spLocks noGrp="1"/>
          </p:cNvSpPr>
          <p:nvPr>
            <p:ph type="sldImg"/>
          </p:nvPr>
        </p:nvSpPr>
        <p:spPr>
          <a:xfrm>
            <a:off x="2143080" y="695160"/>
            <a:ext cx="2571120" cy="3428280"/>
          </a:xfrm>
          <a:prstGeom prst="rect">
            <a:avLst/>
          </a:prstGeom>
        </p:spPr>
      </p:sp>
      <p:sp>
        <p:nvSpPr>
          <p:cNvPr id="384" name="CustomShape 2"/>
          <p:cNvSpPr/>
          <p:nvPr/>
        </p:nvSpPr>
        <p:spPr>
          <a:xfrm>
            <a:off x="685800" y="4343400"/>
            <a:ext cx="5485680" cy="4114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52200" cy="3409200"/>
          </a:xfrm>
          <a:prstGeom prst="rect">
            <a:avLst/>
          </a:prstGeom>
        </p:spPr>
      </p:sp>
      <p:sp>
        <p:nvSpPr>
          <p:cNvPr id="386" name="CustomShape 2"/>
          <p:cNvSpPr/>
          <p:nvPr/>
        </p:nvSpPr>
        <p:spPr>
          <a:xfrm>
            <a:off x="914400" y="4343400"/>
            <a:ext cx="5009400" cy="4095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7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8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6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1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2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6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7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8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9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1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5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3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7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8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9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0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8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8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9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2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6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3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4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8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9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0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1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Relationship Id="rId9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Group 1"/>
          <p:cNvGrpSpPr/>
          <p:nvPr/>
        </p:nvGrpSpPr>
        <p:grpSpPr>
          <a:xfrm>
            <a:off x="0" y="2438280"/>
            <a:ext cx="8957520" cy="1001160"/>
            <a:chOff x="0" y="2438280"/>
            <a:chExt cx="8957520" cy="1001160"/>
          </a:xfrm>
        </p:grpSpPr>
        <p:grpSp>
          <p:nvGrpSpPr>
            <p:cNvPr id="1" name="Group 2"/>
            <p:cNvGrpSpPr/>
            <p:nvPr/>
          </p:nvGrpSpPr>
          <p:grpSpPr>
            <a:xfrm>
              <a:off x="290520" y="2546280"/>
              <a:ext cx="659520" cy="423360"/>
              <a:chOff x="290520" y="2546280"/>
              <a:chExt cx="659520" cy="423360"/>
            </a:xfrm>
          </p:grpSpPr>
          <p:sp>
            <p:nvSpPr>
              <p:cNvPr id="2" name="CustomShape 3"/>
              <p:cNvSpPr/>
              <p:nvPr/>
            </p:nvSpPr>
            <p:spPr>
              <a:xfrm>
                <a:off x="290520" y="2546280"/>
                <a:ext cx="386640" cy="423360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" name="CustomShape 4"/>
              <p:cNvSpPr/>
              <p:nvPr/>
            </p:nvSpPr>
            <p:spPr>
              <a:xfrm>
                <a:off x="673200" y="2546280"/>
                <a:ext cx="276840" cy="423360"/>
              </a:xfrm>
              <a:prstGeom prst="rect">
                <a:avLst/>
              </a:prstGeom>
              <a:gradFill rotWithShape="0">
                <a:gsLst>
                  <a:gs pos="0">
                    <a:srgbClr val="3333cc"/>
                  </a:gs>
                  <a:gs pos="100000">
                    <a:srgbClr val="ffffff"/>
                  </a:gs>
                </a:gsLst>
                <a:lin ang="10800000"/>
              </a:gradFill>
              <a:ln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" name="Group 5"/>
            <p:cNvGrpSpPr/>
            <p:nvPr/>
          </p:nvGrpSpPr>
          <p:grpSpPr>
            <a:xfrm>
              <a:off x="414360" y="2968560"/>
              <a:ext cx="686160" cy="423360"/>
              <a:chOff x="414360" y="2968560"/>
              <a:chExt cx="686160" cy="423360"/>
            </a:xfrm>
          </p:grpSpPr>
          <p:sp>
            <p:nvSpPr>
              <p:cNvPr id="5" name="CustomShape 6"/>
              <p:cNvSpPr/>
              <p:nvPr/>
            </p:nvSpPr>
            <p:spPr>
              <a:xfrm>
                <a:off x="414360" y="2968560"/>
                <a:ext cx="420840" cy="423360"/>
              </a:xfrm>
              <a:prstGeom prst="rect">
                <a:avLst/>
              </a:prstGeom>
              <a:solidFill>
                <a:srgbClr val="ffcf01"/>
              </a:solidFill>
              <a:ln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6" name="CustomShape 7"/>
              <p:cNvSpPr/>
              <p:nvPr/>
            </p:nvSpPr>
            <p:spPr>
              <a:xfrm>
                <a:off x="783360" y="2968560"/>
                <a:ext cx="317160" cy="423360"/>
              </a:xfrm>
              <a:prstGeom prst="rect">
                <a:avLst/>
              </a:prstGeom>
              <a:gradFill rotWithShape="0">
                <a:gsLst>
                  <a:gs pos="0">
                    <a:srgbClr val="ffcf01"/>
                  </a:gs>
                  <a:gs pos="100000">
                    <a:srgbClr val="ffffff"/>
                  </a:gs>
                </a:gsLst>
                <a:lin ang="10800000"/>
              </a:gradFill>
              <a:ln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sp>
          <p:nvSpPr>
            <p:cNvPr id="7" name="CustomShape 8"/>
            <p:cNvSpPr/>
            <p:nvPr/>
          </p:nvSpPr>
          <p:spPr>
            <a:xfrm>
              <a:off x="0" y="2895480"/>
              <a:ext cx="509040" cy="370800"/>
            </a:xfrm>
            <a:prstGeom prst="rect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8100000"/>
            </a:gra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" name="CustomShape 9"/>
            <p:cNvSpPr/>
            <p:nvPr/>
          </p:nvSpPr>
          <p:spPr>
            <a:xfrm>
              <a:off x="635040" y="2438280"/>
              <a:ext cx="360" cy="1001160"/>
            </a:xfrm>
            <a:prstGeom prst="rect">
              <a:avLst/>
            </a:prstGeom>
            <a:solidFill>
              <a:srgbClr val="1c1c1c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" name="CustomShape 10"/>
            <p:cNvSpPr/>
            <p:nvPr/>
          </p:nvSpPr>
          <p:spPr>
            <a:xfrm flipV="1">
              <a:off x="316080" y="3258360"/>
              <a:ext cx="8641440" cy="3960"/>
            </a:xfrm>
            <a:prstGeom prst="rect">
              <a:avLst/>
            </a:prstGeom>
            <a:gradFill rotWithShape="0">
              <a:gsLst>
                <a:gs pos="0">
                  <a:srgbClr val="1c1c1c"/>
                </a:gs>
                <a:gs pos="100000">
                  <a:srgbClr val="ffffff"/>
                </a:gs>
              </a:gsLst>
              <a:lin ang="10800000"/>
            </a:gra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0" name="PlaceHolder 11"/>
          <p:cNvSpPr>
            <a:spLocks noGrp="1"/>
          </p:cNvSpPr>
          <p:nvPr>
            <p:ph type="title"/>
          </p:nvPr>
        </p:nvSpPr>
        <p:spPr>
          <a:xfrm>
            <a:off x="610920" y="260280"/>
            <a:ext cx="7869960" cy="813600"/>
          </a:xfrm>
          <a:prstGeom prst="rect">
            <a:avLst/>
          </a:prstGeom>
        </p:spPr>
        <p:txBody>
          <a:bodyPr lIns="0" rIns="0" tIns="0" bIns="0" anchor="ctr" anchorCtr="1">
            <a:noAutofit/>
          </a:bodyPr>
          <a:p>
            <a:r>
              <a:rPr b="0" lang="en-US" sz="1800" spc="-1" strike="noStrike">
                <a:latin typeface="Arial"/>
              </a:rPr>
              <a:t>Click to edit the 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" name="PlaceHolder 12"/>
          <p:cNvSpPr>
            <a:spLocks noGrp="1"/>
          </p:cNvSpPr>
          <p:nvPr>
            <p:ph type="body"/>
          </p:nvPr>
        </p:nvSpPr>
        <p:spPr>
          <a:xfrm>
            <a:off x="674640" y="1399680"/>
            <a:ext cx="7870320" cy="4412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Click to edit the outline text format</a:t>
            </a:r>
            <a:endParaRPr b="0" lang="en-US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Second Outline Level</a:t>
            </a:r>
            <a:endParaRPr b="0" lang="en-US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Third Outline Level</a:t>
            </a:r>
            <a:endParaRPr b="0" lang="en-US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Fourth Outline Level</a:t>
            </a:r>
            <a:endParaRPr b="0" lang="en-US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Fifth Outline Level</a:t>
            </a:r>
            <a:endParaRPr b="0" lang="en-US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Sixth Outline Level</a:t>
            </a:r>
            <a:endParaRPr b="0" lang="en-US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Seventh Outline Level</a:t>
            </a:r>
            <a:endParaRPr b="0" lang="en-US" sz="18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1"/>
          <p:cNvGrpSpPr/>
          <p:nvPr/>
        </p:nvGrpSpPr>
        <p:grpSpPr>
          <a:xfrm>
            <a:off x="189000" y="368280"/>
            <a:ext cx="8174880" cy="1001160"/>
            <a:chOff x="189000" y="368280"/>
            <a:chExt cx="8174880" cy="1001160"/>
          </a:xfrm>
        </p:grpSpPr>
        <p:sp>
          <p:nvSpPr>
            <p:cNvPr id="49" name="CustomShape 2"/>
            <p:cNvSpPr/>
            <p:nvPr/>
          </p:nvSpPr>
          <p:spPr>
            <a:xfrm>
              <a:off x="507960" y="368280"/>
              <a:ext cx="360" cy="1001160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0" name="CustomShape 3"/>
            <p:cNvSpPr/>
            <p:nvPr/>
          </p:nvSpPr>
          <p:spPr>
            <a:xfrm>
              <a:off x="189000" y="1158840"/>
              <a:ext cx="8174880" cy="360"/>
            </a:xfrm>
            <a:prstGeom prst="rect">
              <a:avLst/>
            </a:prstGeom>
            <a:gradFill rotWithShape="0">
              <a:gsLst>
                <a:gs pos="0">
                  <a:srgbClr val="1c1c1c"/>
                </a:gs>
                <a:gs pos="100000">
                  <a:srgbClr val="ffffff"/>
                </a:gs>
              </a:gsLst>
              <a:lin ang="10800000"/>
            </a:gra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51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</a:t>
            </a:r>
            <a:r>
              <a:rPr b="0" lang="en-US" sz="4400" spc="-1" strike="noStrike">
                <a:latin typeface="Arial"/>
              </a:rPr>
              <a:t>the title text </a:t>
            </a:r>
            <a:r>
              <a:rPr b="0" lang="en-US" sz="4400" spc="-1" strike="noStrike">
                <a:latin typeface="Arial"/>
              </a:rPr>
              <a:t>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1"/>
          <p:cNvGrpSpPr/>
          <p:nvPr/>
        </p:nvGrpSpPr>
        <p:grpSpPr>
          <a:xfrm>
            <a:off x="189000" y="368280"/>
            <a:ext cx="8174880" cy="1001160"/>
            <a:chOff x="189000" y="368280"/>
            <a:chExt cx="8174880" cy="1001160"/>
          </a:xfrm>
        </p:grpSpPr>
        <p:sp>
          <p:nvSpPr>
            <p:cNvPr id="90" name="CustomShape 2"/>
            <p:cNvSpPr/>
            <p:nvPr/>
          </p:nvSpPr>
          <p:spPr>
            <a:xfrm>
              <a:off x="507960" y="368280"/>
              <a:ext cx="360" cy="1001160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1" name="CustomShape 3"/>
            <p:cNvSpPr/>
            <p:nvPr/>
          </p:nvSpPr>
          <p:spPr>
            <a:xfrm>
              <a:off x="189000" y="1158840"/>
              <a:ext cx="8174880" cy="360"/>
            </a:xfrm>
            <a:prstGeom prst="rect">
              <a:avLst/>
            </a:prstGeom>
            <a:gradFill rotWithShape="0">
              <a:gsLst>
                <a:gs pos="0">
                  <a:srgbClr val="1c1c1c"/>
                </a:gs>
                <a:gs pos="100000">
                  <a:srgbClr val="ffffff"/>
                </a:gs>
              </a:gsLst>
              <a:lin ang="10800000"/>
            </a:gra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92" name="PlaceHolder 4"/>
          <p:cNvSpPr>
            <a:spLocks noGrp="1"/>
          </p:cNvSpPr>
          <p:nvPr>
            <p:ph type="title"/>
          </p:nvPr>
        </p:nvSpPr>
        <p:spPr>
          <a:xfrm>
            <a:off x="610920" y="260280"/>
            <a:ext cx="7869960" cy="813600"/>
          </a:xfrm>
          <a:prstGeom prst="rect">
            <a:avLst/>
          </a:prstGeom>
        </p:spPr>
        <p:txBody>
          <a:bodyPr lIns="0" rIns="0" tIns="0" bIns="0" anchor="ctr" anchorCtr="1">
            <a:noAutofit/>
          </a:bodyPr>
          <a:p>
            <a:r>
              <a:rPr b="0" lang="en-US" sz="1800" spc="-1" strike="noStrike">
                <a:latin typeface="Arial"/>
              </a:rPr>
              <a:t>Click to edit the 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3" name="PlaceHolder 5"/>
          <p:cNvSpPr>
            <a:spLocks noGrp="1"/>
          </p:cNvSpPr>
          <p:nvPr>
            <p:ph type="body"/>
          </p:nvPr>
        </p:nvSpPr>
        <p:spPr>
          <a:xfrm>
            <a:off x="674640" y="1399680"/>
            <a:ext cx="7870320" cy="4412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Click to edit the outline text format</a:t>
            </a:r>
            <a:endParaRPr b="0" lang="en-US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Second Outline Level</a:t>
            </a:r>
            <a:endParaRPr b="0" lang="en-US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Third Outline Level</a:t>
            </a:r>
            <a:endParaRPr b="0" lang="en-US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Fourth Outline Level</a:t>
            </a:r>
            <a:endParaRPr b="0" lang="en-US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Fifth Outline Level</a:t>
            </a:r>
            <a:endParaRPr b="0" lang="en-US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Sixth Outline Level</a:t>
            </a:r>
            <a:endParaRPr b="0" lang="en-US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Seventh Outline Level</a:t>
            </a:r>
            <a:endParaRPr b="0" lang="en-US" sz="18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" name="Group 1"/>
          <p:cNvGrpSpPr/>
          <p:nvPr/>
        </p:nvGrpSpPr>
        <p:grpSpPr>
          <a:xfrm>
            <a:off x="189000" y="368280"/>
            <a:ext cx="8174880" cy="1001160"/>
            <a:chOff x="189000" y="368280"/>
            <a:chExt cx="8174880" cy="1001160"/>
          </a:xfrm>
        </p:grpSpPr>
        <p:sp>
          <p:nvSpPr>
            <p:cNvPr id="131" name="CustomShape 2"/>
            <p:cNvSpPr/>
            <p:nvPr/>
          </p:nvSpPr>
          <p:spPr>
            <a:xfrm>
              <a:off x="507960" y="368280"/>
              <a:ext cx="360" cy="1001160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2" name="CustomShape 3"/>
            <p:cNvSpPr/>
            <p:nvPr/>
          </p:nvSpPr>
          <p:spPr>
            <a:xfrm>
              <a:off x="189000" y="1158840"/>
              <a:ext cx="8174880" cy="360"/>
            </a:xfrm>
            <a:prstGeom prst="rect">
              <a:avLst/>
            </a:prstGeom>
            <a:gradFill rotWithShape="0">
              <a:gsLst>
                <a:gs pos="0">
                  <a:srgbClr val="1c1c1c"/>
                </a:gs>
                <a:gs pos="100000">
                  <a:srgbClr val="ffffff"/>
                </a:gs>
              </a:gsLst>
              <a:lin ang="10800000"/>
            </a:gra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3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</a:t>
            </a:r>
            <a:r>
              <a:rPr b="0" lang="en-US" sz="4400" spc="-1" strike="noStrike">
                <a:latin typeface="Arial"/>
              </a:rPr>
              <a:t>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3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1" name="Group 1"/>
          <p:cNvGrpSpPr/>
          <p:nvPr/>
        </p:nvGrpSpPr>
        <p:grpSpPr>
          <a:xfrm>
            <a:off x="189000" y="368280"/>
            <a:ext cx="8174880" cy="1001160"/>
            <a:chOff x="189000" y="368280"/>
            <a:chExt cx="8174880" cy="1001160"/>
          </a:xfrm>
        </p:grpSpPr>
        <p:sp>
          <p:nvSpPr>
            <p:cNvPr id="172" name="CustomShape 2"/>
            <p:cNvSpPr/>
            <p:nvPr/>
          </p:nvSpPr>
          <p:spPr>
            <a:xfrm>
              <a:off x="507960" y="368280"/>
              <a:ext cx="360" cy="1001160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3" name="CustomShape 3"/>
            <p:cNvSpPr/>
            <p:nvPr/>
          </p:nvSpPr>
          <p:spPr>
            <a:xfrm>
              <a:off x="189000" y="1158840"/>
              <a:ext cx="8174880" cy="360"/>
            </a:xfrm>
            <a:prstGeom prst="rect">
              <a:avLst/>
            </a:prstGeom>
            <a:gradFill rotWithShape="0">
              <a:gsLst>
                <a:gs pos="0">
                  <a:srgbClr val="1c1c1c"/>
                </a:gs>
                <a:gs pos="100000">
                  <a:srgbClr val="ffffff"/>
                </a:gs>
              </a:gsLst>
              <a:lin ang="10800000"/>
            </a:gra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74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</a:t>
            </a:r>
            <a:r>
              <a:rPr b="0" lang="en-US" sz="4400" spc="-1" strike="noStrike">
                <a:latin typeface="Arial"/>
              </a:rPr>
              <a:t>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75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wmf"/><Relationship Id="rId2" Type="http://schemas.openxmlformats.org/officeDocument/2006/relationships/image" Target="../media/image2.wmf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3.xml"/><Relationship Id="rId5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wmf"/><Relationship Id="rId2" Type="http://schemas.openxmlformats.org/officeDocument/2006/relationships/image" Target="../media/image5.wmf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3.xml"/><Relationship Id="rId5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9.wmf"/><Relationship Id="rId2" Type="http://schemas.openxmlformats.org/officeDocument/2006/relationships/image" Target="../media/image10.wmf"/><Relationship Id="rId3" Type="http://schemas.openxmlformats.org/officeDocument/2006/relationships/image" Target="../media/image11.png"/><Relationship Id="rId4" Type="http://schemas.openxmlformats.org/officeDocument/2006/relationships/slideLayout" Target="../slideLayouts/slideLayout13.xml"/><Relationship Id="rId5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slideLayout" Target="../slideLayouts/slideLayout13.xml"/><Relationship Id="rId5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4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CustomShape 1"/>
          <p:cNvSpPr/>
          <p:nvPr/>
        </p:nvSpPr>
        <p:spPr>
          <a:xfrm>
            <a:off x="990720" y="1676160"/>
            <a:ext cx="7446240" cy="1461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353880"/>
                <a:tab algn="l" pos="712440"/>
                <a:tab algn="l" pos="1071360"/>
                <a:tab algn="l" pos="1430280"/>
                <a:tab algn="l" pos="1788840"/>
                <a:tab algn="l" pos="2147760"/>
                <a:tab algn="l" pos="2506320"/>
                <a:tab algn="l" pos="2865240"/>
                <a:tab algn="l" pos="3224160"/>
                <a:tab algn="l" pos="3582720"/>
                <a:tab algn="l" pos="3941640"/>
                <a:tab algn="l" pos="4300200"/>
                <a:tab algn="l" pos="4659120"/>
                <a:tab algn="l" pos="5018040"/>
                <a:tab algn="l" pos="5376600"/>
                <a:tab algn="l" pos="5735520"/>
                <a:tab algn="l" pos="6094080"/>
                <a:tab algn="l" pos="6453000"/>
                <a:tab algn="l" pos="6811920"/>
                <a:tab algn="l" pos="7170480"/>
                <a:tab algn="l" pos="7203960"/>
                <a:tab algn="l" pos="7530840"/>
                <a:tab algn="l" pos="7889760"/>
                <a:tab algn="l" pos="8248320"/>
                <a:tab algn="l" pos="8607240"/>
                <a:tab algn="l" pos="8966160"/>
                <a:tab algn="l" pos="9324720"/>
                <a:tab algn="l" pos="9683640"/>
                <a:tab algn="l" pos="10042200"/>
                <a:tab algn="l" pos="10401120"/>
                <a:tab algn="l" pos="10760040"/>
                <a:tab algn="l" pos="10761480"/>
                <a:tab algn="l" pos="10762920"/>
              </a:tabLst>
            </a:pPr>
            <a:r>
              <a:rPr b="0" lang="en-US" sz="4000" spc="-1" strike="noStrike">
                <a:solidFill>
                  <a:srgbClr val="333399"/>
                </a:solidFill>
                <a:latin typeface="Arial"/>
                <a:ea typeface="DejaVu Sans"/>
              </a:rPr>
              <a:t>Web Servers and Web Apps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219" name="CustomShape 2"/>
          <p:cNvSpPr/>
          <p:nvPr/>
        </p:nvSpPr>
        <p:spPr>
          <a:xfrm>
            <a:off x="1371600" y="3886200"/>
            <a:ext cx="6765120" cy="1751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Autofit/>
          </a:bodyPr>
          <a:p>
            <a:pPr algn="ctr">
              <a:lnSpc>
                <a:spcPct val="100000"/>
              </a:lnSpc>
              <a:spcBef>
                <a:spcPts val="448"/>
              </a:spcBef>
              <a:tabLst>
                <a:tab algn="l" pos="0"/>
                <a:tab algn="l" pos="10800"/>
                <a:tab algn="l" pos="369720"/>
                <a:tab algn="l" pos="728640"/>
                <a:tab algn="l" pos="1087200"/>
                <a:tab algn="l" pos="1446120"/>
                <a:tab algn="l" pos="1804680"/>
                <a:tab algn="l" pos="2163600"/>
                <a:tab algn="l" pos="2522520"/>
                <a:tab algn="l" pos="2881080"/>
                <a:tab algn="l" pos="3240000"/>
                <a:tab algn="l" pos="3598560"/>
                <a:tab algn="l" pos="3957480"/>
                <a:tab algn="l" pos="4316400"/>
                <a:tab algn="l" pos="4674960"/>
                <a:tab algn="l" pos="5033880"/>
                <a:tab algn="l" pos="5392440"/>
                <a:tab algn="l" pos="5751360"/>
                <a:tab algn="l" pos="6110280"/>
                <a:tab algn="l" pos="6468840"/>
                <a:tab algn="l" pos="6827760"/>
                <a:tab algn="l" pos="7172280"/>
                <a:tab algn="l" pos="7530840"/>
                <a:tab algn="l" pos="7889760"/>
                <a:tab algn="l" pos="8248320"/>
                <a:tab algn="l" pos="8607240"/>
                <a:tab algn="l" pos="8966160"/>
                <a:tab algn="l" pos="9324720"/>
                <a:tab algn="l" pos="9683640"/>
                <a:tab algn="l" pos="10042200"/>
                <a:tab algn="l" pos="10401120"/>
                <a:tab algn="l" pos="10760040"/>
                <a:tab algn="l" pos="10761480"/>
                <a:tab algn="l" pos="10762920"/>
              </a:tabLst>
            </a:pP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48"/>
              </a:spcBef>
              <a:tabLst>
                <a:tab algn="l" pos="0"/>
                <a:tab algn="l" pos="10800"/>
                <a:tab algn="l" pos="369720"/>
                <a:tab algn="l" pos="728640"/>
                <a:tab algn="l" pos="1087200"/>
                <a:tab algn="l" pos="1446120"/>
                <a:tab algn="l" pos="1804680"/>
                <a:tab algn="l" pos="2163600"/>
                <a:tab algn="l" pos="2522520"/>
                <a:tab algn="l" pos="2881080"/>
                <a:tab algn="l" pos="3240000"/>
                <a:tab algn="l" pos="3598560"/>
                <a:tab algn="l" pos="3957480"/>
                <a:tab algn="l" pos="4316400"/>
                <a:tab algn="l" pos="4674960"/>
                <a:tab algn="l" pos="5033880"/>
                <a:tab algn="l" pos="5392440"/>
                <a:tab algn="l" pos="5751360"/>
                <a:tab algn="l" pos="6110280"/>
                <a:tab algn="l" pos="6468840"/>
                <a:tab algn="l" pos="6827760"/>
                <a:tab algn="l" pos="7172280"/>
                <a:tab algn="l" pos="7530840"/>
                <a:tab algn="l" pos="7889760"/>
                <a:tab algn="l" pos="8248320"/>
                <a:tab algn="l" pos="8607240"/>
                <a:tab algn="l" pos="8966160"/>
                <a:tab algn="l" pos="9324720"/>
                <a:tab algn="l" pos="9683640"/>
                <a:tab algn="l" pos="10042200"/>
                <a:tab algn="l" pos="10401120"/>
                <a:tab algn="l" pos="10760040"/>
                <a:tab algn="l" pos="10761480"/>
                <a:tab algn="l" pos="10762920"/>
              </a:tabLst>
            </a:pP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CustomShape 1"/>
          <p:cNvSpPr/>
          <p:nvPr/>
        </p:nvSpPr>
        <p:spPr>
          <a:xfrm>
            <a:off x="611280" y="259920"/>
            <a:ext cx="7920720" cy="864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353880"/>
                <a:tab algn="l" pos="712440"/>
                <a:tab algn="l" pos="1071360"/>
                <a:tab algn="l" pos="1430280"/>
                <a:tab algn="l" pos="1788840"/>
                <a:tab algn="l" pos="2147760"/>
                <a:tab algn="l" pos="2506320"/>
                <a:tab algn="l" pos="2865240"/>
                <a:tab algn="l" pos="3224160"/>
                <a:tab algn="l" pos="3582720"/>
                <a:tab algn="l" pos="3941640"/>
                <a:tab algn="l" pos="4300200"/>
                <a:tab algn="l" pos="4659120"/>
                <a:tab algn="l" pos="5018040"/>
                <a:tab algn="l" pos="5376600"/>
                <a:tab algn="l" pos="5735520"/>
                <a:tab algn="l" pos="6094080"/>
                <a:tab algn="l" pos="6453000"/>
                <a:tab algn="l" pos="6811920"/>
                <a:tab algn="l" pos="7170480"/>
                <a:tab algn="l" pos="7203960"/>
                <a:tab algn="l" pos="7564320"/>
                <a:tab algn="l" pos="7889760"/>
                <a:tab algn="l" pos="8248320"/>
                <a:tab algn="l" pos="8607240"/>
                <a:tab algn="l" pos="8966160"/>
                <a:tab algn="l" pos="9324720"/>
                <a:tab algn="l" pos="9683640"/>
                <a:tab algn="l" pos="10042200"/>
                <a:tab algn="l" pos="10401120"/>
                <a:tab algn="l" pos="1076004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What a Web Server Does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21" name="CustomShape 2"/>
          <p:cNvSpPr/>
          <p:nvPr/>
        </p:nvSpPr>
        <p:spPr>
          <a:xfrm>
            <a:off x="674280" y="1392120"/>
            <a:ext cx="7921080" cy="4917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rmAutofit fontScale="97000"/>
          </a:bodyPr>
          <a:p>
            <a:pPr marL="228600" indent="-227880">
              <a:lnSpc>
                <a:spcPct val="100000"/>
              </a:lnSpc>
              <a:spcBef>
                <a:spcPts val="2837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228600"/>
                <a:tab algn="l" pos="239400"/>
                <a:tab algn="l" pos="598320"/>
                <a:tab algn="l" pos="957240"/>
                <a:tab algn="l" pos="1315800"/>
                <a:tab algn="l" pos="1674720"/>
                <a:tab algn="l" pos="2033280"/>
                <a:tab algn="l" pos="2392200"/>
                <a:tab algn="l" pos="2751120"/>
                <a:tab algn="l" pos="3109680"/>
                <a:tab algn="l" pos="3468600"/>
                <a:tab algn="l" pos="3827160"/>
                <a:tab algn="l" pos="4186080"/>
                <a:tab algn="l" pos="4545000"/>
                <a:tab algn="l" pos="4903560"/>
                <a:tab algn="l" pos="5262480"/>
                <a:tab algn="l" pos="5621040"/>
                <a:tab algn="l" pos="5979960"/>
                <a:tab algn="l" pos="6338880"/>
                <a:tab algn="l" pos="6697440"/>
                <a:tab algn="l" pos="7056360"/>
                <a:tab algn="l" pos="7203960"/>
                <a:tab algn="l" pos="7564320"/>
                <a:tab algn="l" pos="7889760"/>
                <a:tab algn="l" pos="8248320"/>
                <a:tab algn="l" pos="8607240"/>
                <a:tab algn="l" pos="8966160"/>
                <a:tab algn="l" pos="9324720"/>
                <a:tab algn="l" pos="9683640"/>
                <a:tab algn="l" pos="10042200"/>
                <a:tab algn="l" pos="10401120"/>
                <a:tab algn="l" pos="1076004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Receives http requests &amp; sends replies</a:t>
            </a:r>
            <a:endParaRPr b="0" lang="en-US" sz="2400" spc="-1" strike="noStrike">
              <a:latin typeface="Arial"/>
            </a:endParaRPr>
          </a:p>
          <a:p>
            <a:pPr marL="228600" indent="-227880">
              <a:lnSpc>
                <a:spcPct val="100000"/>
              </a:lnSpc>
              <a:spcBef>
                <a:spcPts val="2837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228600"/>
                <a:tab algn="l" pos="239400"/>
                <a:tab algn="l" pos="598320"/>
                <a:tab algn="l" pos="957240"/>
                <a:tab algn="l" pos="1315800"/>
                <a:tab algn="l" pos="1674720"/>
                <a:tab algn="l" pos="2033280"/>
                <a:tab algn="l" pos="2392200"/>
                <a:tab algn="l" pos="2751120"/>
                <a:tab algn="l" pos="3109680"/>
                <a:tab algn="l" pos="3468600"/>
                <a:tab algn="l" pos="3827160"/>
                <a:tab algn="l" pos="4186080"/>
                <a:tab algn="l" pos="4545000"/>
                <a:tab algn="l" pos="4903560"/>
                <a:tab algn="l" pos="5262480"/>
                <a:tab algn="l" pos="5621040"/>
                <a:tab algn="l" pos="5979960"/>
                <a:tab algn="l" pos="6338880"/>
                <a:tab algn="l" pos="6697440"/>
                <a:tab algn="l" pos="7056360"/>
                <a:tab algn="l" pos="7203960"/>
                <a:tab algn="l" pos="7564320"/>
                <a:tab algn="l" pos="7889760"/>
                <a:tab algn="l" pos="8248320"/>
                <a:tab algn="l" pos="8607240"/>
                <a:tab algn="l" pos="8966160"/>
                <a:tab algn="l" pos="9324720"/>
                <a:tab algn="l" pos="9683640"/>
                <a:tab algn="l" pos="10042200"/>
                <a:tab algn="l" pos="10401120"/>
                <a:tab algn="l" pos="1076004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Serve </a:t>
            </a:r>
            <a:r>
              <a:rPr b="1" lang="en-US" sz="2400" spc="-1" strike="noStrike">
                <a:solidFill>
                  <a:srgbClr val="000080"/>
                </a:solidFill>
                <a:latin typeface="Arial"/>
                <a:ea typeface="DejaVu Sans"/>
              </a:rPr>
              <a:t>static content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(web page in a file, images, etc)</a:t>
            </a:r>
            <a:endParaRPr b="0" lang="en-US" sz="2400" spc="-1" strike="noStrike">
              <a:latin typeface="Arial"/>
            </a:endParaRPr>
          </a:p>
          <a:p>
            <a:pPr marL="228600" indent="-227880">
              <a:lnSpc>
                <a:spcPct val="100000"/>
              </a:lnSpc>
              <a:spcBef>
                <a:spcPts val="2837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228600"/>
                <a:tab algn="l" pos="239400"/>
                <a:tab algn="l" pos="598320"/>
                <a:tab algn="l" pos="957240"/>
                <a:tab algn="l" pos="1315800"/>
                <a:tab algn="l" pos="1674720"/>
                <a:tab algn="l" pos="2033280"/>
                <a:tab algn="l" pos="2392200"/>
                <a:tab algn="l" pos="2751120"/>
                <a:tab algn="l" pos="3109680"/>
                <a:tab algn="l" pos="3468600"/>
                <a:tab algn="l" pos="3827160"/>
                <a:tab algn="l" pos="4186080"/>
                <a:tab algn="l" pos="4545000"/>
                <a:tab algn="l" pos="4903560"/>
                <a:tab algn="l" pos="5262480"/>
                <a:tab algn="l" pos="5621040"/>
                <a:tab algn="l" pos="5979960"/>
                <a:tab algn="l" pos="6338880"/>
                <a:tab algn="l" pos="6697440"/>
                <a:tab algn="l" pos="7056360"/>
                <a:tab algn="l" pos="7203960"/>
                <a:tab algn="l" pos="7564320"/>
                <a:tab algn="l" pos="7889760"/>
                <a:tab algn="l" pos="8248320"/>
                <a:tab algn="l" pos="8607240"/>
                <a:tab algn="l" pos="8966160"/>
                <a:tab algn="l" pos="9324720"/>
                <a:tab algn="l" pos="9683640"/>
                <a:tab algn="l" pos="10042200"/>
                <a:tab algn="l" pos="10401120"/>
                <a:tab algn="l" pos="1076004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Forward requests to other servers (proxy, load balancing)</a:t>
            </a:r>
            <a:endParaRPr b="0" lang="en-US" sz="2400" spc="-1" strike="noStrike">
              <a:latin typeface="Arial"/>
            </a:endParaRPr>
          </a:p>
          <a:p>
            <a:pPr marL="228600" indent="-227880">
              <a:lnSpc>
                <a:spcPct val="100000"/>
              </a:lnSpc>
              <a:spcBef>
                <a:spcPts val="2837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228600"/>
                <a:tab algn="l" pos="239400"/>
                <a:tab algn="l" pos="598320"/>
                <a:tab algn="l" pos="957240"/>
                <a:tab algn="l" pos="1315800"/>
                <a:tab algn="l" pos="1674720"/>
                <a:tab algn="l" pos="2033280"/>
                <a:tab algn="l" pos="2392200"/>
                <a:tab algn="l" pos="2751120"/>
                <a:tab algn="l" pos="3109680"/>
                <a:tab algn="l" pos="3468600"/>
                <a:tab algn="l" pos="3827160"/>
                <a:tab algn="l" pos="4186080"/>
                <a:tab algn="l" pos="4545000"/>
                <a:tab algn="l" pos="4903560"/>
                <a:tab algn="l" pos="5262480"/>
                <a:tab algn="l" pos="5621040"/>
                <a:tab algn="l" pos="5979960"/>
                <a:tab algn="l" pos="6338880"/>
                <a:tab algn="l" pos="6697440"/>
                <a:tab algn="l" pos="7056360"/>
                <a:tab algn="l" pos="7203960"/>
                <a:tab algn="l" pos="7564320"/>
                <a:tab algn="l" pos="7889760"/>
                <a:tab algn="l" pos="8248320"/>
                <a:tab algn="l" pos="8607240"/>
                <a:tab algn="l" pos="8966160"/>
                <a:tab algn="l" pos="9324720"/>
                <a:tab algn="l" pos="9683640"/>
                <a:tab algn="l" pos="10042200"/>
                <a:tab algn="l" pos="10401120"/>
                <a:tab algn="l" pos="1076004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Provide </a:t>
            </a:r>
            <a:r>
              <a:rPr b="1" lang="en-US" sz="2400" spc="-1" strike="noStrike">
                <a:solidFill>
                  <a:srgbClr val="000080"/>
                </a:solidFill>
                <a:latin typeface="Arial"/>
                <a:ea typeface="DejaVu Sans"/>
              </a:rPr>
              <a:t>dynamic content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from applications written in PHP, Python, Java, other -- via a back-end processor </a:t>
            </a:r>
            <a:endParaRPr b="0" lang="en-US" sz="2400" spc="-1" strike="noStrike">
              <a:latin typeface="Arial"/>
            </a:endParaRPr>
          </a:p>
          <a:p>
            <a:pPr marL="228600" indent="-227880">
              <a:lnSpc>
                <a:spcPct val="100000"/>
              </a:lnSpc>
              <a:spcBef>
                <a:spcPts val="2837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228600"/>
                <a:tab algn="l" pos="239400"/>
                <a:tab algn="l" pos="598320"/>
                <a:tab algn="l" pos="957240"/>
                <a:tab algn="l" pos="1315800"/>
                <a:tab algn="l" pos="1674720"/>
                <a:tab algn="l" pos="2033280"/>
                <a:tab algn="l" pos="2392200"/>
                <a:tab algn="l" pos="2751120"/>
                <a:tab algn="l" pos="3109680"/>
                <a:tab algn="l" pos="3468600"/>
                <a:tab algn="l" pos="3827160"/>
                <a:tab algn="l" pos="4186080"/>
                <a:tab algn="l" pos="4545000"/>
                <a:tab algn="l" pos="4903560"/>
                <a:tab algn="l" pos="5262480"/>
                <a:tab algn="l" pos="5621040"/>
                <a:tab algn="l" pos="5979960"/>
                <a:tab algn="l" pos="6338880"/>
                <a:tab algn="l" pos="6697440"/>
                <a:tab algn="l" pos="7056360"/>
                <a:tab algn="l" pos="7203960"/>
                <a:tab algn="l" pos="7564320"/>
                <a:tab algn="l" pos="7889760"/>
                <a:tab algn="l" pos="8248320"/>
                <a:tab algn="l" pos="8607240"/>
                <a:tab algn="l" pos="8966160"/>
                <a:tab algn="l" pos="9324720"/>
                <a:tab algn="l" pos="9683640"/>
                <a:tab algn="l" pos="10042200"/>
                <a:tab algn="l" pos="10401120"/>
                <a:tab algn="l" pos="1076004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Handles security certificates and secure sessions</a:t>
            </a:r>
            <a:endParaRPr b="0" lang="en-US" sz="2400" spc="-1" strike="noStrike">
              <a:latin typeface="Arial"/>
            </a:endParaRPr>
          </a:p>
          <a:p>
            <a:pPr marL="228600" indent="-227880">
              <a:lnSpc>
                <a:spcPct val="100000"/>
              </a:lnSpc>
              <a:spcBef>
                <a:spcPts val="2837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228600"/>
                <a:tab algn="l" pos="239400"/>
                <a:tab algn="l" pos="598320"/>
                <a:tab algn="l" pos="957240"/>
                <a:tab algn="l" pos="1315800"/>
                <a:tab algn="l" pos="1674720"/>
                <a:tab algn="l" pos="2033280"/>
                <a:tab algn="l" pos="2392200"/>
                <a:tab algn="l" pos="2751120"/>
                <a:tab algn="l" pos="3109680"/>
                <a:tab algn="l" pos="3468600"/>
                <a:tab algn="l" pos="3827160"/>
                <a:tab algn="l" pos="4186080"/>
                <a:tab algn="l" pos="4545000"/>
                <a:tab algn="l" pos="4903560"/>
                <a:tab algn="l" pos="5262480"/>
                <a:tab algn="l" pos="5621040"/>
                <a:tab algn="l" pos="5979960"/>
                <a:tab algn="l" pos="6338880"/>
                <a:tab algn="l" pos="6697440"/>
                <a:tab algn="l" pos="7056360"/>
                <a:tab algn="l" pos="7203960"/>
                <a:tab algn="l" pos="7564320"/>
                <a:tab algn="l" pos="7889760"/>
                <a:tab algn="l" pos="8248320"/>
                <a:tab algn="l" pos="8607240"/>
                <a:tab algn="l" pos="8966160"/>
                <a:tab algn="l" pos="9324720"/>
                <a:tab algn="l" pos="9683640"/>
                <a:tab algn="l" pos="10042200"/>
                <a:tab algn="l" pos="10401120"/>
                <a:tab algn="l" pos="1076004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May perform authentication, but many web apps and web frameworks do this themselves</a:t>
            </a:r>
            <a:endParaRPr b="0" lang="en-US" sz="2400" spc="-1" strike="noStrike">
              <a:latin typeface="Arial"/>
            </a:endParaRPr>
          </a:p>
          <a:p>
            <a:pPr marL="228600" indent="-19152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CustomShape 1"/>
          <p:cNvSpPr/>
          <p:nvPr/>
        </p:nvSpPr>
        <p:spPr>
          <a:xfrm>
            <a:off x="610920" y="260280"/>
            <a:ext cx="7884360" cy="928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 anchorCtr="1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3880"/>
                <a:tab algn="l" pos="712440"/>
                <a:tab algn="l" pos="1071360"/>
                <a:tab algn="l" pos="1430280"/>
                <a:tab algn="l" pos="1788840"/>
                <a:tab algn="l" pos="2147760"/>
                <a:tab algn="l" pos="2506320"/>
                <a:tab algn="l" pos="2865240"/>
                <a:tab algn="l" pos="3224160"/>
                <a:tab algn="l" pos="3582720"/>
                <a:tab algn="l" pos="3941640"/>
                <a:tab algn="l" pos="4300200"/>
                <a:tab algn="l" pos="4659120"/>
                <a:tab algn="l" pos="5018040"/>
                <a:tab algn="l" pos="5376600"/>
                <a:tab algn="l" pos="5735520"/>
                <a:tab algn="l" pos="6094080"/>
                <a:tab algn="l" pos="6453000"/>
                <a:tab algn="l" pos="6811920"/>
                <a:tab algn="l" pos="7170480"/>
                <a:tab algn="l" pos="7203960"/>
                <a:tab algn="l" pos="7564320"/>
                <a:tab algn="l" pos="7889760"/>
                <a:tab algn="l" pos="8248320"/>
                <a:tab algn="l" pos="8607240"/>
                <a:tab algn="l" pos="8966160"/>
                <a:tab algn="l" pos="9324720"/>
                <a:tab algn="l" pos="9683640"/>
                <a:tab algn="l" pos="10042200"/>
                <a:tab algn="l" pos="10401120"/>
                <a:tab algn="l" pos="1076004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Static vs Dynamic Content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23" name="CustomShape 2"/>
          <p:cNvSpPr/>
          <p:nvPr/>
        </p:nvSpPr>
        <p:spPr>
          <a:xfrm>
            <a:off x="674280" y="1399680"/>
            <a:ext cx="8286120" cy="5092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rmAutofit/>
          </a:bodyPr>
          <a:p>
            <a:pPr marL="342720" indent="-32796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https://yoursite/index.html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0" lang="en-US" sz="2400" spc="-1" strike="noStrike">
                <a:solidFill>
                  <a:srgbClr val="ce181e"/>
                </a:solidFill>
                <a:latin typeface="Arial"/>
                <a:ea typeface="DejaVu Sans"/>
              </a:rPr>
              <a:t>static file</a:t>
            </a:r>
            <a:endParaRPr b="0" lang="en-US" sz="2400" spc="-1" strike="noStrike">
              <a:latin typeface="Arial"/>
            </a:endParaRPr>
          </a:p>
          <a:p>
            <a:pPr marL="342720" indent="-32796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https://yoursite/media/logo.png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0" lang="en-US" sz="2400" spc="-1" strike="noStrike">
                <a:solidFill>
                  <a:srgbClr val="ce181e"/>
                </a:solidFill>
                <a:latin typeface="Arial"/>
                <a:ea typeface="DejaVu Sans"/>
              </a:rPr>
              <a:t>static file</a:t>
            </a:r>
            <a:endParaRPr b="0" lang="en-US" sz="2400" spc="-1" strike="noStrike">
              <a:latin typeface="Arial"/>
            </a:endParaRPr>
          </a:p>
          <a:p>
            <a:pPr marL="342720" indent="-32796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https://yoursite/media/xmas.mp3</a:t>
            </a:r>
            <a:r>
              <a:rPr b="0" lang="en-US" sz="2400" spc="-1" strike="noStrike">
                <a:solidFill>
                  <a:srgbClr val="ce181e"/>
                </a:solidFill>
                <a:latin typeface="Arial"/>
                <a:ea typeface="DejaVu Sans"/>
              </a:rPr>
              <a:t>	</a:t>
            </a:r>
            <a:r>
              <a:rPr b="0" lang="en-US" sz="2400" spc="-1" strike="noStrike">
                <a:solidFill>
                  <a:srgbClr val="ce181e"/>
                </a:solidFill>
                <a:latin typeface="Arial"/>
                <a:ea typeface="DejaVu Sans"/>
              </a:rPr>
              <a:t>static file</a:t>
            </a:r>
            <a:endParaRPr b="0" lang="en-US" sz="2400" spc="-1" strike="noStrike">
              <a:latin typeface="Arial"/>
            </a:endParaRPr>
          </a:p>
          <a:p>
            <a:pPr marL="342720" indent="-32796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https://yoursite/media/intro.webm</a:t>
            </a:r>
            <a:r>
              <a:rPr b="0" lang="en-US" sz="2400" spc="-1" strike="noStrike">
                <a:solidFill>
                  <a:srgbClr val="ce181e"/>
                </a:solidFill>
                <a:latin typeface="Arial"/>
                <a:ea typeface="DejaVu Sans"/>
              </a:rPr>
              <a:t>	</a:t>
            </a:r>
            <a:r>
              <a:rPr b="0" lang="en-US" sz="2400" spc="-1" strike="noStrike">
                <a:solidFill>
                  <a:srgbClr val="ce181e"/>
                </a:solidFill>
                <a:latin typeface="Arial"/>
                <a:ea typeface="DejaVu Sans"/>
              </a:rPr>
              <a:t>static file</a:t>
            </a:r>
            <a:endParaRPr b="0" lang="en-US" sz="2400" spc="-1" strike="noStrike">
              <a:latin typeface="Arial"/>
            </a:endParaRPr>
          </a:p>
          <a:p>
            <a:pPr marL="342720" indent="-32796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  <a:p>
            <a:pPr marL="4824000" indent="-478728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https://yoursite/index.</a:t>
            </a:r>
            <a:r>
              <a:rPr b="0" lang="en-US" sz="2400" spc="-1" strike="noStrike">
                <a:solidFill>
                  <a:srgbClr val="000080"/>
                </a:solidFill>
                <a:latin typeface="Arial"/>
                <a:ea typeface="DejaVu Sans"/>
              </a:rPr>
              <a:t>php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0" lang="en-US" sz="2400" spc="-1" strike="noStrike">
                <a:solidFill>
                  <a:srgbClr val="ce181e"/>
                </a:solidFill>
                <a:latin typeface="Arial"/>
                <a:ea typeface="DejaVu Sans"/>
              </a:rPr>
              <a:t>dynamic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ce181e"/>
                </a:solidFill>
                <a:latin typeface="Arial"/>
                <a:ea typeface="DejaVu Sans"/>
              </a:rPr>
              <a:t>page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from PHP app</a:t>
            </a:r>
            <a:endParaRPr b="0" lang="en-US" sz="2400" spc="-1" strike="noStrike">
              <a:latin typeface="Arial"/>
            </a:endParaRPr>
          </a:p>
          <a:p>
            <a:pPr marL="4824000" indent="-478728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https://amazon.com/books/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0" lang="en-US" sz="2400" spc="-1" strike="noStrike">
                <a:solidFill>
                  <a:srgbClr val="ce181e"/>
                </a:solidFill>
                <a:latin typeface="Arial"/>
                <a:ea typeface="DejaVu Sans"/>
              </a:rPr>
              <a:t>dynamic page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of </a:t>
            </a:r>
            <a:endParaRPr b="0" lang="en-US" sz="2400" spc="-1" strike="noStrike">
              <a:latin typeface="Arial"/>
            </a:endParaRPr>
          </a:p>
          <a:p>
            <a:pPr marL="4824000" indent="-478728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best selling books</a:t>
            </a:r>
            <a:endParaRPr b="0" lang="en-US" sz="2400" spc="-1" strike="noStrike">
              <a:latin typeface="Arial"/>
            </a:endParaRPr>
          </a:p>
          <a:p>
            <a:pPr marL="4824000" indent="-478728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https://yoursite/polls/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list of polls from Python</a:t>
            </a:r>
            <a:endParaRPr b="0" lang="en-US" sz="2400" spc="-1" strike="noStrike">
              <a:latin typeface="Arial"/>
            </a:endParaRPr>
          </a:p>
          <a:p>
            <a:pPr marL="4824000" indent="-478728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app written with Django</a:t>
            </a:r>
            <a:endParaRPr b="0" lang="en-US" sz="2400" spc="-1" strike="noStrike">
              <a:latin typeface="Arial"/>
            </a:endParaRPr>
          </a:p>
          <a:p>
            <a:pPr marL="342720" indent="-32796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CustomShape 1"/>
          <p:cNvSpPr/>
          <p:nvPr/>
        </p:nvSpPr>
        <p:spPr>
          <a:xfrm>
            <a:off x="610920" y="259920"/>
            <a:ext cx="7901640" cy="845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 anchorCtr="1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Handling a web request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25" name="CustomShape 2"/>
          <p:cNvSpPr/>
          <p:nvPr/>
        </p:nvSpPr>
        <p:spPr>
          <a:xfrm>
            <a:off x="610920" y="1371240"/>
            <a:ext cx="8257320" cy="1645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rmAutofit/>
          </a:bodyPr>
          <a:p>
            <a:pPr marL="342720" indent="-332640">
              <a:lnSpc>
                <a:spcPct val="100000"/>
              </a:lnSpc>
              <a:spcBef>
                <a:spcPts val="1423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(1)  </a:t>
            </a:r>
            <a:r>
              <a:rPr b="0" lang="en-US" sz="2400" spc="-1" strike="noStrike">
                <a:solidFill>
                  <a:srgbClr val="000080"/>
                </a:solidFill>
                <a:latin typeface="Arial"/>
                <a:ea typeface="DejaVu Sans"/>
              </a:rPr>
              <a:t>A web client submits a web request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:</a:t>
            </a:r>
            <a:endParaRPr b="0" lang="en-US" sz="2400" spc="-1" strike="noStrike">
              <a:latin typeface="Arial"/>
            </a:endParaRPr>
          </a:p>
          <a:p>
            <a:pPr marL="342720" indent="-332640">
              <a:lnSpc>
                <a:spcPct val="100000"/>
              </a:lnSpc>
              <a:spcBef>
                <a:spcPts val="1423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ourier New"/>
                <a:ea typeface="DejaVu Sans"/>
              </a:rPr>
              <a:t>   </a:t>
            </a:r>
            <a:r>
              <a:rPr b="0" lang="en-US" sz="2400" spc="-1" strike="noStrike">
                <a:solidFill>
                  <a:srgbClr val="000000"/>
                </a:solidFill>
                <a:latin typeface="Courier New"/>
                <a:ea typeface="DejaVu Sans"/>
              </a:rPr>
              <a:t>https://store.com/index.html</a:t>
            </a:r>
            <a:endParaRPr b="0" lang="en-US" sz="2400" spc="-1" strike="noStrike">
              <a:latin typeface="Arial"/>
            </a:endParaRPr>
          </a:p>
          <a:p>
            <a:pPr marL="342720" indent="-332640">
              <a:lnSpc>
                <a:spcPct val="100000"/>
              </a:lnSpc>
              <a:spcBef>
                <a:spcPts val="1423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    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an https request is sent to the store.com server...</a:t>
            </a:r>
            <a:endParaRPr b="0" lang="en-US" sz="2400" spc="-1" strike="noStrike">
              <a:latin typeface="Arial"/>
            </a:endParaRPr>
          </a:p>
          <a:p>
            <a:pPr marL="342720" indent="-33264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</p:txBody>
      </p:sp>
      <p:pic>
        <p:nvPicPr>
          <p:cNvPr id="226" name="" descr=""/>
          <p:cNvPicPr/>
          <p:nvPr/>
        </p:nvPicPr>
        <p:blipFill>
          <a:blip r:embed="rId1"/>
          <a:stretch/>
        </p:blipFill>
        <p:spPr>
          <a:xfrm>
            <a:off x="514440" y="3714840"/>
            <a:ext cx="837360" cy="837360"/>
          </a:xfrm>
          <a:prstGeom prst="rect">
            <a:avLst/>
          </a:prstGeom>
          <a:ln>
            <a:noFill/>
          </a:ln>
        </p:spPr>
      </p:pic>
      <p:pic>
        <p:nvPicPr>
          <p:cNvPr id="227" name="" descr=""/>
          <p:cNvPicPr/>
          <p:nvPr/>
        </p:nvPicPr>
        <p:blipFill>
          <a:blip r:embed="rId2"/>
          <a:stretch/>
        </p:blipFill>
        <p:spPr>
          <a:xfrm>
            <a:off x="3456000" y="3532320"/>
            <a:ext cx="664560" cy="930960"/>
          </a:xfrm>
          <a:prstGeom prst="rect">
            <a:avLst/>
          </a:prstGeom>
          <a:ln>
            <a:noFill/>
          </a:ln>
        </p:spPr>
      </p:pic>
      <p:sp>
        <p:nvSpPr>
          <p:cNvPr id="228" name="CustomShape 3"/>
          <p:cNvSpPr/>
          <p:nvPr/>
        </p:nvSpPr>
        <p:spPr>
          <a:xfrm>
            <a:off x="631800" y="3152880"/>
            <a:ext cx="3601440" cy="428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>
              <a:lnSpc>
                <a:spcPct val="100000"/>
              </a:lnSpc>
              <a:spcBef>
                <a:spcPts val="1123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1" lang="en-US" sz="2200" spc="-1" strike="noStrike">
                <a:solidFill>
                  <a:srgbClr val="000080"/>
                </a:solidFill>
                <a:latin typeface="Courier New"/>
                <a:ea typeface="Arial"/>
              </a:rPr>
              <a:t>GET /index.html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29" name="Line 4"/>
          <p:cNvSpPr/>
          <p:nvPr/>
        </p:nvSpPr>
        <p:spPr>
          <a:xfrm>
            <a:off x="1378080" y="3971880"/>
            <a:ext cx="1976400" cy="1800"/>
          </a:xfrm>
          <a:prstGeom prst="line">
            <a:avLst/>
          </a:prstGeom>
          <a:ln cap="sq" w="19080">
            <a:solidFill>
              <a:srgbClr val="333399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30" name="CustomShape 5"/>
          <p:cNvSpPr/>
          <p:nvPr/>
        </p:nvSpPr>
        <p:spPr>
          <a:xfrm>
            <a:off x="4249800" y="3382920"/>
            <a:ext cx="4253760" cy="1278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(2) </a:t>
            </a:r>
            <a:r>
              <a:rPr b="0" lang="en-US" sz="2400" spc="-1" strike="noStrike">
                <a:solidFill>
                  <a:srgbClr val="000080"/>
                </a:solidFill>
                <a:latin typeface="Arial"/>
                <a:ea typeface="DejaVu Sans"/>
              </a:rPr>
              <a:t>A host (server) receives tcp packet and looks for app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listening on port </a:t>
            </a: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443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231" name="" descr=""/>
          <p:cNvPicPr/>
          <p:nvPr/>
        </p:nvPicPr>
        <p:blipFill>
          <a:blip r:embed="rId3"/>
          <a:stretch/>
        </p:blipFill>
        <p:spPr>
          <a:xfrm>
            <a:off x="4937040" y="5211720"/>
            <a:ext cx="1188360" cy="1188360"/>
          </a:xfrm>
          <a:prstGeom prst="rect">
            <a:avLst/>
          </a:prstGeom>
          <a:ln>
            <a:noFill/>
          </a:ln>
        </p:spPr>
      </p:pic>
      <p:sp>
        <p:nvSpPr>
          <p:cNvPr id="232" name="Line 6"/>
          <p:cNvSpPr/>
          <p:nvPr/>
        </p:nvSpPr>
        <p:spPr>
          <a:xfrm>
            <a:off x="4114800" y="4572000"/>
            <a:ext cx="969840" cy="787320"/>
          </a:xfrm>
          <a:prstGeom prst="line">
            <a:avLst/>
          </a:prstGeom>
          <a:ln w="9360">
            <a:solidFill>
              <a:srgbClr val="000080"/>
            </a:solidFill>
            <a:prstDash val="sysDot"/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33" name="CustomShape 7"/>
          <p:cNvSpPr/>
          <p:nvPr/>
        </p:nvSpPr>
        <p:spPr>
          <a:xfrm>
            <a:off x="4518000" y="6229440"/>
            <a:ext cx="2056680" cy="428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spcBef>
                <a:spcPts val="1123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  <a:ea typeface="Arial"/>
              </a:rPr>
              <a:t>listen *:443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34" name="CustomShape 8"/>
          <p:cNvSpPr/>
          <p:nvPr/>
        </p:nvSpPr>
        <p:spPr>
          <a:xfrm>
            <a:off x="5986440" y="5029200"/>
            <a:ext cx="3064680" cy="17359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marL="360360" indent="-358200"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(3) Give packet body to listening web server.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CustomShape 1"/>
          <p:cNvSpPr/>
          <p:nvPr/>
        </p:nvSpPr>
        <p:spPr>
          <a:xfrm>
            <a:off x="610920" y="259920"/>
            <a:ext cx="7901640" cy="845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 anchorCtr="1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Serving Static Content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36" name="CustomShape 2"/>
          <p:cNvSpPr/>
          <p:nvPr/>
        </p:nvSpPr>
        <p:spPr>
          <a:xfrm>
            <a:off x="610920" y="1371240"/>
            <a:ext cx="8257320" cy="1645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rmAutofit/>
          </a:bodyPr>
          <a:p>
            <a:pPr marL="342720" indent="-332640">
              <a:lnSpc>
                <a:spcPct val="100000"/>
              </a:lnSpc>
              <a:spcBef>
                <a:spcPts val="1423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If the request is for a static file, server returns it directly</a:t>
            </a:r>
            <a:endParaRPr b="0" lang="en-US" sz="2400" spc="-1" strike="noStrike">
              <a:latin typeface="Arial"/>
            </a:endParaRPr>
          </a:p>
          <a:p>
            <a:pPr marL="342720" indent="-332640">
              <a:lnSpc>
                <a:spcPct val="100000"/>
              </a:lnSpc>
              <a:spcBef>
                <a:spcPts val="1423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ourier New"/>
                <a:ea typeface="DejaVu Sans"/>
              </a:rPr>
              <a:t>   </a:t>
            </a:r>
            <a:r>
              <a:rPr b="0" lang="en-US" sz="2400" spc="-1" strike="noStrike">
                <a:solidFill>
                  <a:srgbClr val="000000"/>
                </a:solidFill>
                <a:latin typeface="Courier New"/>
                <a:ea typeface="DejaVu Sans"/>
              </a:rPr>
              <a:t>https://store.com/</a:t>
            </a:r>
            <a:r>
              <a:rPr b="1" lang="en-US" sz="2400" spc="-1" strike="noStrike">
                <a:solidFill>
                  <a:srgbClr val="000000"/>
                </a:solidFill>
                <a:latin typeface="Courier New"/>
                <a:ea typeface="DejaVu Sans"/>
              </a:rPr>
              <a:t>index.html</a:t>
            </a:r>
            <a:endParaRPr b="0" lang="en-US" sz="2400" spc="-1" strike="noStrike">
              <a:latin typeface="Arial"/>
            </a:endParaRPr>
          </a:p>
          <a:p>
            <a:pPr marL="342720" indent="-33264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</p:txBody>
      </p:sp>
      <p:pic>
        <p:nvPicPr>
          <p:cNvPr id="237" name="" descr=""/>
          <p:cNvPicPr/>
          <p:nvPr/>
        </p:nvPicPr>
        <p:blipFill>
          <a:blip r:embed="rId1"/>
          <a:stretch/>
        </p:blipFill>
        <p:spPr>
          <a:xfrm>
            <a:off x="365760" y="3122280"/>
            <a:ext cx="837360" cy="837360"/>
          </a:xfrm>
          <a:prstGeom prst="rect">
            <a:avLst/>
          </a:prstGeom>
          <a:ln>
            <a:noFill/>
          </a:ln>
        </p:spPr>
      </p:pic>
      <p:pic>
        <p:nvPicPr>
          <p:cNvPr id="238" name="" descr=""/>
          <p:cNvPicPr/>
          <p:nvPr/>
        </p:nvPicPr>
        <p:blipFill>
          <a:blip r:embed="rId2"/>
          <a:stretch/>
        </p:blipFill>
        <p:spPr>
          <a:xfrm>
            <a:off x="3307320" y="2939760"/>
            <a:ext cx="664560" cy="930960"/>
          </a:xfrm>
          <a:prstGeom prst="rect">
            <a:avLst/>
          </a:prstGeom>
          <a:ln>
            <a:noFill/>
          </a:ln>
        </p:spPr>
      </p:pic>
      <p:sp>
        <p:nvSpPr>
          <p:cNvPr id="239" name="CustomShape 3"/>
          <p:cNvSpPr/>
          <p:nvPr/>
        </p:nvSpPr>
        <p:spPr>
          <a:xfrm>
            <a:off x="483120" y="2560320"/>
            <a:ext cx="3601440" cy="428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>
              <a:lnSpc>
                <a:spcPct val="100000"/>
              </a:lnSpc>
              <a:spcBef>
                <a:spcPts val="1123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1" lang="en-US" sz="2200" spc="-1" strike="noStrike">
                <a:solidFill>
                  <a:srgbClr val="000080"/>
                </a:solidFill>
                <a:latin typeface="Courier New"/>
                <a:ea typeface="Arial"/>
              </a:rPr>
              <a:t>GET /index.html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40" name="Line 4"/>
          <p:cNvSpPr/>
          <p:nvPr/>
        </p:nvSpPr>
        <p:spPr>
          <a:xfrm>
            <a:off x="1229400" y="3379320"/>
            <a:ext cx="1976400" cy="1800"/>
          </a:xfrm>
          <a:prstGeom prst="line">
            <a:avLst/>
          </a:prstGeom>
          <a:ln cap="sq" w="19080">
            <a:solidFill>
              <a:srgbClr val="333399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41" name="CustomShape 5"/>
          <p:cNvSpPr/>
          <p:nvPr/>
        </p:nvSpPr>
        <p:spPr>
          <a:xfrm>
            <a:off x="4101120" y="2790360"/>
            <a:ext cx="4253760" cy="1278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42" name="" descr=""/>
          <p:cNvPicPr/>
          <p:nvPr/>
        </p:nvPicPr>
        <p:blipFill>
          <a:blip r:embed="rId3"/>
          <a:stretch/>
        </p:blipFill>
        <p:spPr>
          <a:xfrm>
            <a:off x="4788360" y="4619160"/>
            <a:ext cx="1188360" cy="1188360"/>
          </a:xfrm>
          <a:prstGeom prst="rect">
            <a:avLst/>
          </a:prstGeom>
          <a:ln>
            <a:noFill/>
          </a:ln>
        </p:spPr>
      </p:pic>
      <p:sp>
        <p:nvSpPr>
          <p:cNvPr id="243" name="Line 6"/>
          <p:cNvSpPr/>
          <p:nvPr/>
        </p:nvSpPr>
        <p:spPr>
          <a:xfrm>
            <a:off x="3749040" y="3749040"/>
            <a:ext cx="1186920" cy="1017720"/>
          </a:xfrm>
          <a:prstGeom prst="line">
            <a:avLst/>
          </a:prstGeom>
          <a:ln w="9360">
            <a:solidFill>
              <a:srgbClr val="00008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44" name="CustomShape 7"/>
          <p:cNvSpPr/>
          <p:nvPr/>
        </p:nvSpPr>
        <p:spPr>
          <a:xfrm>
            <a:off x="4369320" y="5636880"/>
            <a:ext cx="2056680" cy="428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spcBef>
                <a:spcPts val="1123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  <a:ea typeface="Arial"/>
              </a:rPr>
              <a:t>listen *:443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45" name="CustomShape 8"/>
          <p:cNvSpPr/>
          <p:nvPr/>
        </p:nvSpPr>
        <p:spPr>
          <a:xfrm>
            <a:off x="5837760" y="4436640"/>
            <a:ext cx="3064680" cy="17359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6" name="CustomShape 9"/>
          <p:cNvSpPr/>
          <p:nvPr/>
        </p:nvSpPr>
        <p:spPr>
          <a:xfrm>
            <a:off x="6766560" y="4480560"/>
            <a:ext cx="1188360" cy="1462680"/>
          </a:xfrm>
          <a:prstGeom prst="can">
            <a:avLst>
              <a:gd name="adj" fmla="val 25000"/>
            </a:avLst>
          </a:prstGeom>
          <a:solidFill>
            <a:srgbClr val="b3b3b3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47" name="CustomShape 10"/>
          <p:cNvSpPr/>
          <p:nvPr/>
        </p:nvSpPr>
        <p:spPr>
          <a:xfrm>
            <a:off x="6766560" y="4937760"/>
            <a:ext cx="1188360" cy="7635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spcBef>
                <a:spcPts val="1123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  <a:ea typeface="Arial"/>
              </a:rPr>
              <a:t>file </a:t>
            </a:r>
            <a:br/>
            <a:r>
              <a:rPr b="1" lang="en-US" sz="2200" spc="-1" strike="noStrike">
                <a:solidFill>
                  <a:srgbClr val="000000"/>
                </a:solidFill>
                <a:latin typeface="Arial"/>
                <a:ea typeface="Arial"/>
              </a:rPr>
              <a:t>store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48" name="Line 11"/>
          <p:cNvSpPr/>
          <p:nvPr/>
        </p:nvSpPr>
        <p:spPr>
          <a:xfrm flipH="1" flipV="1">
            <a:off x="3657600" y="4114800"/>
            <a:ext cx="1130760" cy="1005840"/>
          </a:xfrm>
          <a:prstGeom prst="line">
            <a:avLst/>
          </a:prstGeom>
          <a:ln w="9360">
            <a:solidFill>
              <a:srgbClr val="000080"/>
            </a:solidFill>
            <a:prstDash val="sysDot"/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49" name="CustomShape 12"/>
          <p:cNvSpPr/>
          <p:nvPr/>
        </p:nvSpPr>
        <p:spPr>
          <a:xfrm>
            <a:off x="3657600" y="4663440"/>
            <a:ext cx="639720" cy="731160"/>
          </a:xfrm>
          <a:prstGeom prst="foldedCorner">
            <a:avLst>
              <a:gd name="adj" fmla="val 12500"/>
            </a:avLst>
          </a:prstGeom>
          <a:solidFill>
            <a:srgbClr val="c0c0c0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50" name="CustomShape 13"/>
          <p:cNvSpPr/>
          <p:nvPr/>
        </p:nvSpPr>
        <p:spPr>
          <a:xfrm>
            <a:off x="3474720" y="4663440"/>
            <a:ext cx="10054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spcBef>
                <a:spcPts val="1123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index </a:t>
            </a:r>
            <a:br/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.html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51" name="Line 14"/>
          <p:cNvSpPr/>
          <p:nvPr/>
        </p:nvSpPr>
        <p:spPr>
          <a:xfrm>
            <a:off x="5760720" y="5120640"/>
            <a:ext cx="1005840" cy="0"/>
          </a:xfrm>
          <a:prstGeom prst="line">
            <a:avLst/>
          </a:prstGeom>
          <a:ln>
            <a:solidFill>
              <a:srgbClr val="3465a4"/>
            </a:solidFill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52" name="Line 15"/>
          <p:cNvSpPr/>
          <p:nvPr/>
        </p:nvSpPr>
        <p:spPr>
          <a:xfrm flipH="1">
            <a:off x="1246680" y="3657600"/>
            <a:ext cx="1862280" cy="0"/>
          </a:xfrm>
          <a:prstGeom prst="line">
            <a:avLst/>
          </a:prstGeom>
          <a:ln w="9360">
            <a:solidFill>
              <a:srgbClr val="000080"/>
            </a:solidFill>
            <a:prstDash val="sysDot"/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53" name="CustomShape 16"/>
          <p:cNvSpPr/>
          <p:nvPr/>
        </p:nvSpPr>
        <p:spPr>
          <a:xfrm>
            <a:off x="215640" y="3878280"/>
            <a:ext cx="3350520" cy="142524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80"/>
                </a:solidFill>
                <a:latin typeface="Courier New"/>
                <a:ea typeface="Arial"/>
              </a:rPr>
              <a:t>HTTP/1.1 200 OK</a:t>
            </a:r>
            <a:br/>
            <a:r>
              <a:rPr b="0" lang="en-US" sz="1800" spc="-1" strike="noStrike">
                <a:solidFill>
                  <a:srgbClr val="000080"/>
                </a:solidFill>
                <a:latin typeface="Courier New"/>
                <a:ea typeface="Arial"/>
              </a:rPr>
              <a:t>content-type: text/html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80"/>
                </a:solidFill>
                <a:latin typeface="Courier New"/>
                <a:ea typeface="Arial"/>
              </a:rPr>
              <a:t>content-length: 1542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80"/>
                </a:solidFill>
                <a:latin typeface="Courier New"/>
                <a:ea typeface="Arial"/>
              </a:rPr>
              <a:t>(data for html page)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CustomShape 1"/>
          <p:cNvSpPr/>
          <p:nvPr/>
        </p:nvSpPr>
        <p:spPr>
          <a:xfrm>
            <a:off x="611280" y="259920"/>
            <a:ext cx="7881120" cy="824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 anchorCtr="1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3880"/>
                <a:tab algn="l" pos="712440"/>
                <a:tab algn="l" pos="1071360"/>
                <a:tab algn="l" pos="1430280"/>
                <a:tab algn="l" pos="1788840"/>
                <a:tab algn="l" pos="2147760"/>
                <a:tab algn="l" pos="2506320"/>
                <a:tab algn="l" pos="2865240"/>
                <a:tab algn="l" pos="3224160"/>
                <a:tab algn="l" pos="3582720"/>
                <a:tab algn="l" pos="3941640"/>
                <a:tab algn="l" pos="4300200"/>
                <a:tab algn="l" pos="4659120"/>
                <a:tab algn="l" pos="5018040"/>
                <a:tab algn="l" pos="5376600"/>
                <a:tab algn="l" pos="5735520"/>
                <a:tab algn="l" pos="6094080"/>
                <a:tab algn="l" pos="6453000"/>
                <a:tab algn="l" pos="6811920"/>
                <a:tab algn="l" pos="7170480"/>
                <a:tab algn="l" pos="7203960"/>
                <a:tab algn="l" pos="7564320"/>
                <a:tab algn="l" pos="7889760"/>
                <a:tab algn="l" pos="8248320"/>
                <a:tab algn="l" pos="8607240"/>
                <a:tab algn="l" pos="8966160"/>
                <a:tab algn="l" pos="9324720"/>
                <a:tab algn="l" pos="9683640"/>
                <a:tab algn="l" pos="10042200"/>
                <a:tab algn="l" pos="10401120"/>
                <a:tab algn="l" pos="1076004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Web Server for Application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55" name="CustomShape 2"/>
          <p:cNvSpPr/>
          <p:nvPr/>
        </p:nvSpPr>
        <p:spPr>
          <a:xfrm>
            <a:off x="622440" y="1125360"/>
            <a:ext cx="8064360" cy="308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rmAutofit/>
          </a:bodyPr>
          <a:p>
            <a:pPr>
              <a:lnSpc>
                <a:spcPct val="100000"/>
              </a:lnSpc>
              <a:spcBef>
                <a:spcPts val="598"/>
              </a:spcBef>
              <a:tabLst>
                <a:tab algn="l" pos="0"/>
                <a:tab algn="l" pos="10800"/>
                <a:tab algn="l" pos="369720"/>
                <a:tab algn="l" pos="728640"/>
                <a:tab algn="l" pos="1087200"/>
                <a:tab algn="l" pos="1446120"/>
                <a:tab algn="l" pos="1804680"/>
                <a:tab algn="l" pos="2163600"/>
                <a:tab algn="l" pos="2522520"/>
                <a:tab algn="l" pos="2881080"/>
                <a:tab algn="l" pos="3240000"/>
                <a:tab algn="l" pos="3598560"/>
                <a:tab algn="l" pos="3957480"/>
                <a:tab algn="l" pos="4316400"/>
                <a:tab algn="l" pos="4674960"/>
                <a:tab algn="l" pos="5033880"/>
                <a:tab algn="l" pos="5392440"/>
                <a:tab algn="l" pos="5751360"/>
                <a:tab algn="l" pos="6110280"/>
                <a:tab algn="l" pos="6468840"/>
                <a:tab algn="l" pos="6827760"/>
                <a:tab algn="l" pos="6843600"/>
                <a:tab algn="l" pos="7203960"/>
                <a:tab algn="l" pos="7564320"/>
                <a:tab algn="l" pos="7889760"/>
                <a:tab algn="l" pos="8248320"/>
                <a:tab algn="l" pos="8607240"/>
                <a:tab algn="l" pos="8966160"/>
                <a:tab algn="l" pos="9324720"/>
                <a:tab algn="l" pos="9683640"/>
                <a:tab algn="l" pos="10042200"/>
                <a:tab algn="l" pos="10401120"/>
                <a:tab algn="l" pos="10760040"/>
                <a:tab algn="l" pos="10761480"/>
                <a:tab algn="l" pos="1076292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DejaVu Sans"/>
              </a:rPr>
              <a:t>To provide </a:t>
            </a:r>
            <a:r>
              <a:rPr b="1" lang="en-US" sz="2200" spc="-1" strike="noStrike">
                <a:solidFill>
                  <a:srgbClr val="000080"/>
                </a:solidFill>
                <a:latin typeface="Arial"/>
                <a:ea typeface="DejaVu Sans"/>
              </a:rPr>
              <a:t>dynamic content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DejaVu Sans"/>
              </a:rPr>
              <a:t> a web server invokes an  application, in a </a:t>
            </a:r>
            <a:r>
              <a:rPr b="0" lang="en-US" sz="2200" spc="-1" strike="noStrike">
                <a:solidFill>
                  <a:srgbClr val="000080"/>
                </a:solidFill>
                <a:latin typeface="Arial"/>
                <a:ea typeface="DejaVu Sans"/>
              </a:rPr>
              <a:t>programming language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23"/>
              </a:spcBef>
              <a:tabLst>
                <a:tab algn="l" pos="0"/>
                <a:tab algn="l" pos="10800"/>
                <a:tab algn="l" pos="369720"/>
                <a:tab algn="l" pos="728640"/>
                <a:tab algn="l" pos="1087200"/>
                <a:tab algn="l" pos="1446120"/>
                <a:tab algn="l" pos="1804680"/>
                <a:tab algn="l" pos="2163600"/>
                <a:tab algn="l" pos="2522520"/>
                <a:tab algn="l" pos="2881080"/>
                <a:tab algn="l" pos="3240000"/>
                <a:tab algn="l" pos="3598560"/>
                <a:tab algn="l" pos="3957480"/>
                <a:tab algn="l" pos="4316400"/>
                <a:tab algn="l" pos="4674960"/>
                <a:tab algn="l" pos="5033880"/>
                <a:tab algn="l" pos="5392440"/>
                <a:tab algn="l" pos="5751360"/>
                <a:tab algn="l" pos="6110280"/>
                <a:tab algn="l" pos="6468840"/>
                <a:tab algn="l" pos="6827760"/>
                <a:tab algn="l" pos="6843600"/>
                <a:tab algn="l" pos="7203960"/>
                <a:tab algn="l" pos="7564320"/>
                <a:tab algn="l" pos="7889760"/>
                <a:tab algn="l" pos="8248320"/>
                <a:tab algn="l" pos="8607240"/>
                <a:tab algn="l" pos="8966160"/>
                <a:tab algn="l" pos="9324720"/>
                <a:tab algn="l" pos="9683640"/>
                <a:tab algn="l" pos="10042200"/>
                <a:tab algn="l" pos="10401120"/>
                <a:tab algn="l" pos="10760040"/>
                <a:tab algn="l" pos="10761480"/>
                <a:tab algn="l" pos="1076292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DejaVu Sans"/>
              </a:rPr>
              <a:t>The web server </a:t>
            </a:r>
            <a:r>
              <a:rPr b="0" lang="en-US" sz="2200" spc="-1" strike="noStrike">
                <a:solidFill>
                  <a:srgbClr val="000080"/>
                </a:solidFill>
                <a:latin typeface="Arial"/>
                <a:ea typeface="DejaVu Sans"/>
              </a:rPr>
              <a:t>forwards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DejaVu Sans"/>
              </a:rPr>
              <a:t> the HTTP request to an application "container" running in a separate thread or process.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23"/>
              </a:spcBef>
              <a:tabLst>
                <a:tab algn="l" pos="0"/>
                <a:tab algn="l" pos="10800"/>
                <a:tab algn="l" pos="369720"/>
                <a:tab algn="l" pos="728640"/>
                <a:tab algn="l" pos="1087200"/>
                <a:tab algn="l" pos="1446120"/>
                <a:tab algn="l" pos="1804680"/>
                <a:tab algn="l" pos="2163600"/>
                <a:tab algn="l" pos="2522520"/>
                <a:tab algn="l" pos="2881080"/>
                <a:tab algn="l" pos="3240000"/>
                <a:tab algn="l" pos="3598560"/>
                <a:tab algn="l" pos="3957480"/>
                <a:tab algn="l" pos="4316400"/>
                <a:tab algn="l" pos="4674960"/>
                <a:tab algn="l" pos="5033880"/>
                <a:tab algn="l" pos="5392440"/>
                <a:tab algn="l" pos="5751360"/>
                <a:tab algn="l" pos="6110280"/>
                <a:tab algn="l" pos="6468840"/>
                <a:tab algn="l" pos="6827760"/>
                <a:tab algn="l" pos="6843600"/>
                <a:tab algn="l" pos="7203960"/>
                <a:tab algn="l" pos="7564320"/>
                <a:tab algn="l" pos="7889760"/>
                <a:tab algn="l" pos="8248320"/>
                <a:tab algn="l" pos="8607240"/>
                <a:tab algn="l" pos="8966160"/>
                <a:tab algn="l" pos="9324720"/>
                <a:tab algn="l" pos="9683640"/>
                <a:tab algn="l" pos="10042200"/>
                <a:tab algn="l" pos="10401120"/>
                <a:tab algn="l" pos="10760040"/>
                <a:tab algn="l" pos="10761480"/>
                <a:tab algn="l" pos="1076292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DejaVu Sans"/>
              </a:rPr>
              <a:t>The app returns a response (or an i/o </a:t>
            </a:r>
            <a:r>
              <a:rPr b="0" i="1" lang="en-US" sz="2200" spc="-1" strike="noStrike">
                <a:solidFill>
                  <a:srgbClr val="000000"/>
                </a:solidFill>
                <a:latin typeface="Arial"/>
                <a:ea typeface="DejaVu Sans"/>
              </a:rPr>
              <a:t>stream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DejaVu Sans"/>
              </a:rPr>
              <a:t>) that the server returns to the web client.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56" name="CustomShape 3"/>
          <p:cNvSpPr/>
          <p:nvPr/>
        </p:nvSpPr>
        <p:spPr>
          <a:xfrm>
            <a:off x="365040" y="5211720"/>
            <a:ext cx="8411400" cy="639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57" name="" descr=""/>
          <p:cNvPicPr/>
          <p:nvPr/>
        </p:nvPicPr>
        <p:blipFill>
          <a:blip r:embed="rId1"/>
          <a:srcRect l="0" t="30339" r="0" b="33622"/>
          <a:stretch/>
        </p:blipFill>
        <p:spPr>
          <a:xfrm>
            <a:off x="92160" y="4840200"/>
            <a:ext cx="8960760" cy="1735920"/>
          </a:xfrm>
          <a:prstGeom prst="rect">
            <a:avLst/>
          </a:prstGeom>
          <a:ln>
            <a:noFill/>
          </a:ln>
        </p:spPr>
      </p:pic>
      <p:sp>
        <p:nvSpPr>
          <p:cNvPr id="258" name="CustomShape 4"/>
          <p:cNvSpPr/>
          <p:nvPr/>
        </p:nvSpPr>
        <p:spPr>
          <a:xfrm>
            <a:off x="2378160" y="4359240"/>
            <a:ext cx="4663440" cy="3945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353880"/>
                <a:tab algn="l" pos="712440"/>
                <a:tab algn="l" pos="1071360"/>
                <a:tab algn="l" pos="1430280"/>
                <a:tab algn="l" pos="1788840"/>
                <a:tab algn="l" pos="2147760"/>
                <a:tab algn="l" pos="2506320"/>
                <a:tab algn="l" pos="2865240"/>
                <a:tab algn="l" pos="3224160"/>
                <a:tab algn="l" pos="3582720"/>
                <a:tab algn="l" pos="3941640"/>
                <a:tab algn="l" pos="4300200"/>
                <a:tab algn="l" pos="4659120"/>
                <a:tab algn="l" pos="5018040"/>
                <a:tab algn="l" pos="5376600"/>
                <a:tab algn="l" pos="5735520"/>
                <a:tab algn="l" pos="6094080"/>
                <a:tab algn="l" pos="6453000"/>
                <a:tab algn="l" pos="6811920"/>
                <a:tab algn="l" pos="7170480"/>
                <a:tab algn="l" pos="7172280"/>
                <a:tab algn="l" pos="7530840"/>
                <a:tab algn="l" pos="7889760"/>
                <a:tab algn="l" pos="8248320"/>
                <a:tab algn="l" pos="8607240"/>
                <a:tab algn="l" pos="8966160"/>
                <a:tab algn="l" pos="9324720"/>
                <a:tab algn="l" pos="9683640"/>
                <a:tab algn="l" pos="10042200"/>
                <a:tab algn="l" pos="10401120"/>
                <a:tab algn="l" pos="10760040"/>
                <a:tab algn="l" pos="10761480"/>
                <a:tab algn="l" pos="10762920"/>
              </a:tabLst>
            </a:pPr>
            <a:r>
              <a:rPr b="0" lang="en-US" sz="2000" spc="-1" strike="noStrike">
                <a:solidFill>
                  <a:srgbClr val="000080"/>
                </a:solidFill>
                <a:latin typeface="Arial"/>
                <a:ea typeface="DejaVu Sans"/>
              </a:rPr>
              <a:t>PHP code run in </a:t>
            </a:r>
            <a:r>
              <a:rPr b="1" lang="en-US" sz="2000" spc="-1" strike="noStrike">
                <a:solidFill>
                  <a:srgbClr val="000080"/>
                </a:solidFill>
                <a:latin typeface="Arial"/>
                <a:ea typeface="DejaVu Sans"/>
              </a:rPr>
              <a:t>mod_php</a:t>
            </a:r>
            <a:r>
              <a:rPr b="0" lang="en-US" sz="2000" spc="-1" strike="noStrike">
                <a:solidFill>
                  <a:srgbClr val="000080"/>
                </a:solidFill>
                <a:latin typeface="Arial"/>
                <a:ea typeface="DejaVu Sans"/>
              </a:rPr>
              <a:t> module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59" name="Line 5"/>
          <p:cNvSpPr/>
          <p:nvPr/>
        </p:nvSpPr>
        <p:spPr>
          <a:xfrm>
            <a:off x="4516560" y="4745160"/>
            <a:ext cx="1440" cy="734760"/>
          </a:xfrm>
          <a:prstGeom prst="line">
            <a:avLst/>
          </a:prstGeom>
          <a:ln w="936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60" name="CustomShape 6"/>
          <p:cNvSpPr/>
          <p:nvPr/>
        </p:nvSpPr>
        <p:spPr>
          <a:xfrm>
            <a:off x="274680" y="3886200"/>
            <a:ext cx="7589160" cy="4834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3880"/>
                <a:tab algn="l" pos="712440"/>
                <a:tab algn="l" pos="1071360"/>
                <a:tab algn="l" pos="1430280"/>
                <a:tab algn="l" pos="1788840"/>
                <a:tab algn="l" pos="2147760"/>
                <a:tab algn="l" pos="2506320"/>
                <a:tab algn="l" pos="2865240"/>
                <a:tab algn="l" pos="3224160"/>
                <a:tab algn="l" pos="3582720"/>
                <a:tab algn="l" pos="3941640"/>
                <a:tab algn="l" pos="4300200"/>
                <a:tab algn="l" pos="4659120"/>
                <a:tab algn="l" pos="5018040"/>
                <a:tab algn="l" pos="5376600"/>
                <a:tab algn="l" pos="5735520"/>
                <a:tab algn="l" pos="6094080"/>
                <a:tab algn="l" pos="6453000"/>
                <a:tab algn="l" pos="6811920"/>
                <a:tab algn="l" pos="7170480"/>
                <a:tab algn="l" pos="7203960"/>
                <a:tab algn="l" pos="7564320"/>
                <a:tab algn="l" pos="7889760"/>
                <a:tab algn="l" pos="8248320"/>
                <a:tab algn="l" pos="8607240"/>
                <a:tab algn="l" pos="8966160"/>
                <a:tab algn="l" pos="9324720"/>
                <a:tab algn="l" pos="9683640"/>
                <a:tab algn="l" pos="10042200"/>
                <a:tab algn="l" pos="10401120"/>
                <a:tab algn="l" pos="1076004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80"/>
                </a:solidFill>
                <a:latin typeface="Arial"/>
                <a:ea typeface="DejaVu Sans"/>
              </a:rPr>
              <a:t>Web Client:  </a:t>
            </a:r>
            <a:r>
              <a:rPr b="1" lang="en-US" sz="2400" spc="-1" strike="noStrike">
                <a:solidFill>
                  <a:srgbClr val="000000"/>
                </a:solidFill>
                <a:latin typeface="Courier New"/>
                <a:ea typeface="DejaVu Sans"/>
              </a:rPr>
              <a:t>GET /store/products.php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61" name="Line 7"/>
          <p:cNvSpPr/>
          <p:nvPr/>
        </p:nvSpPr>
        <p:spPr>
          <a:xfrm>
            <a:off x="1371600" y="4370400"/>
            <a:ext cx="822240" cy="1116000"/>
          </a:xfrm>
          <a:prstGeom prst="line">
            <a:avLst/>
          </a:prstGeom>
          <a:ln w="936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CustomShape 1"/>
          <p:cNvSpPr/>
          <p:nvPr/>
        </p:nvSpPr>
        <p:spPr>
          <a:xfrm>
            <a:off x="611280" y="259920"/>
            <a:ext cx="7881120" cy="824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 anchorCtr="1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3880"/>
                <a:tab algn="l" pos="712440"/>
                <a:tab algn="l" pos="1071360"/>
                <a:tab algn="l" pos="1430280"/>
                <a:tab algn="l" pos="1788840"/>
                <a:tab algn="l" pos="2147760"/>
                <a:tab algn="l" pos="2506320"/>
                <a:tab algn="l" pos="2865240"/>
                <a:tab algn="l" pos="3224160"/>
                <a:tab algn="l" pos="3582720"/>
                <a:tab algn="l" pos="3941640"/>
                <a:tab algn="l" pos="4300200"/>
                <a:tab algn="l" pos="4659120"/>
                <a:tab algn="l" pos="5018040"/>
                <a:tab algn="l" pos="5376600"/>
                <a:tab algn="l" pos="5735520"/>
                <a:tab algn="l" pos="6094080"/>
                <a:tab algn="l" pos="6453000"/>
                <a:tab algn="l" pos="6811920"/>
                <a:tab algn="l" pos="7170480"/>
                <a:tab algn="l" pos="7203960"/>
                <a:tab algn="l" pos="7564320"/>
                <a:tab algn="l" pos="7889760"/>
                <a:tab algn="l" pos="8248320"/>
                <a:tab algn="l" pos="8607240"/>
                <a:tab algn="l" pos="8966160"/>
                <a:tab algn="l" pos="9324720"/>
                <a:tab algn="l" pos="9683640"/>
                <a:tab algn="l" pos="10042200"/>
                <a:tab algn="l" pos="10401120"/>
                <a:tab algn="l" pos="1076004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Overview of a Production Django App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63" name="CustomShape 2"/>
          <p:cNvSpPr/>
          <p:nvPr/>
        </p:nvSpPr>
        <p:spPr>
          <a:xfrm>
            <a:off x="731880" y="3749400"/>
            <a:ext cx="7881120" cy="2559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rmAutofit fontScale="94000"/>
          </a:bodyPr>
          <a:p>
            <a:pPr marL="360360" indent="-35352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(1)</a:t>
            </a:r>
            <a:r>
              <a:rPr b="0" lang="en-US" sz="2400" spc="-1" strike="noStrike">
                <a:solidFill>
                  <a:srgbClr val="000080"/>
                </a:solidFill>
                <a:latin typeface="Arial"/>
                <a:ea typeface="DejaVu Sans"/>
              </a:rPr>
              <a:t> Web server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(Nginx) receives http requests.  It handles requests for static content itself.</a:t>
            </a:r>
            <a:endParaRPr b="0" lang="en-US" sz="2400" spc="-1" strike="noStrike">
              <a:latin typeface="Arial"/>
            </a:endParaRPr>
          </a:p>
          <a:p>
            <a:pPr marL="360360" indent="-35352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(2) Web server forwards other requests to a </a:t>
            </a:r>
            <a:r>
              <a:rPr b="0" lang="en-US" sz="2400" spc="-1" strike="noStrike">
                <a:solidFill>
                  <a:srgbClr val="000080"/>
                </a:solidFill>
                <a:latin typeface="Arial"/>
                <a:ea typeface="DejaVu Sans"/>
              </a:rPr>
              <a:t>WSGI container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. </a:t>
            </a:r>
            <a:br/>
            <a:r>
              <a:rPr b="0" lang="en-US" sz="2400" spc="-1" strike="noStrike">
                <a:solidFill>
                  <a:srgbClr val="008000"/>
                </a:solidFill>
                <a:latin typeface="Arial"/>
                <a:ea typeface="DejaVu Sans"/>
              </a:rPr>
              <a:t>uWSGI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is a web app container that supports WSGI.</a:t>
            </a:r>
            <a:endParaRPr b="0" lang="en-US" sz="2400" spc="-1" strike="noStrike">
              <a:latin typeface="Arial"/>
            </a:endParaRPr>
          </a:p>
          <a:p>
            <a:pPr marL="360360" indent="-35352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(3) Django receives the request via uWSGI, processes it, and returns an HTTP response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264" name="" descr=""/>
          <p:cNvPicPr/>
          <p:nvPr/>
        </p:nvPicPr>
        <p:blipFill>
          <a:blip r:embed="rId1"/>
          <a:srcRect l="0" t="0" r="17287" b="0"/>
          <a:stretch/>
        </p:blipFill>
        <p:spPr>
          <a:xfrm>
            <a:off x="182520" y="1096920"/>
            <a:ext cx="8593920" cy="2548800"/>
          </a:xfrm>
          <a:prstGeom prst="rect">
            <a:avLst/>
          </a:prstGeom>
          <a:ln>
            <a:noFill/>
          </a:ln>
        </p:spPr>
      </p:pic>
      <p:sp>
        <p:nvSpPr>
          <p:cNvPr id="265" name="CustomShape 3"/>
          <p:cNvSpPr/>
          <p:nvPr/>
        </p:nvSpPr>
        <p:spPr>
          <a:xfrm>
            <a:off x="365040" y="5211720"/>
            <a:ext cx="8411400" cy="639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CustomShape 1"/>
          <p:cNvSpPr/>
          <p:nvPr/>
        </p:nvSpPr>
        <p:spPr>
          <a:xfrm>
            <a:off x="610920" y="259920"/>
            <a:ext cx="7901640" cy="845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 anchorCtr="1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Step-by-step for Dynamic Content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67" name="CustomShape 2"/>
          <p:cNvSpPr/>
          <p:nvPr/>
        </p:nvSpPr>
        <p:spPr>
          <a:xfrm>
            <a:off x="610920" y="1371240"/>
            <a:ext cx="8257320" cy="1645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rmAutofit/>
          </a:bodyPr>
          <a:p>
            <a:pPr marL="342720" indent="-332640">
              <a:lnSpc>
                <a:spcPct val="100000"/>
              </a:lnSpc>
              <a:spcBef>
                <a:spcPts val="1423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(1)  </a:t>
            </a:r>
            <a:r>
              <a:rPr b="0" lang="en-US" sz="2400" spc="-1" strike="noStrike">
                <a:solidFill>
                  <a:srgbClr val="000080"/>
                </a:solidFill>
                <a:latin typeface="Arial"/>
                <a:ea typeface="DejaVu Sans"/>
              </a:rPr>
              <a:t>A web client submits a web request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:</a:t>
            </a:r>
            <a:endParaRPr b="0" lang="en-US" sz="2400" spc="-1" strike="noStrike">
              <a:latin typeface="Arial"/>
            </a:endParaRPr>
          </a:p>
          <a:p>
            <a:pPr marL="342720" indent="-332640">
              <a:lnSpc>
                <a:spcPct val="100000"/>
              </a:lnSpc>
              <a:spcBef>
                <a:spcPts val="1423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ourier New"/>
                <a:ea typeface="DejaVu Sans"/>
              </a:rPr>
              <a:t>   </a:t>
            </a:r>
            <a:r>
              <a:rPr b="0" lang="en-US" sz="2400" spc="-1" strike="noStrike">
                <a:solidFill>
                  <a:srgbClr val="000000"/>
                </a:solidFill>
                <a:latin typeface="Courier New"/>
                <a:ea typeface="DejaVu Sans"/>
              </a:rPr>
              <a:t>https://store.com/products/list</a:t>
            </a:r>
            <a:endParaRPr b="0" lang="en-US" sz="2400" spc="-1" strike="noStrike">
              <a:latin typeface="Arial"/>
            </a:endParaRPr>
          </a:p>
          <a:p>
            <a:pPr marL="342720" indent="-332640">
              <a:lnSpc>
                <a:spcPct val="100000"/>
              </a:lnSpc>
              <a:spcBef>
                <a:spcPts val="1423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    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an https request is sent to the store.com server...</a:t>
            </a:r>
            <a:endParaRPr b="0" lang="en-US" sz="2400" spc="-1" strike="noStrike">
              <a:latin typeface="Arial"/>
            </a:endParaRPr>
          </a:p>
          <a:p>
            <a:pPr marL="342720" indent="-33264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</p:txBody>
      </p:sp>
      <p:pic>
        <p:nvPicPr>
          <p:cNvPr id="268" name="" descr=""/>
          <p:cNvPicPr/>
          <p:nvPr/>
        </p:nvPicPr>
        <p:blipFill>
          <a:blip r:embed="rId1"/>
          <a:stretch/>
        </p:blipFill>
        <p:spPr>
          <a:xfrm>
            <a:off x="514440" y="3714840"/>
            <a:ext cx="837360" cy="837360"/>
          </a:xfrm>
          <a:prstGeom prst="rect">
            <a:avLst/>
          </a:prstGeom>
          <a:ln>
            <a:noFill/>
          </a:ln>
        </p:spPr>
      </p:pic>
      <p:pic>
        <p:nvPicPr>
          <p:cNvPr id="269" name="" descr=""/>
          <p:cNvPicPr/>
          <p:nvPr/>
        </p:nvPicPr>
        <p:blipFill>
          <a:blip r:embed="rId2"/>
          <a:stretch/>
        </p:blipFill>
        <p:spPr>
          <a:xfrm>
            <a:off x="3456000" y="3532320"/>
            <a:ext cx="664560" cy="930960"/>
          </a:xfrm>
          <a:prstGeom prst="rect">
            <a:avLst/>
          </a:prstGeom>
          <a:ln>
            <a:noFill/>
          </a:ln>
        </p:spPr>
      </p:pic>
      <p:sp>
        <p:nvSpPr>
          <p:cNvPr id="270" name="CustomShape 3"/>
          <p:cNvSpPr/>
          <p:nvPr/>
        </p:nvSpPr>
        <p:spPr>
          <a:xfrm>
            <a:off x="631800" y="3152880"/>
            <a:ext cx="3601440" cy="428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>
              <a:lnSpc>
                <a:spcPct val="100000"/>
              </a:lnSpc>
              <a:spcBef>
                <a:spcPts val="1123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1" lang="en-US" sz="2200" spc="-1" strike="noStrike">
                <a:solidFill>
                  <a:srgbClr val="000080"/>
                </a:solidFill>
                <a:latin typeface="Courier New"/>
                <a:ea typeface="Arial"/>
              </a:rPr>
              <a:t>GET /products/list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71" name="Line 4"/>
          <p:cNvSpPr/>
          <p:nvPr/>
        </p:nvSpPr>
        <p:spPr>
          <a:xfrm>
            <a:off x="1378080" y="3971880"/>
            <a:ext cx="1976400" cy="1800"/>
          </a:xfrm>
          <a:prstGeom prst="line">
            <a:avLst/>
          </a:prstGeom>
          <a:ln cap="sq" w="19080">
            <a:solidFill>
              <a:srgbClr val="333399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72" name="CustomShape 5"/>
          <p:cNvSpPr/>
          <p:nvPr/>
        </p:nvSpPr>
        <p:spPr>
          <a:xfrm>
            <a:off x="4249800" y="3382920"/>
            <a:ext cx="4253760" cy="1278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(2) </a:t>
            </a:r>
            <a:r>
              <a:rPr b="0" lang="en-US" sz="2400" spc="-1" strike="noStrike">
                <a:solidFill>
                  <a:srgbClr val="000080"/>
                </a:solidFill>
                <a:latin typeface="Arial"/>
                <a:ea typeface="DejaVu Sans"/>
              </a:rPr>
              <a:t>A host (server) receives tcp packet and looks for app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listening on port </a:t>
            </a: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443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273" name="" descr=""/>
          <p:cNvPicPr/>
          <p:nvPr/>
        </p:nvPicPr>
        <p:blipFill>
          <a:blip r:embed="rId3"/>
          <a:stretch/>
        </p:blipFill>
        <p:spPr>
          <a:xfrm>
            <a:off x="4937040" y="5211720"/>
            <a:ext cx="1188360" cy="1188360"/>
          </a:xfrm>
          <a:prstGeom prst="rect">
            <a:avLst/>
          </a:prstGeom>
          <a:ln>
            <a:noFill/>
          </a:ln>
        </p:spPr>
      </p:pic>
      <p:sp>
        <p:nvSpPr>
          <p:cNvPr id="274" name="Line 6"/>
          <p:cNvSpPr/>
          <p:nvPr/>
        </p:nvSpPr>
        <p:spPr>
          <a:xfrm>
            <a:off x="4114800" y="4572000"/>
            <a:ext cx="969840" cy="787320"/>
          </a:xfrm>
          <a:prstGeom prst="line">
            <a:avLst/>
          </a:prstGeom>
          <a:ln w="9360">
            <a:solidFill>
              <a:srgbClr val="000080"/>
            </a:solidFill>
            <a:prstDash val="sysDot"/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75" name="CustomShape 7"/>
          <p:cNvSpPr/>
          <p:nvPr/>
        </p:nvSpPr>
        <p:spPr>
          <a:xfrm>
            <a:off x="4518000" y="6229440"/>
            <a:ext cx="2056680" cy="428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spcBef>
                <a:spcPts val="1123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  <a:ea typeface="Arial"/>
              </a:rPr>
              <a:t>listen *:443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76" name="CustomShape 8"/>
          <p:cNvSpPr/>
          <p:nvPr/>
        </p:nvSpPr>
        <p:spPr>
          <a:xfrm>
            <a:off x="5986440" y="5029200"/>
            <a:ext cx="3064680" cy="17359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marL="360360" indent="-358200"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(3) Give packet body to listening web server.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CustomShape 1"/>
          <p:cNvSpPr/>
          <p:nvPr/>
        </p:nvSpPr>
        <p:spPr>
          <a:xfrm>
            <a:off x="610920" y="259920"/>
            <a:ext cx="7901640" cy="845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 anchorCtr="1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Http Server hands request to web app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78" name="CustomShape 2"/>
          <p:cNvSpPr/>
          <p:nvPr/>
        </p:nvSpPr>
        <p:spPr>
          <a:xfrm>
            <a:off x="611280" y="1371600"/>
            <a:ext cx="8074800" cy="1463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rmAutofit fontScale="61000"/>
          </a:bodyPr>
          <a:p>
            <a:pPr marL="468000" indent="-468000">
              <a:lnSpc>
                <a:spcPct val="100000"/>
              </a:lnSpc>
              <a:spcBef>
                <a:spcPts val="1423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(4) The web server examines the </a:t>
            </a: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request path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and determines it should give it to the web application.</a:t>
            </a:r>
            <a:br/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For Python, this is handled by a WSGI adapter.</a:t>
            </a:r>
            <a:endParaRPr b="0" lang="en-US" sz="2400" spc="-1" strike="noStrike">
              <a:latin typeface="Arial"/>
            </a:endParaRPr>
          </a:p>
          <a:p>
            <a:pPr marL="432000" indent="-432000">
              <a:lnSpc>
                <a:spcPct val="100000"/>
              </a:lnSpc>
              <a:spcBef>
                <a:spcPts val="1423"/>
              </a:spcBef>
              <a:tabLst>
                <a:tab algn="l" pos="12816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The WSGI adapter is also called a </a:t>
            </a:r>
            <a:r>
              <a:rPr b="1" lang="en-US" sz="2400" spc="-1" strike="noStrike">
                <a:solidFill>
                  <a:srgbClr val="000080"/>
                </a:solidFill>
                <a:latin typeface="Arial"/>
                <a:ea typeface="DejaVu Sans"/>
              </a:rPr>
              <a:t>container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or</a:t>
            </a:r>
            <a:r>
              <a:rPr b="0" lang="en-US" sz="2400" spc="-1" strike="noStrike">
                <a:solidFill>
                  <a:srgbClr val="000080"/>
                </a:solidFill>
                <a:latin typeface="Arial"/>
                <a:ea typeface="DejaVu Sans"/>
              </a:rPr>
              <a:t> </a:t>
            </a:r>
            <a:r>
              <a:rPr b="1" lang="en-US" sz="2400" spc="-1" strike="noStrike">
                <a:solidFill>
                  <a:srgbClr val="000080"/>
                </a:solidFill>
                <a:latin typeface="Arial"/>
                <a:ea typeface="DejaVu Sans"/>
              </a:rPr>
              <a:t>app server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en-US" sz="2400" spc="-1" strike="noStrike">
              <a:latin typeface="Arial"/>
            </a:endParaRPr>
          </a:p>
          <a:p>
            <a:pPr marL="342720" indent="-33264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</p:txBody>
      </p:sp>
      <p:sp>
        <p:nvSpPr>
          <p:cNvPr id="279" name="Line 3"/>
          <p:cNvSpPr/>
          <p:nvPr/>
        </p:nvSpPr>
        <p:spPr>
          <a:xfrm>
            <a:off x="3940200" y="3922920"/>
            <a:ext cx="1136520" cy="1800"/>
          </a:xfrm>
          <a:prstGeom prst="line">
            <a:avLst/>
          </a:prstGeom>
          <a:ln w="9360">
            <a:solidFill>
              <a:srgbClr val="000080"/>
            </a:solidFill>
            <a:prstDash val="sysDot"/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pic>
        <p:nvPicPr>
          <p:cNvPr id="280" name="" descr=""/>
          <p:cNvPicPr/>
          <p:nvPr/>
        </p:nvPicPr>
        <p:blipFill>
          <a:blip r:embed="rId1"/>
          <a:stretch/>
        </p:blipFill>
        <p:spPr>
          <a:xfrm>
            <a:off x="1143000" y="3483360"/>
            <a:ext cx="1370880" cy="1370880"/>
          </a:xfrm>
          <a:prstGeom prst="rect">
            <a:avLst/>
          </a:prstGeom>
          <a:ln>
            <a:noFill/>
          </a:ln>
        </p:spPr>
      </p:pic>
      <p:pic>
        <p:nvPicPr>
          <p:cNvPr id="281" name="" descr=""/>
          <p:cNvPicPr/>
          <p:nvPr/>
        </p:nvPicPr>
        <p:blipFill>
          <a:blip r:embed="rId2"/>
          <a:srcRect l="0" t="15174" r="0" b="10639"/>
          <a:stretch/>
        </p:blipFill>
        <p:spPr>
          <a:xfrm>
            <a:off x="2933640" y="3648240"/>
            <a:ext cx="953280" cy="639000"/>
          </a:xfrm>
          <a:prstGeom prst="rect">
            <a:avLst/>
          </a:prstGeom>
          <a:ln w="9360">
            <a:solidFill>
              <a:srgbClr val="008000"/>
            </a:solidFill>
            <a:round/>
          </a:ln>
        </p:spPr>
      </p:pic>
      <p:sp>
        <p:nvSpPr>
          <p:cNvPr id="282" name="Line 4"/>
          <p:cNvSpPr/>
          <p:nvPr/>
        </p:nvSpPr>
        <p:spPr>
          <a:xfrm>
            <a:off x="2260440" y="3943440"/>
            <a:ext cx="640080" cy="1800"/>
          </a:xfrm>
          <a:prstGeom prst="line">
            <a:avLst/>
          </a:prstGeom>
          <a:ln w="936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pic>
        <p:nvPicPr>
          <p:cNvPr id="283" name="" descr=""/>
          <p:cNvPicPr/>
          <p:nvPr/>
        </p:nvPicPr>
        <p:blipFill>
          <a:blip r:embed="rId3"/>
          <a:srcRect l="22392" t="5695" r="20011" b="0"/>
          <a:stretch/>
        </p:blipFill>
        <p:spPr>
          <a:xfrm>
            <a:off x="5257800" y="3146760"/>
            <a:ext cx="1645560" cy="1507320"/>
          </a:xfrm>
          <a:prstGeom prst="rect">
            <a:avLst/>
          </a:prstGeom>
          <a:ln>
            <a:noFill/>
          </a:ln>
        </p:spPr>
      </p:pic>
      <p:sp>
        <p:nvSpPr>
          <p:cNvPr id="284" name="CustomShape 5"/>
          <p:cNvSpPr/>
          <p:nvPr/>
        </p:nvSpPr>
        <p:spPr>
          <a:xfrm>
            <a:off x="2697120" y="4405680"/>
            <a:ext cx="1426320" cy="7596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WSGI adapter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CustomShape 1"/>
          <p:cNvSpPr/>
          <p:nvPr/>
        </p:nvSpPr>
        <p:spPr>
          <a:xfrm>
            <a:off x="610920" y="259920"/>
            <a:ext cx="7901640" cy="845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 anchorCtr="1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Web Server Gateway Interface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86" name="CustomShape 2"/>
          <p:cNvSpPr/>
          <p:nvPr/>
        </p:nvSpPr>
        <p:spPr>
          <a:xfrm>
            <a:off x="611280" y="1371600"/>
            <a:ext cx="8074800" cy="1737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rmAutofit fontScale="55000"/>
          </a:bodyPr>
          <a:p>
            <a:pPr>
              <a:lnSpc>
                <a:spcPct val="100000"/>
              </a:lnSpc>
              <a:spcBef>
                <a:spcPts val="1423"/>
              </a:spcBef>
              <a:tabLst>
                <a:tab algn="l" pos="0"/>
                <a:tab algn="l" pos="34128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92612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WSGI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defines a standard way for web servers to communicate with web application written in Python.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23"/>
              </a:spcBef>
              <a:tabLst>
                <a:tab algn="l" pos="0"/>
                <a:tab algn="l" pos="34128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92612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A WSGI implementation (like uWSGI) is an </a:t>
            </a: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adapter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or</a:t>
            </a: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container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23"/>
              </a:spcBef>
              <a:tabLst>
                <a:tab algn="l" pos="0"/>
                <a:tab algn="l" pos="34128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92612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It translates HTTP requests into a standard format &amp; invokes code via a standard API.</a:t>
            </a:r>
            <a:endParaRPr b="0" lang="en-US" sz="2400" spc="-1" strike="noStrike">
              <a:latin typeface="Arial"/>
            </a:endParaRPr>
          </a:p>
          <a:p>
            <a:pPr marL="342720" indent="-33264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</p:txBody>
      </p:sp>
      <p:pic>
        <p:nvPicPr>
          <p:cNvPr id="287" name="" descr=""/>
          <p:cNvPicPr/>
          <p:nvPr/>
        </p:nvPicPr>
        <p:blipFill>
          <a:blip r:embed="rId1"/>
          <a:stretch/>
        </p:blipFill>
        <p:spPr>
          <a:xfrm>
            <a:off x="548640" y="2909520"/>
            <a:ext cx="7889760" cy="3673440"/>
          </a:xfrm>
          <a:prstGeom prst="rect">
            <a:avLst/>
          </a:prstGeom>
          <a:ln>
            <a:noFill/>
          </a:ln>
        </p:spPr>
      </p:pic>
      <p:sp>
        <p:nvSpPr>
          <p:cNvPr id="288" name="CustomShape 3"/>
          <p:cNvSpPr/>
          <p:nvPr/>
        </p:nvSpPr>
        <p:spPr>
          <a:xfrm>
            <a:off x="6766560" y="5304600"/>
            <a:ext cx="2010960" cy="91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358560"/>
                <a:tab algn="l" pos="717480"/>
                <a:tab algn="l" pos="1076040"/>
                <a:tab algn="l" pos="1434960"/>
                <a:tab algn="l" pos="1793520"/>
                <a:tab algn="l" pos="2152440"/>
                <a:tab algn="l" pos="2511360"/>
                <a:tab algn="l" pos="2869920"/>
                <a:tab algn="l" pos="3228840"/>
                <a:tab algn="l" pos="3587400"/>
                <a:tab algn="l" pos="3946320"/>
                <a:tab algn="l" pos="4305240"/>
                <a:tab algn="l" pos="4663800"/>
                <a:tab algn="l" pos="5022720"/>
                <a:tab algn="l" pos="5381280"/>
                <a:tab algn="l" pos="5740200"/>
                <a:tab algn="l" pos="6099120"/>
                <a:tab algn="l" pos="6457680"/>
                <a:tab algn="l" pos="6816600"/>
                <a:tab algn="l" pos="717516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Python app using framework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89" name="CustomShape 4"/>
          <p:cNvSpPr/>
          <p:nvPr/>
        </p:nvSpPr>
        <p:spPr>
          <a:xfrm>
            <a:off x="4754880" y="5396400"/>
            <a:ext cx="1736640" cy="45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358560"/>
                <a:tab algn="l" pos="717480"/>
                <a:tab algn="l" pos="1076040"/>
                <a:tab algn="l" pos="1434960"/>
                <a:tab algn="l" pos="1793520"/>
                <a:tab algn="l" pos="2152440"/>
                <a:tab algn="l" pos="2511360"/>
                <a:tab algn="l" pos="2869920"/>
                <a:tab algn="l" pos="3228840"/>
                <a:tab algn="l" pos="3587400"/>
                <a:tab algn="l" pos="3946320"/>
                <a:tab algn="l" pos="4305240"/>
                <a:tab algn="l" pos="4663800"/>
                <a:tab algn="l" pos="5022720"/>
                <a:tab algn="l" pos="5381280"/>
                <a:tab algn="l" pos="5740200"/>
                <a:tab algn="l" pos="6099120"/>
                <a:tab algn="l" pos="6457680"/>
                <a:tab algn="l" pos="6816600"/>
                <a:tab algn="l" pos="717516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WSGI Adapter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CustomShape 1"/>
          <p:cNvSpPr/>
          <p:nvPr/>
        </p:nvSpPr>
        <p:spPr>
          <a:xfrm>
            <a:off x="610920" y="259920"/>
            <a:ext cx="7901640" cy="845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 anchorCtr="1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Decide which code should handle it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91" name="CustomShape 2"/>
          <p:cNvSpPr/>
          <p:nvPr/>
        </p:nvSpPr>
        <p:spPr>
          <a:xfrm>
            <a:off x="610920" y="1371240"/>
            <a:ext cx="8257320" cy="2559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rmAutofit fontScale="81000"/>
          </a:bodyPr>
          <a:p>
            <a:pPr marL="342720" indent="-332640">
              <a:lnSpc>
                <a:spcPct val="100000"/>
              </a:lnSpc>
              <a:spcBef>
                <a:spcPts val="1423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(5) </a:t>
            </a:r>
            <a:r>
              <a:rPr b="0" lang="en-US" sz="2400" spc="-1" strike="noStrike">
                <a:solidFill>
                  <a:srgbClr val="008000"/>
                </a:solidFill>
                <a:latin typeface="Arial"/>
                <a:ea typeface="DejaVu Sans"/>
              </a:rPr>
              <a:t>Django framework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parses the HTTP request and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creates a </a:t>
            </a:r>
            <a:r>
              <a:rPr b="1" lang="en-US" sz="2400" spc="-1" strike="noStrike">
                <a:solidFill>
                  <a:srgbClr val="000000"/>
                </a:solidFill>
                <a:latin typeface="Courier New"/>
                <a:ea typeface="DejaVu Sans"/>
              </a:rPr>
              <a:t>HttpRequest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object containing request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path, headers, </a:t>
            </a: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session info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, query params, and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request body.</a:t>
            </a:r>
            <a:endParaRPr b="0" lang="en-US" sz="2400" spc="-1" strike="noStrike">
              <a:latin typeface="Arial"/>
            </a:endParaRPr>
          </a:p>
          <a:p>
            <a:pPr marL="342720" indent="-332640">
              <a:lnSpc>
                <a:spcPct val="100000"/>
              </a:lnSpc>
              <a:spcBef>
                <a:spcPts val="1423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(6) </a:t>
            </a:r>
            <a:r>
              <a:rPr b="0" lang="en-US" sz="2400" spc="-1" strike="noStrike">
                <a:solidFill>
                  <a:srgbClr val="008000"/>
                </a:solidFill>
                <a:latin typeface="Arial"/>
                <a:ea typeface="DejaVu Sans"/>
              </a:rPr>
              <a:t>Django router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compares the </a:t>
            </a:r>
            <a:r>
              <a:rPr b="1" lang="en-US" sz="2400" spc="-1" strike="noStrike">
                <a:solidFill>
                  <a:srgbClr val="ce181e"/>
                </a:solidFill>
                <a:latin typeface="Arial"/>
                <a:ea typeface="DejaVu Sans"/>
              </a:rPr>
              <a:t>request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US" sz="2400" spc="-1" strike="noStrike">
                <a:solidFill>
                  <a:srgbClr val="ce181e"/>
                </a:solidFill>
                <a:latin typeface="Arial"/>
                <a:ea typeface="DejaVu Sans"/>
              </a:rPr>
              <a:t>path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/</a:t>
            </a:r>
            <a:r>
              <a:rPr b="0" lang="en-US" sz="2400" spc="-1" strike="noStrike">
                <a:solidFill>
                  <a:srgbClr val="000000"/>
                </a:solidFill>
                <a:latin typeface="Courier New"/>
                <a:ea typeface="DejaVu Sans"/>
              </a:rPr>
              <a:t>products/list/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to a "</a:t>
            </a:r>
            <a:r>
              <a:rPr b="1" lang="en-US" sz="2400" spc="-1" strike="noStrike">
                <a:solidFill>
                  <a:srgbClr val="000080"/>
                </a:solidFill>
                <a:latin typeface="Arial"/>
                <a:ea typeface="DejaVu Sans"/>
              </a:rPr>
              <a:t>routing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" or "</a:t>
            </a:r>
            <a:r>
              <a:rPr b="1" lang="en-US" sz="2400" spc="-1" strike="noStrike">
                <a:solidFill>
                  <a:srgbClr val="000080"/>
                </a:solidFill>
                <a:latin typeface="Arial"/>
                <a:ea typeface="DejaVu Sans"/>
              </a:rPr>
              <a:t>url mapping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"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table specified by the app.</a:t>
            </a:r>
            <a:endParaRPr b="0" lang="en-US" sz="2400" spc="-1" strike="noStrike">
              <a:latin typeface="Arial"/>
            </a:endParaRPr>
          </a:p>
          <a:p>
            <a:pPr marL="342720" indent="-332640">
              <a:lnSpc>
                <a:spcPct val="100000"/>
              </a:lnSpc>
              <a:spcBef>
                <a:spcPts val="1423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92" name="CustomShape 3"/>
          <p:cNvSpPr/>
          <p:nvPr/>
        </p:nvSpPr>
        <p:spPr>
          <a:xfrm>
            <a:off x="-3840120" y="1828800"/>
            <a:ext cx="4021920" cy="1278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(2) The server computer forwards it to a web server running on port 8080.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293" name="" descr=""/>
          <p:cNvPicPr/>
          <p:nvPr/>
        </p:nvPicPr>
        <p:blipFill>
          <a:blip r:embed="rId1"/>
          <a:stretch/>
        </p:blipFill>
        <p:spPr>
          <a:xfrm>
            <a:off x="914400" y="4070520"/>
            <a:ext cx="2010600" cy="700920"/>
          </a:xfrm>
          <a:prstGeom prst="rect">
            <a:avLst/>
          </a:prstGeom>
          <a:ln>
            <a:noFill/>
          </a:ln>
        </p:spPr>
      </p:pic>
      <p:sp>
        <p:nvSpPr>
          <p:cNvPr id="294" name="CustomShape 4"/>
          <p:cNvSpPr/>
          <p:nvPr/>
        </p:nvSpPr>
        <p:spPr>
          <a:xfrm>
            <a:off x="876240" y="4746600"/>
            <a:ext cx="2010600" cy="5169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800" spc="-1" strike="noStrike">
                <a:solidFill>
                  <a:srgbClr val="4c1900"/>
                </a:solidFill>
                <a:latin typeface="Arial"/>
                <a:ea typeface="DejaVu Sans"/>
              </a:rPr>
              <a:t>framework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95" name="CustomShape 5"/>
          <p:cNvSpPr/>
          <p:nvPr/>
        </p:nvSpPr>
        <p:spPr>
          <a:xfrm>
            <a:off x="3460680" y="3348000"/>
            <a:ext cx="1828080" cy="6994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9360">
            <a:solidFill>
              <a:srgbClr val="000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000" spc="-1" strike="noStrike">
                <a:solidFill>
                  <a:srgbClr val="000080"/>
                </a:solidFill>
                <a:latin typeface="Arial"/>
                <a:ea typeface="DejaVu Sans"/>
              </a:rPr>
              <a:t>HttpRequest</a:t>
            </a:r>
            <a:br/>
            <a:r>
              <a:rPr b="0" lang="en-US" sz="2000" spc="-1" strike="noStrike">
                <a:solidFill>
                  <a:srgbClr val="000080"/>
                </a:solidFill>
                <a:latin typeface="Arial"/>
                <a:ea typeface="DejaVu Sans"/>
              </a:rPr>
              <a:t>object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96" name="CustomShape 6"/>
          <p:cNvSpPr/>
          <p:nvPr/>
        </p:nvSpPr>
        <p:spPr>
          <a:xfrm>
            <a:off x="3840120" y="4572000"/>
            <a:ext cx="4388760" cy="1980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 u="sng">
                <a:solidFill>
                  <a:srgbClr val="000000"/>
                </a:solidFill>
                <a:uFillTx/>
                <a:latin typeface="Courier New"/>
                <a:ea typeface="DejaVu Sans"/>
              </a:rPr>
              <a:t>urls.py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path --&gt; code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   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pattern --&gt; code2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urlpatterns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 = [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1" lang="en-US" sz="2000" spc="-1" strike="noStrike">
                <a:solidFill>
                  <a:srgbClr val="ce181e"/>
                </a:solidFill>
                <a:latin typeface="Arial"/>
                <a:ea typeface="DejaVu Sans"/>
              </a:rPr>
              <a:t>path('products/list/', prod_list)</a:t>
            </a:r>
            <a:r>
              <a:rPr b="1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,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... ]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97" name="CustomShape 7"/>
          <p:cNvSpPr/>
          <p:nvPr/>
        </p:nvSpPr>
        <p:spPr>
          <a:xfrm>
            <a:off x="3565440" y="5668920"/>
            <a:ext cx="4479120" cy="882000"/>
          </a:xfrm>
          <a:prstGeom prst="ellipse">
            <a:avLst/>
          </a:prstGeom>
          <a:noFill/>
          <a:ln w="18000">
            <a:solidFill>
              <a:srgbClr val="ff00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8" name="Line 8"/>
          <p:cNvSpPr/>
          <p:nvPr/>
        </p:nvSpPr>
        <p:spPr>
          <a:xfrm>
            <a:off x="2925720" y="4664160"/>
            <a:ext cx="914400" cy="639720"/>
          </a:xfrm>
          <a:prstGeom prst="line">
            <a:avLst/>
          </a:prstGeom>
          <a:ln w="9360">
            <a:solidFill>
              <a:srgbClr val="000080"/>
            </a:solidFill>
            <a:prstDash val="sysDot"/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99" name="Line 9"/>
          <p:cNvSpPr/>
          <p:nvPr/>
        </p:nvSpPr>
        <p:spPr>
          <a:xfrm flipV="1">
            <a:off x="2834640" y="3657600"/>
            <a:ext cx="626040" cy="457200"/>
          </a:xfrm>
          <a:prstGeom prst="line">
            <a:avLst/>
          </a:prstGeom>
          <a:ln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CustomShape 1"/>
          <p:cNvSpPr/>
          <p:nvPr/>
        </p:nvSpPr>
        <p:spPr>
          <a:xfrm>
            <a:off x="610920" y="259920"/>
            <a:ext cx="7901640" cy="845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 anchorCtr="1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Django invokes </a:t>
            </a:r>
            <a:r>
              <a:rPr b="0" i="1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your code</a:t>
            </a:r>
            <a:r>
              <a:rPr b="0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 to process</a:t>
            </a:r>
            <a:r>
              <a:rPr b="0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 the request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301" name="CustomShape 2"/>
          <p:cNvSpPr/>
          <p:nvPr/>
        </p:nvSpPr>
        <p:spPr>
          <a:xfrm>
            <a:off x="611280" y="1371600"/>
            <a:ext cx="8074800" cy="2193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rmAutofit/>
          </a:bodyPr>
          <a:p>
            <a:pPr>
              <a:lnSpc>
                <a:spcPct val="100000"/>
              </a:lnSpc>
              <a:spcBef>
                <a:spcPts val="1423"/>
              </a:spcBef>
              <a:tabLst>
                <a:tab algn="l" pos="0"/>
                <a:tab algn="l" pos="12600"/>
                <a:tab algn="l" pos="371160"/>
                <a:tab algn="l" pos="730080"/>
                <a:tab algn="l" pos="1089000"/>
                <a:tab algn="l" pos="1447560"/>
                <a:tab algn="l" pos="1806480"/>
                <a:tab algn="l" pos="2165040"/>
                <a:tab algn="l" pos="2523960"/>
                <a:tab algn="l" pos="2882880"/>
                <a:tab algn="l" pos="3241440"/>
                <a:tab algn="l" pos="3600360"/>
                <a:tab algn="l" pos="3958920"/>
                <a:tab algn="l" pos="4317840"/>
                <a:tab algn="l" pos="4676760"/>
                <a:tab algn="l" pos="5035320"/>
                <a:tab algn="l" pos="5394240"/>
                <a:tab algn="l" pos="5752800"/>
                <a:tab algn="l" pos="6111720"/>
                <a:tab algn="l" pos="6470640"/>
                <a:tab algn="l" pos="6829200"/>
                <a:tab algn="l" pos="6845040"/>
                <a:tab algn="l" pos="7205400"/>
                <a:tab algn="l" pos="7565760"/>
                <a:tab algn="l" pos="792612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(7) Django framework invokes </a:t>
            </a:r>
            <a:r>
              <a:rPr b="0" lang="en-US" sz="2400" spc="-1" strike="noStrike">
                <a:solidFill>
                  <a:srgbClr val="ce181e"/>
                </a:solidFill>
                <a:latin typeface="Arial"/>
                <a:ea typeface="DejaVu Sans"/>
              </a:rPr>
              <a:t>your code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(</a:t>
            </a:r>
            <a:r>
              <a:rPr b="1" lang="en-US" sz="2400" spc="-1" strike="noStrike">
                <a:solidFill>
                  <a:srgbClr val="000000"/>
                </a:solidFill>
                <a:latin typeface="Courier New"/>
                <a:ea typeface="DejaVu Sans"/>
              </a:rPr>
              <a:t>prod_list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) with the </a:t>
            </a:r>
            <a:r>
              <a:rPr b="1" lang="en-US" sz="2400" spc="-1" strike="noStrike">
                <a:solidFill>
                  <a:srgbClr val="000000"/>
                </a:solidFill>
                <a:latin typeface="Courier New"/>
                <a:ea typeface="DejaVu Sans"/>
              </a:rPr>
              <a:t>HttpRequest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object as parameter...</a:t>
            </a:r>
            <a:endParaRPr b="0" lang="en-US" sz="2400" spc="-1" strike="noStrike">
              <a:latin typeface="Arial"/>
            </a:endParaRPr>
          </a:p>
          <a:p>
            <a:pPr marL="342720" indent="-332640">
              <a:lnSpc>
                <a:spcPct val="100000"/>
              </a:lnSpc>
              <a:spcBef>
                <a:spcPts val="1423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(8) your code must handle the request and return an </a:t>
            </a:r>
            <a:r>
              <a:rPr b="1" lang="en-US" sz="2400" spc="-1" strike="noStrike">
                <a:solidFill>
                  <a:srgbClr val="000000"/>
                </a:solidFill>
                <a:latin typeface="Courier New"/>
                <a:ea typeface="DejaVu Sans"/>
              </a:rPr>
              <a:t>HttpResponse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object.</a:t>
            </a:r>
            <a:endParaRPr b="0" lang="en-US" sz="2400" spc="-1" strike="noStrike">
              <a:latin typeface="Arial"/>
            </a:endParaRPr>
          </a:p>
          <a:p>
            <a:pPr marL="342720" indent="-33264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</p:txBody>
      </p:sp>
      <p:sp>
        <p:nvSpPr>
          <p:cNvPr id="302" name="CustomShape 3"/>
          <p:cNvSpPr/>
          <p:nvPr/>
        </p:nvSpPr>
        <p:spPr>
          <a:xfrm>
            <a:off x="-3840120" y="1828800"/>
            <a:ext cx="4021920" cy="1278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(2) The server computer forwards it to a web server running on port 8080.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303" name="" descr=""/>
          <p:cNvPicPr/>
          <p:nvPr/>
        </p:nvPicPr>
        <p:blipFill>
          <a:blip r:embed="rId1"/>
          <a:stretch/>
        </p:blipFill>
        <p:spPr>
          <a:xfrm>
            <a:off x="554040" y="4070520"/>
            <a:ext cx="2010600" cy="700920"/>
          </a:xfrm>
          <a:prstGeom prst="rect">
            <a:avLst/>
          </a:prstGeom>
          <a:ln>
            <a:noFill/>
          </a:ln>
        </p:spPr>
      </p:pic>
      <p:sp>
        <p:nvSpPr>
          <p:cNvPr id="304" name="CustomShape 4"/>
          <p:cNvSpPr/>
          <p:nvPr/>
        </p:nvSpPr>
        <p:spPr>
          <a:xfrm>
            <a:off x="517680" y="4746600"/>
            <a:ext cx="2010600" cy="5169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800" spc="-1" strike="noStrike">
                <a:solidFill>
                  <a:srgbClr val="4c1900"/>
                </a:solidFill>
                <a:latin typeface="Arial"/>
                <a:ea typeface="DejaVu Sans"/>
              </a:rPr>
              <a:t>framework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05" name="CustomShape 5"/>
          <p:cNvSpPr/>
          <p:nvPr/>
        </p:nvSpPr>
        <p:spPr>
          <a:xfrm>
            <a:off x="2820960" y="3340080"/>
            <a:ext cx="1828080" cy="6994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9360">
            <a:solidFill>
              <a:srgbClr val="000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000" spc="-1" strike="noStrike">
                <a:solidFill>
                  <a:srgbClr val="000080"/>
                </a:solidFill>
                <a:latin typeface="Arial"/>
                <a:ea typeface="DejaVu Sans"/>
              </a:rPr>
              <a:t>HttpRequest</a:t>
            </a:r>
            <a:br/>
            <a:r>
              <a:rPr b="0" lang="en-US" sz="2000" spc="-1" strike="noStrike">
                <a:solidFill>
                  <a:srgbClr val="000080"/>
                </a:solidFill>
                <a:latin typeface="Arial"/>
                <a:ea typeface="DejaVu Sans"/>
              </a:rPr>
              <a:t>object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06" name="CustomShape 6"/>
          <p:cNvSpPr/>
          <p:nvPr/>
        </p:nvSpPr>
        <p:spPr>
          <a:xfrm>
            <a:off x="4884840" y="3995640"/>
            <a:ext cx="3839400" cy="10962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Courier New"/>
                <a:ea typeface="DejaVu Sans"/>
              </a:rPr>
              <a:t>prod_list</a:t>
            </a:r>
            <a:r>
              <a:rPr b="0" lang="en-US" sz="2400" spc="-1" strike="noStrike">
                <a:solidFill>
                  <a:srgbClr val="000000"/>
                </a:solidFill>
                <a:latin typeface="Courier New"/>
                <a:ea typeface="DejaVu Sans"/>
              </a:rPr>
              <a:t>(request)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ourier New"/>
                <a:ea typeface="DejaVu Sans"/>
              </a:rPr>
              <a:t>   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07" name="Line 7"/>
          <p:cNvSpPr/>
          <p:nvPr/>
        </p:nvSpPr>
        <p:spPr>
          <a:xfrm>
            <a:off x="2651040" y="4245120"/>
            <a:ext cx="2232000" cy="1440"/>
          </a:xfrm>
          <a:prstGeom prst="line">
            <a:avLst/>
          </a:prstGeom>
          <a:ln w="9360">
            <a:solidFill>
              <a:srgbClr val="00008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08" name="Line 8"/>
          <p:cNvSpPr/>
          <p:nvPr/>
        </p:nvSpPr>
        <p:spPr>
          <a:xfrm flipH="1">
            <a:off x="2647440" y="4954680"/>
            <a:ext cx="2241720" cy="1440"/>
          </a:xfrm>
          <a:prstGeom prst="line">
            <a:avLst/>
          </a:prstGeom>
          <a:ln w="9360">
            <a:solidFill>
              <a:srgbClr val="000080"/>
            </a:solidFill>
            <a:prstDash val="sysDot"/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09" name="CustomShape 9"/>
          <p:cNvSpPr/>
          <p:nvPr/>
        </p:nvSpPr>
        <p:spPr>
          <a:xfrm>
            <a:off x="2835360" y="4479840"/>
            <a:ext cx="2010600" cy="424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200" spc="-1" strike="noStrike">
                <a:solidFill>
                  <a:srgbClr val="000080"/>
                </a:solidFill>
                <a:latin typeface="Arial"/>
                <a:ea typeface="DejaVu Sans"/>
              </a:rPr>
              <a:t>HttpResponse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310" name="TextShape 10"/>
          <p:cNvSpPr txBox="1"/>
          <p:nvPr/>
        </p:nvSpPr>
        <p:spPr>
          <a:xfrm>
            <a:off x="640080" y="5606640"/>
            <a:ext cx="7955280" cy="885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0" lang="en-US" sz="1800" spc="-1" strike="noStrike">
                <a:latin typeface="Arial"/>
              </a:rPr>
              <a:t>Syntax:</a:t>
            </a:r>
            <a:endParaRPr b="0" lang="en-US" sz="1800" spc="-1" strike="noStrike">
              <a:latin typeface="Arial"/>
            </a:endParaRPr>
          </a:p>
          <a:p>
            <a:endParaRPr b="0" lang="en-US" sz="1800" spc="-1" strike="noStrike">
              <a:latin typeface="Arial"/>
            </a:endParaRPr>
          </a:p>
          <a:p>
            <a:r>
              <a:rPr b="0" lang="en-US" sz="2000" spc="-1" strike="noStrike">
                <a:latin typeface="Arial"/>
              </a:rPr>
              <a:t>prod_list(request: HttpRequest, [other params]) -&gt; HttpResponse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CustomShape 1"/>
          <p:cNvSpPr/>
          <p:nvPr/>
        </p:nvSpPr>
        <p:spPr>
          <a:xfrm>
            <a:off x="610920" y="259920"/>
            <a:ext cx="7901640" cy="845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 anchorCtr="1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What your request handler does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312" name="CustomShape 2"/>
          <p:cNvSpPr/>
          <p:nvPr/>
        </p:nvSpPr>
        <p:spPr>
          <a:xfrm>
            <a:off x="610920" y="1226880"/>
            <a:ext cx="8349480" cy="2559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rmAutofit fontScale="83000"/>
          </a:bodyPr>
          <a:p>
            <a:pPr>
              <a:lnSpc>
                <a:spcPct val="100000"/>
              </a:lnSpc>
              <a:spcBef>
                <a:spcPts val="1423"/>
              </a:spcBef>
              <a:tabLst>
                <a:tab algn="l" pos="0"/>
                <a:tab algn="l" pos="12600"/>
                <a:tab algn="l" pos="371160"/>
                <a:tab algn="l" pos="730080"/>
                <a:tab algn="l" pos="1089000"/>
                <a:tab algn="l" pos="1447560"/>
                <a:tab algn="l" pos="1806480"/>
                <a:tab algn="l" pos="2165040"/>
                <a:tab algn="l" pos="2523960"/>
                <a:tab algn="l" pos="2882880"/>
                <a:tab algn="l" pos="3241440"/>
                <a:tab algn="l" pos="3600360"/>
                <a:tab algn="l" pos="3958920"/>
                <a:tab algn="l" pos="4317840"/>
                <a:tab algn="l" pos="4676760"/>
                <a:tab algn="l" pos="5035320"/>
                <a:tab algn="l" pos="5394240"/>
                <a:tab algn="l" pos="5752800"/>
                <a:tab algn="l" pos="6111720"/>
                <a:tab algn="l" pos="6470640"/>
                <a:tab algn="l" pos="6829200"/>
                <a:tab algn="l" pos="6845040"/>
                <a:tab algn="l" pos="7205400"/>
                <a:tab algn="l" pos="7565760"/>
                <a:tab algn="l" pos="7926120"/>
                <a:tab algn="l" pos="828648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(8) Your code (Django calls it "view") applies </a:t>
            </a:r>
            <a:r>
              <a:rPr b="0" lang="en-US" sz="2400" spc="-1" strike="noStrike">
                <a:solidFill>
                  <a:srgbClr val="000080"/>
                </a:solidFill>
                <a:latin typeface="Arial"/>
                <a:ea typeface="DejaVu Sans"/>
              </a:rPr>
              <a:t>application logic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and may call Django code to handle the request.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23"/>
              </a:spcBef>
              <a:tabLst>
                <a:tab algn="l" pos="0"/>
                <a:tab algn="l" pos="12600"/>
                <a:tab algn="l" pos="371160"/>
                <a:tab algn="l" pos="730080"/>
                <a:tab algn="l" pos="1089000"/>
                <a:tab algn="l" pos="1447560"/>
                <a:tab algn="l" pos="1806480"/>
                <a:tab algn="l" pos="2165040"/>
                <a:tab algn="l" pos="2523960"/>
                <a:tab algn="l" pos="2882880"/>
                <a:tab algn="l" pos="3241440"/>
                <a:tab algn="l" pos="3600360"/>
                <a:tab algn="l" pos="3958920"/>
                <a:tab algn="l" pos="4317840"/>
                <a:tab algn="l" pos="4676760"/>
                <a:tab algn="l" pos="5035320"/>
                <a:tab algn="l" pos="5394240"/>
                <a:tab algn="l" pos="5752800"/>
                <a:tab algn="l" pos="6111720"/>
                <a:tab algn="l" pos="6470640"/>
                <a:tab algn="l" pos="6829200"/>
                <a:tab algn="l" pos="6845040"/>
                <a:tab algn="l" pos="7205400"/>
                <a:tab algn="l" pos="7565760"/>
                <a:tab algn="l" pos="7926120"/>
                <a:tab algn="l" pos="828648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For a product list, it uses the </a:t>
            </a:r>
            <a:r>
              <a:rPr b="0" lang="en-US" sz="2400" spc="-1" strike="noStrike">
                <a:solidFill>
                  <a:srgbClr val="000000"/>
                </a:solidFill>
                <a:latin typeface="Courier New"/>
                <a:ea typeface="DejaVu Sans"/>
              </a:rPr>
              <a:t>Product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i="1" lang="en-US" sz="2400" spc="-1" strike="noStrike">
                <a:solidFill>
                  <a:srgbClr val="000080"/>
                </a:solidFill>
                <a:latin typeface="Arial"/>
                <a:ea typeface="DejaVu Sans"/>
              </a:rPr>
              <a:t>model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class to get the products from a database (the Django framework does this).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23"/>
              </a:spcBef>
              <a:tabLst>
                <a:tab algn="l" pos="0"/>
                <a:tab algn="l" pos="12600"/>
                <a:tab algn="l" pos="371160"/>
                <a:tab algn="l" pos="730080"/>
                <a:tab algn="l" pos="1089000"/>
                <a:tab algn="l" pos="1447560"/>
                <a:tab algn="l" pos="1806480"/>
                <a:tab algn="l" pos="2165040"/>
                <a:tab algn="l" pos="2523960"/>
                <a:tab algn="l" pos="2882880"/>
                <a:tab algn="l" pos="3241440"/>
                <a:tab algn="l" pos="3600360"/>
                <a:tab algn="l" pos="3958920"/>
                <a:tab algn="l" pos="4317840"/>
                <a:tab algn="l" pos="4676760"/>
                <a:tab algn="l" pos="5035320"/>
                <a:tab algn="l" pos="5394240"/>
                <a:tab algn="l" pos="5752800"/>
                <a:tab algn="l" pos="6111720"/>
                <a:tab algn="l" pos="6470640"/>
                <a:tab algn="l" pos="6829200"/>
                <a:tab algn="l" pos="6845040"/>
                <a:tab algn="l" pos="7205400"/>
                <a:tab algn="l" pos="7565760"/>
                <a:tab algn="l" pos="7926120"/>
                <a:tab algn="l" pos="828648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Then, use a </a:t>
            </a:r>
            <a:r>
              <a:rPr b="1" lang="en-US" sz="2400" spc="-1" strike="noStrike">
                <a:solidFill>
                  <a:srgbClr val="000080"/>
                </a:solidFill>
                <a:latin typeface="Arial"/>
                <a:ea typeface="DejaVu Sans"/>
              </a:rPr>
              <a:t>template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(your code) to create a web page containing product data. This is called </a:t>
            </a:r>
            <a:r>
              <a:rPr b="1" i="1" lang="en-US" sz="2400" spc="-1" strike="noStrike">
                <a:solidFill>
                  <a:srgbClr val="000080"/>
                </a:solidFill>
                <a:latin typeface="Arial"/>
                <a:ea typeface="DejaVu Sans"/>
              </a:rPr>
              <a:t>rendering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en-US" sz="2400" spc="-1" strike="noStrike">
              <a:latin typeface="Arial"/>
            </a:endParaRPr>
          </a:p>
          <a:p>
            <a:pPr marL="342720" indent="-33264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</p:txBody>
      </p:sp>
      <p:sp>
        <p:nvSpPr>
          <p:cNvPr id="313" name="CustomShape 3"/>
          <p:cNvSpPr/>
          <p:nvPr/>
        </p:nvSpPr>
        <p:spPr>
          <a:xfrm>
            <a:off x="-3840120" y="1828800"/>
            <a:ext cx="4021920" cy="1278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(2) The server computer forwards it to a web server running on port 8080.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14" name="CustomShape 4"/>
          <p:cNvSpPr/>
          <p:nvPr/>
        </p:nvSpPr>
        <p:spPr>
          <a:xfrm>
            <a:off x="457200" y="3840120"/>
            <a:ext cx="4479120" cy="821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Courier New"/>
                <a:ea typeface="DejaVu Sans"/>
              </a:rPr>
              <a:t>prod_list</a:t>
            </a:r>
            <a:r>
              <a:rPr b="0" lang="en-US" sz="2400" spc="-1" strike="noStrike">
                <a:solidFill>
                  <a:srgbClr val="000000"/>
                </a:solidFill>
                <a:latin typeface="Courier New"/>
                <a:ea typeface="DejaVu Sans"/>
              </a:rPr>
              <a:t>(http_request)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endParaRPr b="0" lang="en-US" sz="2400" spc="-1" strike="noStrike">
              <a:latin typeface="Arial"/>
            </a:endParaRPr>
          </a:p>
        </p:txBody>
      </p:sp>
      <p:sp>
        <p:nvSpPr>
          <p:cNvPr id="315" name="CustomShape 5"/>
          <p:cNvSpPr/>
          <p:nvPr/>
        </p:nvSpPr>
        <p:spPr>
          <a:xfrm>
            <a:off x="6860880" y="3804480"/>
            <a:ext cx="1920240" cy="9421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DejaVu Sans"/>
              </a:rPr>
              <a:t>&lt;&lt;model&gt;&gt;</a:t>
            </a:r>
            <a:endParaRPr b="0" lang="en-US" sz="2200" spc="-1" strike="noStrike"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Product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16" name="Line 6"/>
          <p:cNvSpPr/>
          <p:nvPr/>
        </p:nvSpPr>
        <p:spPr>
          <a:xfrm>
            <a:off x="4937040" y="4043520"/>
            <a:ext cx="1920960" cy="1440"/>
          </a:xfrm>
          <a:prstGeom prst="line">
            <a:avLst/>
          </a:prstGeom>
          <a:ln w="936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17" name="CustomShape 7"/>
          <p:cNvSpPr/>
          <p:nvPr/>
        </p:nvSpPr>
        <p:spPr>
          <a:xfrm>
            <a:off x="5211720" y="3619440"/>
            <a:ext cx="1463040" cy="4550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1" lang="en-US" sz="2400" spc="-1" strike="noStrike">
                <a:solidFill>
                  <a:srgbClr val="000080"/>
                </a:solidFill>
                <a:latin typeface="Courier New"/>
                <a:ea typeface="DejaVu Sans"/>
              </a:rPr>
              <a:t>all()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18" name="Line 8"/>
          <p:cNvSpPr/>
          <p:nvPr/>
        </p:nvSpPr>
        <p:spPr>
          <a:xfrm flipH="1">
            <a:off x="4932360" y="4479840"/>
            <a:ext cx="1925640" cy="1800"/>
          </a:xfrm>
          <a:prstGeom prst="line">
            <a:avLst/>
          </a:prstGeom>
          <a:ln w="9360">
            <a:solidFill>
              <a:srgbClr val="000000"/>
            </a:solidFill>
            <a:prstDash val="sysDot"/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19" name="CustomShape 9"/>
          <p:cNvSpPr/>
          <p:nvPr/>
        </p:nvSpPr>
        <p:spPr>
          <a:xfrm>
            <a:off x="4686120" y="4479840"/>
            <a:ext cx="2468520" cy="45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1" lang="en-US" sz="2000" spc="-1" strike="noStrike">
                <a:solidFill>
                  <a:srgbClr val="000080"/>
                </a:solidFill>
                <a:latin typeface="Courier New"/>
                <a:ea typeface="DejaVu Sans"/>
              </a:rPr>
              <a:t>list[Product]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20" name="CustomShape 10"/>
          <p:cNvSpPr/>
          <p:nvPr/>
        </p:nvSpPr>
        <p:spPr>
          <a:xfrm>
            <a:off x="4479840" y="5761080"/>
            <a:ext cx="3017160" cy="8517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&lt;&lt;template&gt;&gt;</a:t>
            </a:r>
            <a:endParaRPr b="0" lang="en-US" sz="2400" spc="-1" strike="noStrike"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product_list.html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21" name="Line 11"/>
          <p:cNvSpPr/>
          <p:nvPr/>
        </p:nvSpPr>
        <p:spPr>
          <a:xfrm>
            <a:off x="3565440" y="4662360"/>
            <a:ext cx="1554120" cy="1098720"/>
          </a:xfrm>
          <a:prstGeom prst="line">
            <a:avLst/>
          </a:prstGeom>
          <a:ln w="936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22" name="CustomShape 12"/>
          <p:cNvSpPr/>
          <p:nvPr/>
        </p:nvSpPr>
        <p:spPr>
          <a:xfrm>
            <a:off x="3017880" y="5029200"/>
            <a:ext cx="2285280" cy="5486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i="1" lang="en-US" sz="2400" spc="-1" strike="noStrike">
                <a:solidFill>
                  <a:srgbClr val="000080"/>
                </a:solidFill>
                <a:latin typeface="Times New Roman"/>
                <a:ea typeface="DejaVu Sans"/>
              </a:rPr>
              <a:t>render template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23" name="Line 13"/>
          <p:cNvSpPr/>
          <p:nvPr/>
        </p:nvSpPr>
        <p:spPr>
          <a:xfrm flipH="1" flipV="1">
            <a:off x="2646360" y="4657680"/>
            <a:ext cx="1838160" cy="1473120"/>
          </a:xfrm>
          <a:prstGeom prst="line">
            <a:avLst/>
          </a:prstGeom>
          <a:ln w="9360">
            <a:solidFill>
              <a:srgbClr val="000000"/>
            </a:solidFill>
            <a:prstDash val="sysDot"/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24" name="Line 14"/>
          <p:cNvSpPr/>
          <p:nvPr/>
        </p:nvSpPr>
        <p:spPr>
          <a:xfrm>
            <a:off x="5943600" y="4937040"/>
            <a:ext cx="1440" cy="824040"/>
          </a:xfrm>
          <a:prstGeom prst="line">
            <a:avLst/>
          </a:prstGeom>
          <a:ln w="9360">
            <a:solidFill>
              <a:srgbClr val="000000"/>
            </a:solidFill>
            <a:prstDash val="sysDashDotDot"/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CustomShape 1"/>
          <p:cNvSpPr/>
          <p:nvPr/>
        </p:nvSpPr>
        <p:spPr>
          <a:xfrm>
            <a:off x="610920" y="260280"/>
            <a:ext cx="7876440" cy="820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 anchorCtr="1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3880"/>
                <a:tab algn="l" pos="712440"/>
                <a:tab algn="l" pos="1071360"/>
                <a:tab algn="l" pos="1430280"/>
                <a:tab algn="l" pos="1788840"/>
                <a:tab algn="l" pos="2147760"/>
                <a:tab algn="l" pos="2506320"/>
                <a:tab algn="l" pos="2865240"/>
                <a:tab algn="l" pos="3224160"/>
                <a:tab algn="l" pos="3582720"/>
                <a:tab algn="l" pos="3941640"/>
                <a:tab algn="l" pos="4300200"/>
                <a:tab algn="l" pos="4659120"/>
                <a:tab algn="l" pos="5018040"/>
                <a:tab algn="l" pos="5376600"/>
                <a:tab algn="l" pos="5735520"/>
                <a:tab algn="l" pos="6094080"/>
                <a:tab algn="l" pos="6453000"/>
                <a:tab algn="l" pos="6811920"/>
                <a:tab algn="l" pos="7170480"/>
                <a:tab algn="l" pos="7203960"/>
                <a:tab algn="l" pos="7564320"/>
                <a:tab algn="l" pos="7889760"/>
                <a:tab algn="l" pos="8248320"/>
                <a:tab algn="l" pos="8607240"/>
                <a:tab algn="l" pos="8966160"/>
                <a:tab algn="l" pos="9324720"/>
                <a:tab algn="l" pos="9683640"/>
                <a:tab algn="l" pos="10042200"/>
                <a:tab algn="l" pos="10401120"/>
                <a:tab algn="l" pos="1076004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Summary of Request Processing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326" name="CustomShape 2"/>
          <p:cNvSpPr/>
          <p:nvPr/>
        </p:nvSpPr>
        <p:spPr>
          <a:xfrm>
            <a:off x="549000" y="6308280"/>
            <a:ext cx="7876440" cy="515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rmAutofit/>
          </a:bodyPr>
          <a:p>
            <a:pPr marL="342720" indent="-33588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Source: https://devopedia.org/django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327" name="" descr=""/>
          <p:cNvPicPr/>
          <p:nvPr/>
        </p:nvPicPr>
        <p:blipFill>
          <a:blip r:embed="rId1"/>
          <a:stretch/>
        </p:blipFill>
        <p:spPr>
          <a:xfrm>
            <a:off x="1233360" y="1006560"/>
            <a:ext cx="7178040" cy="537300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CustomShape 1"/>
          <p:cNvSpPr/>
          <p:nvPr/>
        </p:nvSpPr>
        <p:spPr>
          <a:xfrm>
            <a:off x="611280" y="259920"/>
            <a:ext cx="7895520" cy="839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Web App Vocabulary</a:t>
            </a:r>
            <a:endParaRPr b="0" lang="en-US" sz="3600" spc="-1" strike="noStrike">
              <a:latin typeface="Arial"/>
            </a:endParaRPr>
          </a:p>
        </p:txBody>
      </p:sp>
      <p:graphicFrame>
        <p:nvGraphicFramePr>
          <p:cNvPr id="329" name="Table 2"/>
          <p:cNvGraphicFramePr/>
          <p:nvPr/>
        </p:nvGraphicFramePr>
        <p:xfrm>
          <a:off x="611280" y="1371600"/>
          <a:ext cx="7896960" cy="4753800"/>
        </p:xfrm>
        <a:graphic>
          <a:graphicData uri="http://schemas.openxmlformats.org/drawingml/2006/table">
            <a:tbl>
              <a:tblPr/>
              <a:tblGrid>
                <a:gridCol w="2632320"/>
                <a:gridCol w="2632320"/>
                <a:gridCol w="2632680"/>
              </a:tblGrid>
              <a:tr h="736560">
                <a:tc>
                  <a:txBody>
                    <a:bodyPr lIns="90000" rIns="90000">
                      <a:noAutofit/>
                    </a:bodyPr>
                    <a:p>
                      <a:pPr algn="ctr">
                        <a:lnSpc>
                          <a:spcPct val="87000"/>
                        </a:lnSpc>
                        <a:tabLst>
                          <a:tab algn="l" pos="0"/>
                          <a:tab algn="l" pos="358560"/>
                          <a:tab algn="l" pos="718920"/>
                          <a:tab algn="l" pos="1079280"/>
                          <a:tab algn="l" pos="1439640"/>
                          <a:tab algn="l" pos="1800000"/>
                          <a:tab algn="l" pos="2160360"/>
                          <a:tab algn="l" pos="2520720"/>
                          <a:tab algn="l" pos="2881080"/>
                          <a:tab algn="l" pos="3241440"/>
                          <a:tab algn="l" pos="3601800"/>
                          <a:tab algn="l" pos="3962160"/>
                          <a:tab algn="l" pos="4322520"/>
                          <a:tab algn="l" pos="4682880"/>
                          <a:tab algn="l" pos="5043240"/>
                          <a:tab algn="l" pos="5403600"/>
                          <a:tab algn="l" pos="5763960"/>
                          <a:tab algn="l" pos="6124320"/>
                          <a:tab algn="l" pos="6484680"/>
                          <a:tab algn="l" pos="6845040"/>
                          <a:tab algn="l" pos="7205400"/>
                          <a:tab algn="l" pos="7565760"/>
                          <a:tab algn="l" pos="7891200"/>
                          <a:tab algn="l" pos="8250120"/>
                          <a:tab algn="l" pos="8608680"/>
                          <a:tab algn="l" pos="8967600"/>
                          <a:tab algn="l" pos="9326520"/>
                          <a:tab algn="l" pos="9685080"/>
                          <a:tab algn="l" pos="10044000"/>
                          <a:tab algn="l" pos="10402560"/>
                          <a:tab algn="l" pos="10761480"/>
                          <a:tab algn="l" pos="10762920"/>
                        </a:tabLst>
                      </a:pPr>
                      <a:r>
                        <a:rPr b="0" lang="en-US" sz="2200" spc="-1" strike="noStrike">
                          <a:solidFill>
                            <a:srgbClr val="000080"/>
                          </a:solidFill>
                          <a:latin typeface="Arial"/>
                          <a:ea typeface="TakaoPGothic"/>
                        </a:rPr>
                        <a:t>What</a:t>
                      </a:r>
                      <a:endParaRPr b="0" lang="en-US" sz="2200" spc="-1" strike="noStrike"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000000"/>
                      </a:solidFill>
                    </a:lnL>
                    <a:lnR w="720">
                      <a:solidFill>
                        <a:srgbClr val="000000"/>
                      </a:solidFill>
                    </a:lnR>
                    <a:lnT w="720">
                      <a:solidFill>
                        <a:srgbClr val="000000"/>
                      </a:solidFill>
                    </a:lnT>
                    <a:lnB w="7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 algn="ctr">
                        <a:lnSpc>
                          <a:spcPct val="87000"/>
                        </a:lnSpc>
                        <a:tabLst>
                          <a:tab algn="l" pos="0"/>
                          <a:tab algn="l" pos="358560"/>
                          <a:tab algn="l" pos="718920"/>
                          <a:tab algn="l" pos="1079280"/>
                          <a:tab algn="l" pos="1439640"/>
                          <a:tab algn="l" pos="1800000"/>
                          <a:tab algn="l" pos="2160360"/>
                          <a:tab algn="l" pos="2520720"/>
                          <a:tab algn="l" pos="2881080"/>
                          <a:tab algn="l" pos="3241440"/>
                          <a:tab algn="l" pos="3601800"/>
                          <a:tab algn="l" pos="3962160"/>
                          <a:tab algn="l" pos="4322520"/>
                          <a:tab algn="l" pos="4682880"/>
                          <a:tab algn="l" pos="5043240"/>
                          <a:tab algn="l" pos="5403600"/>
                          <a:tab algn="l" pos="5763960"/>
                          <a:tab algn="l" pos="6124320"/>
                          <a:tab algn="l" pos="6484680"/>
                          <a:tab algn="l" pos="6845040"/>
                          <a:tab algn="l" pos="7205400"/>
                          <a:tab algn="l" pos="7565760"/>
                          <a:tab algn="l" pos="7891200"/>
                          <a:tab algn="l" pos="8250120"/>
                          <a:tab algn="l" pos="8608680"/>
                          <a:tab algn="l" pos="8967600"/>
                          <a:tab algn="l" pos="9326520"/>
                          <a:tab algn="l" pos="9685080"/>
                          <a:tab algn="l" pos="10044000"/>
                          <a:tab algn="l" pos="10402560"/>
                          <a:tab algn="l" pos="10761480"/>
                          <a:tab algn="l" pos="10762920"/>
                        </a:tabLst>
                      </a:pPr>
                      <a:r>
                        <a:rPr b="0" lang="en-US" sz="2200" spc="-1" strike="noStrike">
                          <a:solidFill>
                            <a:srgbClr val="000080"/>
                          </a:solidFill>
                          <a:latin typeface="Arial"/>
                          <a:ea typeface="TakaoPGothic"/>
                        </a:rPr>
                        <a:t>Typical Web Framework</a:t>
                      </a:r>
                      <a:endParaRPr b="0" lang="en-US" sz="2200" spc="-1" strike="noStrike"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000000"/>
                      </a:solidFill>
                    </a:lnL>
                    <a:lnR w="720">
                      <a:solidFill>
                        <a:srgbClr val="000000"/>
                      </a:solidFill>
                    </a:lnR>
                    <a:lnT w="720">
                      <a:solidFill>
                        <a:srgbClr val="000000"/>
                      </a:solidFill>
                    </a:lnT>
                    <a:lnB w="7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 algn="ctr">
                        <a:lnSpc>
                          <a:spcPct val="87000"/>
                        </a:lnSpc>
                        <a:tabLst>
                          <a:tab algn="l" pos="0"/>
                          <a:tab algn="l" pos="358560"/>
                          <a:tab algn="l" pos="718920"/>
                          <a:tab algn="l" pos="1079280"/>
                          <a:tab algn="l" pos="1439640"/>
                          <a:tab algn="l" pos="1800000"/>
                          <a:tab algn="l" pos="2160360"/>
                          <a:tab algn="l" pos="2520720"/>
                          <a:tab algn="l" pos="2881080"/>
                          <a:tab algn="l" pos="3241440"/>
                          <a:tab algn="l" pos="3601800"/>
                          <a:tab algn="l" pos="3962160"/>
                          <a:tab algn="l" pos="4322520"/>
                          <a:tab algn="l" pos="4682880"/>
                          <a:tab algn="l" pos="5043240"/>
                          <a:tab algn="l" pos="5403600"/>
                          <a:tab algn="l" pos="5763960"/>
                          <a:tab algn="l" pos="6124320"/>
                          <a:tab algn="l" pos="6484680"/>
                          <a:tab algn="l" pos="6845040"/>
                          <a:tab algn="l" pos="7205400"/>
                          <a:tab algn="l" pos="7565760"/>
                          <a:tab algn="l" pos="7891200"/>
                          <a:tab algn="l" pos="8250120"/>
                          <a:tab algn="l" pos="8608680"/>
                          <a:tab algn="l" pos="8967600"/>
                          <a:tab algn="l" pos="9326520"/>
                          <a:tab algn="l" pos="9685080"/>
                          <a:tab algn="l" pos="10044000"/>
                          <a:tab algn="l" pos="10402560"/>
                          <a:tab algn="l" pos="10761480"/>
                          <a:tab algn="l" pos="10762920"/>
                        </a:tabLst>
                      </a:pPr>
                      <a:r>
                        <a:rPr b="0" lang="en-US" sz="2200" spc="-1" strike="noStrike">
                          <a:solidFill>
                            <a:srgbClr val="000080"/>
                          </a:solidFill>
                          <a:latin typeface="Arial"/>
                          <a:ea typeface="TakaoPGothic"/>
                        </a:rPr>
                        <a:t>Django</a:t>
                      </a:r>
                      <a:endParaRPr b="0" lang="en-US" sz="2200" spc="-1" strike="noStrike"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000000"/>
                      </a:solidFill>
                    </a:lnL>
                    <a:lnR w="720">
                      <a:solidFill>
                        <a:srgbClr val="000000"/>
                      </a:solidFill>
                    </a:lnR>
                    <a:lnT w="720">
                      <a:solidFill>
                        <a:srgbClr val="000000"/>
                      </a:solidFill>
                    </a:lnT>
                    <a:lnB w="72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73692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87000"/>
                        </a:lnSpc>
                        <a:tabLst>
                          <a:tab algn="l" pos="0"/>
                          <a:tab algn="l" pos="358560"/>
                          <a:tab algn="l" pos="718920"/>
                          <a:tab algn="l" pos="1079280"/>
                          <a:tab algn="l" pos="1439640"/>
                          <a:tab algn="l" pos="1800000"/>
                          <a:tab algn="l" pos="2160360"/>
                          <a:tab algn="l" pos="2520720"/>
                          <a:tab algn="l" pos="2881080"/>
                          <a:tab algn="l" pos="3241440"/>
                          <a:tab algn="l" pos="3601800"/>
                          <a:tab algn="l" pos="3962160"/>
                          <a:tab algn="l" pos="4322520"/>
                          <a:tab algn="l" pos="4682880"/>
                          <a:tab algn="l" pos="5043240"/>
                          <a:tab algn="l" pos="5403600"/>
                          <a:tab algn="l" pos="5763960"/>
                          <a:tab algn="l" pos="6124320"/>
                          <a:tab algn="l" pos="6484680"/>
                          <a:tab algn="l" pos="6845040"/>
                          <a:tab algn="l" pos="7205400"/>
                          <a:tab algn="l" pos="7565760"/>
                          <a:tab algn="l" pos="7891200"/>
                          <a:tab algn="l" pos="8250120"/>
                          <a:tab algn="l" pos="8608680"/>
                          <a:tab algn="l" pos="8967600"/>
                          <a:tab algn="l" pos="9326520"/>
                          <a:tab algn="l" pos="9685080"/>
                          <a:tab algn="l" pos="10044000"/>
                          <a:tab algn="l" pos="10402560"/>
                          <a:tab algn="l" pos="10761480"/>
                          <a:tab algn="l" pos="10762920"/>
                        </a:tabLst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Arial"/>
                          <a:ea typeface="TakaoPGothic"/>
                        </a:rPr>
                        <a:t>Mapping of request path to handler code</a:t>
                      </a:r>
                      <a:endParaRPr b="0" lang="en-US" sz="2000" spc="-1" strike="noStrike"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000000"/>
                      </a:solidFill>
                    </a:lnL>
                    <a:lnR w="720">
                      <a:solidFill>
                        <a:srgbClr val="000000"/>
                      </a:solidFill>
                    </a:lnR>
                    <a:lnT w="720">
                      <a:solidFill>
                        <a:srgbClr val="000000"/>
                      </a:solidFill>
                    </a:lnT>
                    <a:lnB w="7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87000"/>
                        </a:lnSpc>
                        <a:tabLst>
                          <a:tab algn="l" pos="0"/>
                          <a:tab algn="l" pos="358560"/>
                          <a:tab algn="l" pos="718920"/>
                          <a:tab algn="l" pos="1079280"/>
                          <a:tab algn="l" pos="1439640"/>
                          <a:tab algn="l" pos="1800000"/>
                          <a:tab algn="l" pos="2160360"/>
                          <a:tab algn="l" pos="2520720"/>
                          <a:tab algn="l" pos="2881080"/>
                          <a:tab algn="l" pos="3241440"/>
                          <a:tab algn="l" pos="3601800"/>
                          <a:tab algn="l" pos="3962160"/>
                          <a:tab algn="l" pos="4322520"/>
                          <a:tab algn="l" pos="4682880"/>
                          <a:tab algn="l" pos="5043240"/>
                          <a:tab algn="l" pos="5403600"/>
                          <a:tab algn="l" pos="5763960"/>
                          <a:tab algn="l" pos="6124320"/>
                          <a:tab algn="l" pos="6484680"/>
                          <a:tab algn="l" pos="6845040"/>
                          <a:tab algn="l" pos="7205400"/>
                          <a:tab algn="l" pos="7565760"/>
                          <a:tab algn="l" pos="7891200"/>
                          <a:tab algn="l" pos="8250120"/>
                          <a:tab algn="l" pos="8608680"/>
                          <a:tab algn="l" pos="8967600"/>
                          <a:tab algn="l" pos="9326520"/>
                          <a:tab algn="l" pos="9685080"/>
                          <a:tab algn="l" pos="10044000"/>
                          <a:tab algn="l" pos="10402560"/>
                          <a:tab algn="l" pos="10761480"/>
                          <a:tab algn="l" pos="10762920"/>
                        </a:tabLst>
                      </a:pPr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Arial"/>
                          <a:ea typeface="TakaoPGothic"/>
                        </a:rPr>
                        <a:t>routing based on url</a:t>
                      </a:r>
                      <a:endParaRPr b="0" lang="en-US" sz="2200" spc="-1" strike="noStrike"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000000"/>
                      </a:solidFill>
                    </a:lnL>
                    <a:lnR w="720">
                      <a:solidFill>
                        <a:srgbClr val="000000"/>
                      </a:solidFill>
                    </a:lnR>
                    <a:lnT w="720">
                      <a:solidFill>
                        <a:srgbClr val="000000"/>
                      </a:solidFill>
                    </a:lnT>
                    <a:lnB w="7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87000"/>
                        </a:lnSpc>
                        <a:tabLst>
                          <a:tab algn="l" pos="0"/>
                          <a:tab algn="l" pos="358560"/>
                          <a:tab algn="l" pos="718920"/>
                          <a:tab algn="l" pos="1079280"/>
                          <a:tab algn="l" pos="1439640"/>
                          <a:tab algn="l" pos="1800000"/>
                          <a:tab algn="l" pos="2160360"/>
                          <a:tab algn="l" pos="2520720"/>
                          <a:tab algn="l" pos="2881080"/>
                          <a:tab algn="l" pos="3241440"/>
                          <a:tab algn="l" pos="3601800"/>
                          <a:tab algn="l" pos="3962160"/>
                          <a:tab algn="l" pos="4322520"/>
                          <a:tab algn="l" pos="4682880"/>
                          <a:tab algn="l" pos="5043240"/>
                          <a:tab algn="l" pos="5403600"/>
                          <a:tab algn="l" pos="5763960"/>
                          <a:tab algn="l" pos="6124320"/>
                          <a:tab algn="l" pos="6484680"/>
                          <a:tab algn="l" pos="6845040"/>
                          <a:tab algn="l" pos="7205400"/>
                          <a:tab algn="l" pos="7565760"/>
                          <a:tab algn="l" pos="7891200"/>
                          <a:tab algn="l" pos="8250120"/>
                          <a:tab algn="l" pos="8608680"/>
                          <a:tab algn="l" pos="8967600"/>
                          <a:tab algn="l" pos="9326520"/>
                          <a:tab algn="l" pos="9685080"/>
                          <a:tab algn="l" pos="10044000"/>
                          <a:tab algn="l" pos="10402560"/>
                          <a:tab algn="l" pos="10761480"/>
                          <a:tab algn="l" pos="10762920"/>
                        </a:tabLst>
                      </a:pPr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Arial"/>
                          <a:ea typeface="TakaoPGothic"/>
                        </a:rPr>
                        <a:t>routing, </a:t>
                      </a:r>
                      <a:br/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Arial"/>
                          <a:ea typeface="TakaoPGothic"/>
                        </a:rPr>
                        <a:t>uses urls.py</a:t>
                      </a:r>
                      <a:endParaRPr b="0" lang="en-US" sz="2200" spc="-1" strike="noStrike"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000000"/>
                      </a:solidFill>
                    </a:lnL>
                    <a:lnR w="720">
                      <a:solidFill>
                        <a:srgbClr val="000000"/>
                      </a:solidFill>
                    </a:lnR>
                    <a:lnT w="720">
                      <a:solidFill>
                        <a:srgbClr val="000000"/>
                      </a:solidFill>
                    </a:lnT>
                    <a:lnB w="72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67788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87000"/>
                        </a:lnSpc>
                        <a:tabLst>
                          <a:tab algn="l" pos="0"/>
                          <a:tab algn="l" pos="358560"/>
                          <a:tab algn="l" pos="718920"/>
                          <a:tab algn="l" pos="1079280"/>
                          <a:tab algn="l" pos="1439640"/>
                          <a:tab algn="l" pos="1800000"/>
                          <a:tab algn="l" pos="2160360"/>
                          <a:tab algn="l" pos="2520720"/>
                          <a:tab algn="l" pos="2881080"/>
                          <a:tab algn="l" pos="3241440"/>
                          <a:tab algn="l" pos="3601800"/>
                          <a:tab algn="l" pos="3962160"/>
                          <a:tab algn="l" pos="4322520"/>
                          <a:tab algn="l" pos="4682880"/>
                          <a:tab algn="l" pos="5043240"/>
                          <a:tab algn="l" pos="5403600"/>
                          <a:tab algn="l" pos="5763960"/>
                          <a:tab algn="l" pos="6124320"/>
                          <a:tab algn="l" pos="6484680"/>
                          <a:tab algn="l" pos="6845040"/>
                          <a:tab algn="l" pos="7205400"/>
                          <a:tab algn="l" pos="7565760"/>
                          <a:tab algn="l" pos="7891200"/>
                          <a:tab algn="l" pos="8250120"/>
                          <a:tab algn="l" pos="8608680"/>
                          <a:tab algn="l" pos="8967600"/>
                          <a:tab algn="l" pos="9326520"/>
                          <a:tab algn="l" pos="9685080"/>
                          <a:tab algn="l" pos="10044000"/>
                          <a:tab algn="l" pos="10402560"/>
                          <a:tab algn="l" pos="10761480"/>
                          <a:tab algn="l" pos="10762920"/>
                        </a:tabLst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Arial"/>
                          <a:ea typeface="TakaoPGothic"/>
                        </a:rPr>
                        <a:t>Code that handles requests</a:t>
                      </a:r>
                      <a:endParaRPr b="0" lang="en-US" sz="2000" spc="-1" strike="noStrike"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000000"/>
                      </a:solidFill>
                    </a:lnL>
                    <a:lnR w="720">
                      <a:solidFill>
                        <a:srgbClr val="000000"/>
                      </a:solidFill>
                    </a:lnR>
                    <a:lnT w="720">
                      <a:solidFill>
                        <a:srgbClr val="000000"/>
                      </a:solidFill>
                    </a:lnT>
                    <a:lnB w="7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87000"/>
                        </a:lnSpc>
                        <a:tabLst>
                          <a:tab algn="l" pos="0"/>
                          <a:tab algn="l" pos="358560"/>
                          <a:tab algn="l" pos="718920"/>
                          <a:tab algn="l" pos="1079280"/>
                          <a:tab algn="l" pos="1439640"/>
                          <a:tab algn="l" pos="1800000"/>
                          <a:tab algn="l" pos="2160360"/>
                          <a:tab algn="l" pos="2520720"/>
                          <a:tab algn="l" pos="2881080"/>
                          <a:tab algn="l" pos="3241440"/>
                          <a:tab algn="l" pos="3601800"/>
                          <a:tab algn="l" pos="3962160"/>
                          <a:tab algn="l" pos="4322520"/>
                          <a:tab algn="l" pos="4682880"/>
                          <a:tab algn="l" pos="5043240"/>
                          <a:tab algn="l" pos="5403600"/>
                          <a:tab algn="l" pos="5763960"/>
                          <a:tab algn="l" pos="6124320"/>
                          <a:tab algn="l" pos="6484680"/>
                          <a:tab algn="l" pos="6845040"/>
                          <a:tab algn="l" pos="7205400"/>
                          <a:tab algn="l" pos="7565760"/>
                          <a:tab algn="l" pos="7891200"/>
                          <a:tab algn="l" pos="8250120"/>
                          <a:tab algn="l" pos="8608680"/>
                          <a:tab algn="l" pos="8967600"/>
                          <a:tab algn="l" pos="9326520"/>
                          <a:tab algn="l" pos="9685080"/>
                          <a:tab algn="l" pos="10044000"/>
                          <a:tab algn="l" pos="10402560"/>
                          <a:tab algn="l" pos="10761480"/>
                          <a:tab algn="l" pos="10762920"/>
                        </a:tabLst>
                      </a:pPr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Arial"/>
                          <a:ea typeface="TakaoPGothic"/>
                        </a:rPr>
                        <a:t>controller</a:t>
                      </a:r>
                      <a:endParaRPr b="0" lang="en-US" sz="2200" spc="-1" strike="noStrike"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000000"/>
                      </a:solidFill>
                    </a:lnL>
                    <a:lnR w="720">
                      <a:solidFill>
                        <a:srgbClr val="000000"/>
                      </a:solidFill>
                    </a:lnR>
                    <a:lnT w="720">
                      <a:solidFill>
                        <a:srgbClr val="000000"/>
                      </a:solidFill>
                    </a:lnT>
                    <a:lnB w="7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87000"/>
                        </a:lnSpc>
                        <a:tabLst>
                          <a:tab algn="l" pos="0"/>
                          <a:tab algn="l" pos="358560"/>
                          <a:tab algn="l" pos="718920"/>
                          <a:tab algn="l" pos="1079280"/>
                          <a:tab algn="l" pos="1439640"/>
                          <a:tab algn="l" pos="1800000"/>
                          <a:tab algn="l" pos="2160360"/>
                          <a:tab algn="l" pos="2520720"/>
                          <a:tab algn="l" pos="2881080"/>
                          <a:tab algn="l" pos="3241440"/>
                          <a:tab algn="l" pos="3601800"/>
                          <a:tab algn="l" pos="3962160"/>
                          <a:tab algn="l" pos="4322520"/>
                          <a:tab algn="l" pos="4682880"/>
                          <a:tab algn="l" pos="5043240"/>
                          <a:tab algn="l" pos="5403600"/>
                          <a:tab algn="l" pos="5763960"/>
                          <a:tab algn="l" pos="6124320"/>
                          <a:tab algn="l" pos="6484680"/>
                          <a:tab algn="l" pos="6845040"/>
                          <a:tab algn="l" pos="7205400"/>
                          <a:tab algn="l" pos="7565760"/>
                          <a:tab algn="l" pos="7891200"/>
                          <a:tab algn="l" pos="8250120"/>
                          <a:tab algn="l" pos="8608680"/>
                          <a:tab algn="l" pos="8967600"/>
                          <a:tab algn="l" pos="9326520"/>
                          <a:tab algn="l" pos="9685080"/>
                          <a:tab algn="l" pos="10044000"/>
                          <a:tab algn="l" pos="10402560"/>
                          <a:tab algn="l" pos="10761480"/>
                          <a:tab algn="l" pos="10762920"/>
                        </a:tabLst>
                      </a:pPr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Arial"/>
                          <a:ea typeface="TakaoPGothic"/>
                        </a:rPr>
                        <a:t>view</a:t>
                      </a:r>
                      <a:endParaRPr b="0" lang="en-US" sz="2200" spc="-1" strike="noStrike"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000000"/>
                      </a:solidFill>
                    </a:lnL>
                    <a:lnR w="720">
                      <a:solidFill>
                        <a:srgbClr val="000000"/>
                      </a:solidFill>
                    </a:lnR>
                    <a:lnT w="720">
                      <a:solidFill>
                        <a:srgbClr val="000000"/>
                      </a:solidFill>
                    </a:lnT>
                    <a:lnB w="72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96228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87000"/>
                        </a:lnSpc>
                        <a:tabLst>
                          <a:tab algn="l" pos="0"/>
                          <a:tab algn="l" pos="358560"/>
                          <a:tab algn="l" pos="718920"/>
                          <a:tab algn="l" pos="1079280"/>
                          <a:tab algn="l" pos="1439640"/>
                          <a:tab algn="l" pos="1800000"/>
                          <a:tab algn="l" pos="2160360"/>
                          <a:tab algn="l" pos="2520720"/>
                          <a:tab algn="l" pos="2881080"/>
                          <a:tab algn="l" pos="3241440"/>
                          <a:tab algn="l" pos="3601800"/>
                          <a:tab algn="l" pos="3962160"/>
                          <a:tab algn="l" pos="4322520"/>
                          <a:tab algn="l" pos="4682880"/>
                          <a:tab algn="l" pos="5043240"/>
                          <a:tab algn="l" pos="5403600"/>
                          <a:tab algn="l" pos="5763960"/>
                          <a:tab algn="l" pos="6124320"/>
                          <a:tab algn="l" pos="6484680"/>
                          <a:tab algn="l" pos="6845040"/>
                          <a:tab algn="l" pos="7205400"/>
                          <a:tab algn="l" pos="7565760"/>
                          <a:tab algn="l" pos="7891200"/>
                          <a:tab algn="l" pos="8250120"/>
                          <a:tab algn="l" pos="8608680"/>
                          <a:tab algn="l" pos="8967600"/>
                          <a:tab algn="l" pos="9326520"/>
                          <a:tab algn="l" pos="9685080"/>
                          <a:tab algn="l" pos="10044000"/>
                          <a:tab algn="l" pos="10402560"/>
                          <a:tab algn="l" pos="10761480"/>
                          <a:tab algn="l" pos="10762920"/>
                        </a:tabLst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Arial"/>
                          <a:ea typeface="TakaoPGothic"/>
                        </a:rPr>
                        <a:t>Class that represents something in the app domain</a:t>
                      </a:r>
                      <a:endParaRPr b="0" lang="en-US" sz="2000" spc="-1" strike="noStrike"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000000"/>
                      </a:solidFill>
                    </a:lnL>
                    <a:lnR w="720">
                      <a:solidFill>
                        <a:srgbClr val="000000"/>
                      </a:solidFill>
                    </a:lnR>
                    <a:lnT w="720">
                      <a:solidFill>
                        <a:srgbClr val="000000"/>
                      </a:solidFill>
                    </a:lnT>
                    <a:lnB w="7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87000"/>
                        </a:lnSpc>
                        <a:tabLst>
                          <a:tab algn="l" pos="0"/>
                          <a:tab algn="l" pos="358560"/>
                          <a:tab algn="l" pos="718920"/>
                          <a:tab algn="l" pos="1079280"/>
                          <a:tab algn="l" pos="1439640"/>
                          <a:tab algn="l" pos="1800000"/>
                          <a:tab algn="l" pos="2160360"/>
                          <a:tab algn="l" pos="2520720"/>
                          <a:tab algn="l" pos="2881080"/>
                          <a:tab algn="l" pos="3241440"/>
                          <a:tab algn="l" pos="3601800"/>
                          <a:tab algn="l" pos="3962160"/>
                          <a:tab algn="l" pos="4322520"/>
                          <a:tab algn="l" pos="4682880"/>
                          <a:tab algn="l" pos="5043240"/>
                          <a:tab algn="l" pos="5403600"/>
                          <a:tab algn="l" pos="5763960"/>
                          <a:tab algn="l" pos="6124320"/>
                          <a:tab algn="l" pos="6484680"/>
                          <a:tab algn="l" pos="6845040"/>
                          <a:tab algn="l" pos="7205400"/>
                          <a:tab algn="l" pos="7565760"/>
                          <a:tab algn="l" pos="7891200"/>
                          <a:tab algn="l" pos="8250120"/>
                          <a:tab algn="l" pos="8608680"/>
                          <a:tab algn="l" pos="8967600"/>
                          <a:tab algn="l" pos="9326520"/>
                          <a:tab algn="l" pos="9685080"/>
                          <a:tab algn="l" pos="10044000"/>
                          <a:tab algn="l" pos="10402560"/>
                          <a:tab algn="l" pos="10761480"/>
                          <a:tab algn="l" pos="10762920"/>
                        </a:tabLst>
                      </a:pPr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Arial"/>
                          <a:ea typeface="TakaoPGothic"/>
                        </a:rPr>
                        <a:t>model</a:t>
                      </a:r>
                      <a:endParaRPr b="0" lang="en-US" sz="2200" spc="-1" strike="noStrike"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000000"/>
                      </a:solidFill>
                    </a:lnL>
                    <a:lnR w="720">
                      <a:solidFill>
                        <a:srgbClr val="000000"/>
                      </a:solidFill>
                    </a:lnR>
                    <a:lnT w="720">
                      <a:solidFill>
                        <a:srgbClr val="000000"/>
                      </a:solidFill>
                    </a:lnT>
                    <a:lnB w="7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87000"/>
                        </a:lnSpc>
                        <a:tabLst>
                          <a:tab algn="l" pos="0"/>
                          <a:tab algn="l" pos="358560"/>
                          <a:tab algn="l" pos="718920"/>
                          <a:tab algn="l" pos="1079280"/>
                          <a:tab algn="l" pos="1439640"/>
                          <a:tab algn="l" pos="1800000"/>
                          <a:tab algn="l" pos="2160360"/>
                          <a:tab algn="l" pos="2520720"/>
                          <a:tab algn="l" pos="2881080"/>
                          <a:tab algn="l" pos="3241440"/>
                          <a:tab algn="l" pos="3601800"/>
                          <a:tab algn="l" pos="3962160"/>
                          <a:tab algn="l" pos="4322520"/>
                          <a:tab algn="l" pos="4682880"/>
                          <a:tab algn="l" pos="5043240"/>
                          <a:tab algn="l" pos="5403600"/>
                          <a:tab algn="l" pos="5763960"/>
                          <a:tab algn="l" pos="6124320"/>
                          <a:tab algn="l" pos="6484680"/>
                          <a:tab algn="l" pos="6845040"/>
                          <a:tab algn="l" pos="7205400"/>
                          <a:tab algn="l" pos="7565760"/>
                          <a:tab algn="l" pos="7891200"/>
                          <a:tab algn="l" pos="8250120"/>
                          <a:tab algn="l" pos="8608680"/>
                          <a:tab algn="l" pos="8967600"/>
                          <a:tab algn="l" pos="9326520"/>
                          <a:tab algn="l" pos="9685080"/>
                          <a:tab algn="l" pos="10044000"/>
                          <a:tab algn="l" pos="10402560"/>
                          <a:tab algn="l" pos="10761480"/>
                          <a:tab algn="l" pos="10762920"/>
                        </a:tabLst>
                      </a:pPr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Arial"/>
                          <a:ea typeface="TakaoPGothic"/>
                        </a:rPr>
                        <a:t>model</a:t>
                      </a:r>
                      <a:endParaRPr b="0" lang="en-US" sz="2200" spc="-1" strike="noStrike"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000000"/>
                      </a:solidFill>
                    </a:lnL>
                    <a:lnR w="720">
                      <a:solidFill>
                        <a:srgbClr val="000000"/>
                      </a:solidFill>
                    </a:lnR>
                    <a:lnT w="720">
                      <a:solidFill>
                        <a:srgbClr val="000000"/>
                      </a:solidFill>
                    </a:lnT>
                    <a:lnB w="72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67824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87000"/>
                        </a:lnSpc>
                        <a:tabLst>
                          <a:tab algn="l" pos="0"/>
                          <a:tab algn="l" pos="358560"/>
                          <a:tab algn="l" pos="718920"/>
                          <a:tab algn="l" pos="1079280"/>
                          <a:tab algn="l" pos="1439640"/>
                          <a:tab algn="l" pos="1800000"/>
                          <a:tab algn="l" pos="2160360"/>
                          <a:tab algn="l" pos="2520720"/>
                          <a:tab algn="l" pos="2881080"/>
                          <a:tab algn="l" pos="3241440"/>
                          <a:tab algn="l" pos="3601800"/>
                          <a:tab algn="l" pos="3962160"/>
                          <a:tab algn="l" pos="4322520"/>
                          <a:tab algn="l" pos="4682880"/>
                          <a:tab algn="l" pos="5043240"/>
                          <a:tab algn="l" pos="5403600"/>
                          <a:tab algn="l" pos="5763960"/>
                          <a:tab algn="l" pos="6124320"/>
                          <a:tab algn="l" pos="6484680"/>
                          <a:tab algn="l" pos="6845040"/>
                          <a:tab algn="l" pos="7205400"/>
                          <a:tab algn="l" pos="7565760"/>
                          <a:tab algn="l" pos="7891200"/>
                          <a:tab algn="l" pos="8250120"/>
                          <a:tab algn="l" pos="8608680"/>
                          <a:tab algn="l" pos="8967600"/>
                          <a:tab algn="l" pos="9326520"/>
                          <a:tab algn="l" pos="9685080"/>
                          <a:tab algn="l" pos="10044000"/>
                          <a:tab algn="l" pos="10402560"/>
                          <a:tab algn="l" pos="10761480"/>
                          <a:tab algn="l" pos="10762920"/>
                        </a:tabLst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Arial"/>
                          <a:ea typeface="TakaoPGothic"/>
                        </a:rPr>
                        <a:t>Code or template to generate a web page</a:t>
                      </a:r>
                      <a:endParaRPr b="0" lang="en-US" sz="2000" spc="-1" strike="noStrike"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000000"/>
                      </a:solidFill>
                    </a:lnL>
                    <a:lnR w="720">
                      <a:solidFill>
                        <a:srgbClr val="000000"/>
                      </a:solidFill>
                    </a:lnR>
                    <a:lnT w="720">
                      <a:solidFill>
                        <a:srgbClr val="000000"/>
                      </a:solidFill>
                    </a:lnT>
                    <a:lnB w="7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87000"/>
                        </a:lnSpc>
                        <a:tabLst>
                          <a:tab algn="l" pos="0"/>
                          <a:tab algn="l" pos="358560"/>
                          <a:tab algn="l" pos="718920"/>
                          <a:tab algn="l" pos="1079280"/>
                          <a:tab algn="l" pos="1439640"/>
                          <a:tab algn="l" pos="1800000"/>
                          <a:tab algn="l" pos="2160360"/>
                          <a:tab algn="l" pos="2520720"/>
                          <a:tab algn="l" pos="2881080"/>
                          <a:tab algn="l" pos="3241440"/>
                          <a:tab algn="l" pos="3601800"/>
                          <a:tab algn="l" pos="3962160"/>
                          <a:tab algn="l" pos="4322520"/>
                          <a:tab algn="l" pos="4682880"/>
                          <a:tab algn="l" pos="5043240"/>
                          <a:tab algn="l" pos="5403600"/>
                          <a:tab algn="l" pos="5763960"/>
                          <a:tab algn="l" pos="6124320"/>
                          <a:tab algn="l" pos="6484680"/>
                          <a:tab algn="l" pos="6845040"/>
                          <a:tab algn="l" pos="7205400"/>
                          <a:tab algn="l" pos="7565760"/>
                          <a:tab algn="l" pos="7891200"/>
                          <a:tab algn="l" pos="8250120"/>
                          <a:tab algn="l" pos="8608680"/>
                          <a:tab algn="l" pos="8967600"/>
                          <a:tab algn="l" pos="9326520"/>
                          <a:tab algn="l" pos="9685080"/>
                          <a:tab algn="l" pos="10044000"/>
                          <a:tab algn="l" pos="10402560"/>
                          <a:tab algn="l" pos="10761480"/>
                          <a:tab algn="l" pos="10762920"/>
                        </a:tabLst>
                      </a:pPr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Arial"/>
                          <a:ea typeface="TakaoPGothic"/>
                        </a:rPr>
                        <a:t>view</a:t>
                      </a:r>
                      <a:endParaRPr b="0" lang="en-US" sz="2200" spc="-1" strike="noStrike"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000000"/>
                      </a:solidFill>
                    </a:lnL>
                    <a:lnR w="720">
                      <a:solidFill>
                        <a:srgbClr val="000000"/>
                      </a:solidFill>
                    </a:lnR>
                    <a:lnT w="720">
                      <a:solidFill>
                        <a:srgbClr val="000000"/>
                      </a:solidFill>
                    </a:lnT>
                    <a:lnB w="7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87000"/>
                        </a:lnSpc>
                        <a:tabLst>
                          <a:tab algn="l" pos="0"/>
                          <a:tab algn="l" pos="358560"/>
                          <a:tab algn="l" pos="718920"/>
                          <a:tab algn="l" pos="1079280"/>
                          <a:tab algn="l" pos="1439640"/>
                          <a:tab algn="l" pos="1800000"/>
                          <a:tab algn="l" pos="2160360"/>
                          <a:tab algn="l" pos="2520720"/>
                          <a:tab algn="l" pos="2881080"/>
                          <a:tab algn="l" pos="3241440"/>
                          <a:tab algn="l" pos="3601800"/>
                          <a:tab algn="l" pos="3962160"/>
                          <a:tab algn="l" pos="4322520"/>
                          <a:tab algn="l" pos="4682880"/>
                          <a:tab algn="l" pos="5043240"/>
                          <a:tab algn="l" pos="5403600"/>
                          <a:tab algn="l" pos="5763960"/>
                          <a:tab algn="l" pos="6124320"/>
                          <a:tab algn="l" pos="6484680"/>
                          <a:tab algn="l" pos="6845040"/>
                          <a:tab algn="l" pos="7205400"/>
                          <a:tab algn="l" pos="7565760"/>
                          <a:tab algn="l" pos="7891200"/>
                          <a:tab algn="l" pos="8250120"/>
                          <a:tab algn="l" pos="8608680"/>
                          <a:tab algn="l" pos="8967600"/>
                          <a:tab algn="l" pos="9326520"/>
                          <a:tab algn="l" pos="9685080"/>
                          <a:tab algn="l" pos="10044000"/>
                          <a:tab algn="l" pos="10402560"/>
                          <a:tab algn="l" pos="10761480"/>
                          <a:tab algn="l" pos="10762920"/>
                        </a:tabLst>
                      </a:pPr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Arial"/>
                          <a:ea typeface="TakaoPGothic"/>
                        </a:rPr>
                        <a:t>template</a:t>
                      </a:r>
                      <a:endParaRPr b="0" lang="en-US" sz="2200" spc="-1" strike="noStrike"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000000"/>
                      </a:solidFill>
                    </a:lnL>
                    <a:lnR w="720">
                      <a:solidFill>
                        <a:srgbClr val="000000"/>
                      </a:solidFill>
                    </a:lnR>
                    <a:lnT w="720">
                      <a:solidFill>
                        <a:srgbClr val="000000"/>
                      </a:solidFill>
                    </a:lnT>
                    <a:lnB w="72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96228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87000"/>
                        </a:lnSpc>
                        <a:tabLst>
                          <a:tab algn="l" pos="0"/>
                          <a:tab algn="l" pos="358560"/>
                          <a:tab algn="l" pos="718920"/>
                          <a:tab algn="l" pos="1079280"/>
                          <a:tab algn="l" pos="1439640"/>
                          <a:tab algn="l" pos="1800000"/>
                          <a:tab algn="l" pos="2160360"/>
                          <a:tab algn="l" pos="2520720"/>
                          <a:tab algn="l" pos="2881080"/>
                          <a:tab algn="l" pos="3241440"/>
                          <a:tab algn="l" pos="3601800"/>
                          <a:tab algn="l" pos="3962160"/>
                          <a:tab algn="l" pos="4322520"/>
                          <a:tab algn="l" pos="4682880"/>
                          <a:tab algn="l" pos="5043240"/>
                          <a:tab algn="l" pos="5403600"/>
                          <a:tab algn="l" pos="5763960"/>
                          <a:tab algn="l" pos="6124320"/>
                          <a:tab algn="l" pos="6484680"/>
                          <a:tab algn="l" pos="6845040"/>
                          <a:tab algn="l" pos="7205400"/>
                          <a:tab algn="l" pos="7565760"/>
                          <a:tab algn="l" pos="7891200"/>
                          <a:tab algn="l" pos="8250120"/>
                          <a:tab algn="l" pos="8608680"/>
                          <a:tab algn="l" pos="8967600"/>
                          <a:tab algn="l" pos="9326520"/>
                          <a:tab algn="l" pos="9685080"/>
                          <a:tab algn="l" pos="10044000"/>
                          <a:tab algn="l" pos="10402560"/>
                          <a:tab algn="l" pos="10761480"/>
                          <a:tab algn="l" pos="10762920"/>
                        </a:tabLst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Arial"/>
                          <a:ea typeface="TakaoPGothic"/>
                        </a:rPr>
                        <a:t>Process a template with data to create a web page</a:t>
                      </a:r>
                      <a:endParaRPr b="0" lang="en-US" sz="2000" spc="-1" strike="noStrike"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000000"/>
                      </a:solidFill>
                    </a:lnL>
                    <a:lnR w="720">
                      <a:solidFill>
                        <a:srgbClr val="000000"/>
                      </a:solidFill>
                    </a:lnR>
                    <a:lnT w="720">
                      <a:solidFill>
                        <a:srgbClr val="000000"/>
                      </a:solidFill>
                    </a:lnT>
                    <a:lnB w="7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87000"/>
                        </a:lnSpc>
                        <a:tabLst>
                          <a:tab algn="l" pos="0"/>
                          <a:tab algn="l" pos="358560"/>
                          <a:tab algn="l" pos="718920"/>
                          <a:tab algn="l" pos="1079280"/>
                          <a:tab algn="l" pos="1439640"/>
                          <a:tab algn="l" pos="1800000"/>
                          <a:tab algn="l" pos="2160360"/>
                          <a:tab algn="l" pos="2520720"/>
                          <a:tab algn="l" pos="2881080"/>
                          <a:tab algn="l" pos="3241440"/>
                          <a:tab algn="l" pos="3601800"/>
                          <a:tab algn="l" pos="3962160"/>
                          <a:tab algn="l" pos="4322520"/>
                          <a:tab algn="l" pos="4682880"/>
                          <a:tab algn="l" pos="5043240"/>
                          <a:tab algn="l" pos="5403600"/>
                          <a:tab algn="l" pos="5763960"/>
                          <a:tab algn="l" pos="6124320"/>
                          <a:tab algn="l" pos="6484680"/>
                          <a:tab algn="l" pos="6845040"/>
                          <a:tab algn="l" pos="7205400"/>
                          <a:tab algn="l" pos="7565760"/>
                          <a:tab algn="l" pos="7891200"/>
                          <a:tab algn="l" pos="8250120"/>
                          <a:tab algn="l" pos="8608680"/>
                          <a:tab algn="l" pos="8967600"/>
                          <a:tab algn="l" pos="9326520"/>
                          <a:tab algn="l" pos="9685080"/>
                          <a:tab algn="l" pos="10044000"/>
                          <a:tab algn="l" pos="10402560"/>
                          <a:tab algn="l" pos="10761480"/>
                          <a:tab algn="l" pos="10762920"/>
                        </a:tabLst>
                      </a:pPr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Arial"/>
                          <a:ea typeface="TakaoPGothic"/>
                        </a:rPr>
                        <a:t>rendering</a:t>
                      </a:r>
                      <a:endParaRPr b="0" lang="en-US" sz="2200" spc="-1" strike="noStrike"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000000"/>
                      </a:solidFill>
                    </a:lnL>
                    <a:lnR w="720">
                      <a:solidFill>
                        <a:srgbClr val="000000"/>
                      </a:solidFill>
                    </a:lnR>
                    <a:lnT w="720">
                      <a:solidFill>
                        <a:srgbClr val="000000"/>
                      </a:solidFill>
                    </a:lnT>
                    <a:lnB w="7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87000"/>
                        </a:lnSpc>
                        <a:tabLst>
                          <a:tab algn="l" pos="0"/>
                          <a:tab algn="l" pos="358560"/>
                          <a:tab algn="l" pos="718920"/>
                          <a:tab algn="l" pos="1079280"/>
                          <a:tab algn="l" pos="1439640"/>
                          <a:tab algn="l" pos="1800000"/>
                          <a:tab algn="l" pos="2160360"/>
                          <a:tab algn="l" pos="2520720"/>
                          <a:tab algn="l" pos="2881080"/>
                          <a:tab algn="l" pos="3241440"/>
                          <a:tab algn="l" pos="3601800"/>
                          <a:tab algn="l" pos="3962160"/>
                          <a:tab algn="l" pos="4322520"/>
                          <a:tab algn="l" pos="4682880"/>
                          <a:tab algn="l" pos="5043240"/>
                          <a:tab algn="l" pos="5403600"/>
                          <a:tab algn="l" pos="5763960"/>
                          <a:tab algn="l" pos="6124320"/>
                          <a:tab algn="l" pos="6484680"/>
                          <a:tab algn="l" pos="6845040"/>
                          <a:tab algn="l" pos="7205400"/>
                          <a:tab algn="l" pos="7565760"/>
                          <a:tab algn="l" pos="7891200"/>
                          <a:tab algn="l" pos="8250120"/>
                          <a:tab algn="l" pos="8608680"/>
                          <a:tab algn="l" pos="8967600"/>
                          <a:tab algn="l" pos="9326520"/>
                          <a:tab algn="l" pos="9685080"/>
                          <a:tab algn="l" pos="10044000"/>
                          <a:tab algn="l" pos="10402560"/>
                          <a:tab algn="l" pos="10761480"/>
                          <a:tab algn="l" pos="10762920"/>
                        </a:tabLst>
                      </a:pPr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Arial"/>
                          <a:ea typeface="TakaoPGothic"/>
                        </a:rPr>
                        <a:t>rendering</a:t>
                      </a:r>
                      <a:endParaRPr b="0" lang="en-US" sz="2200" spc="-1" strike="noStrike"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000000"/>
                      </a:solidFill>
                    </a:lnL>
                    <a:lnR w="720">
                      <a:solidFill>
                        <a:srgbClr val="000000"/>
                      </a:solidFill>
                    </a:lnR>
                    <a:lnT w="720">
                      <a:solidFill>
                        <a:srgbClr val="000000"/>
                      </a:solidFill>
                    </a:lnT>
                    <a:lnB w="72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CustomShape 1"/>
          <p:cNvSpPr/>
          <p:nvPr/>
        </p:nvSpPr>
        <p:spPr>
          <a:xfrm>
            <a:off x="611280" y="259920"/>
            <a:ext cx="7881120" cy="824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 anchorCtr="1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3880"/>
                <a:tab algn="l" pos="712440"/>
                <a:tab algn="l" pos="1071360"/>
                <a:tab algn="l" pos="1430280"/>
                <a:tab algn="l" pos="1788840"/>
                <a:tab algn="l" pos="2147760"/>
                <a:tab algn="l" pos="2506320"/>
                <a:tab algn="l" pos="2865240"/>
                <a:tab algn="l" pos="3224160"/>
                <a:tab algn="l" pos="3582720"/>
                <a:tab algn="l" pos="3941640"/>
                <a:tab algn="l" pos="4300200"/>
                <a:tab algn="l" pos="4659120"/>
                <a:tab algn="l" pos="5018040"/>
                <a:tab algn="l" pos="5376600"/>
                <a:tab algn="l" pos="5735520"/>
                <a:tab algn="l" pos="6094080"/>
                <a:tab algn="l" pos="6453000"/>
                <a:tab algn="l" pos="6811920"/>
                <a:tab algn="l" pos="7170480"/>
                <a:tab algn="l" pos="7203960"/>
                <a:tab algn="l" pos="7564320"/>
                <a:tab algn="l" pos="7889760"/>
                <a:tab algn="l" pos="8248320"/>
                <a:tab algn="l" pos="8607240"/>
                <a:tab algn="l" pos="8966160"/>
                <a:tab algn="l" pos="9324720"/>
                <a:tab algn="l" pos="9683640"/>
                <a:tab algn="l" pos="10042200"/>
                <a:tab algn="l" pos="10401120"/>
                <a:tab algn="l" pos="1076004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Containers and VMs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331" name="CustomShape 2"/>
          <p:cNvSpPr/>
          <p:nvPr/>
        </p:nvSpPr>
        <p:spPr>
          <a:xfrm>
            <a:off x="386640" y="2012760"/>
            <a:ext cx="4903200" cy="4423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rmAutofit fontScale="97000"/>
          </a:bodyPr>
          <a:p>
            <a:pPr marL="342720" indent="-33120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80"/>
                </a:solidFill>
                <a:latin typeface="Arial"/>
                <a:ea typeface="DejaVu Sans"/>
              </a:rPr>
              <a:t>Docker container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en-US" sz="2400" spc="-1" strike="noStrike">
              <a:latin typeface="Arial"/>
            </a:endParaRPr>
          </a:p>
          <a:p>
            <a:pPr marL="342720" indent="-33120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The app and its dependencies are bundled in an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"image" and run in a Docker container.</a:t>
            </a:r>
            <a:br/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New instances can be started quickly to handle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high loads. </a:t>
            </a:r>
            <a:endParaRPr b="0" lang="en-US" sz="2400" spc="-1" strike="noStrike">
              <a:latin typeface="Arial"/>
            </a:endParaRPr>
          </a:p>
          <a:p>
            <a:pPr marL="342720" indent="-33120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  <a:p>
            <a:pPr marL="342720" indent="-33120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80"/>
                </a:solidFill>
                <a:latin typeface="Arial"/>
                <a:ea typeface="DejaVu Sans"/>
              </a:rPr>
              <a:t>Virtual Machine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en-US" sz="2400" spc="-1" strike="noStrike">
              <a:latin typeface="Arial"/>
            </a:endParaRPr>
          </a:p>
          <a:p>
            <a:pPr marL="342720" indent="-33120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All components run on a "virtual" computer with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its own OS. Stronger isolation, but more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resource intensive. 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332" name="" descr=""/>
          <p:cNvPicPr/>
          <p:nvPr/>
        </p:nvPicPr>
        <p:blipFill>
          <a:blip r:embed="rId1"/>
          <a:stretch/>
        </p:blipFill>
        <p:spPr>
          <a:xfrm>
            <a:off x="5578560" y="2762280"/>
            <a:ext cx="3231360" cy="2417040"/>
          </a:xfrm>
          <a:prstGeom prst="rect">
            <a:avLst/>
          </a:prstGeom>
          <a:ln>
            <a:noFill/>
          </a:ln>
        </p:spPr>
      </p:pic>
      <p:sp>
        <p:nvSpPr>
          <p:cNvPr id="333" name="Line 3"/>
          <p:cNvSpPr/>
          <p:nvPr/>
        </p:nvSpPr>
        <p:spPr>
          <a:xfrm>
            <a:off x="3749760" y="3951360"/>
            <a:ext cx="1828800" cy="1440"/>
          </a:xfrm>
          <a:prstGeom prst="line">
            <a:avLst/>
          </a:prstGeom>
          <a:ln w="936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34" name="CustomShape 4"/>
          <p:cNvSpPr/>
          <p:nvPr/>
        </p:nvSpPr>
        <p:spPr>
          <a:xfrm>
            <a:off x="3657600" y="3586320"/>
            <a:ext cx="1920240" cy="3643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353880"/>
                <a:tab algn="l" pos="712440"/>
                <a:tab algn="l" pos="1071360"/>
                <a:tab algn="l" pos="1430280"/>
                <a:tab algn="l" pos="1788840"/>
                <a:tab algn="l" pos="2147760"/>
                <a:tab algn="l" pos="2506320"/>
                <a:tab algn="l" pos="2865240"/>
                <a:tab algn="l" pos="3224160"/>
                <a:tab algn="l" pos="3582720"/>
                <a:tab algn="l" pos="3941640"/>
                <a:tab algn="l" pos="4300200"/>
                <a:tab algn="l" pos="4659120"/>
                <a:tab algn="l" pos="5018040"/>
                <a:tab algn="l" pos="5376600"/>
                <a:tab algn="l" pos="5735520"/>
                <a:tab algn="l" pos="6094080"/>
                <a:tab algn="l" pos="6453000"/>
                <a:tab algn="l" pos="6811920"/>
                <a:tab algn="l" pos="7170480"/>
                <a:tab algn="l" pos="7172280"/>
                <a:tab algn="l" pos="7530840"/>
                <a:tab algn="l" pos="7889760"/>
                <a:tab algn="l" pos="8248320"/>
                <a:tab algn="l" pos="8607240"/>
                <a:tab algn="l" pos="8966160"/>
                <a:tab algn="l" pos="9324720"/>
                <a:tab algn="l" pos="9683640"/>
                <a:tab algn="l" pos="10042200"/>
                <a:tab algn="l" pos="10401120"/>
                <a:tab algn="l" pos="10760040"/>
                <a:tab algn="l" pos="10761480"/>
                <a:tab algn="l" pos="1076292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Http request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35" name="CustomShape 5"/>
          <p:cNvSpPr/>
          <p:nvPr/>
        </p:nvSpPr>
        <p:spPr>
          <a:xfrm>
            <a:off x="6126120" y="2397240"/>
            <a:ext cx="2650320" cy="3643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353880"/>
                <a:tab algn="l" pos="712440"/>
                <a:tab algn="l" pos="1071360"/>
                <a:tab algn="l" pos="1430280"/>
                <a:tab algn="l" pos="1788840"/>
                <a:tab algn="l" pos="2147760"/>
                <a:tab algn="l" pos="2506320"/>
                <a:tab algn="l" pos="2865240"/>
                <a:tab algn="l" pos="3224160"/>
                <a:tab algn="l" pos="3582720"/>
                <a:tab algn="l" pos="3941640"/>
                <a:tab algn="l" pos="4300200"/>
                <a:tab algn="l" pos="4659120"/>
                <a:tab algn="l" pos="5018040"/>
                <a:tab algn="l" pos="5376600"/>
                <a:tab algn="l" pos="5735520"/>
                <a:tab algn="l" pos="6094080"/>
                <a:tab algn="l" pos="6453000"/>
                <a:tab algn="l" pos="6811920"/>
                <a:tab algn="l" pos="7170480"/>
                <a:tab algn="l" pos="7172280"/>
                <a:tab algn="l" pos="7530840"/>
                <a:tab algn="l" pos="7889760"/>
                <a:tab algn="l" pos="8248320"/>
                <a:tab algn="l" pos="8607240"/>
                <a:tab algn="l" pos="8966160"/>
                <a:tab algn="l" pos="9324720"/>
                <a:tab algn="l" pos="9683640"/>
                <a:tab algn="l" pos="10042200"/>
                <a:tab algn="l" pos="10401120"/>
                <a:tab algn="l" pos="10760040"/>
                <a:tab algn="l" pos="10761480"/>
                <a:tab algn="l" pos="1076292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isolated web apps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36" name="CustomShape 6"/>
          <p:cNvSpPr/>
          <p:nvPr/>
        </p:nvSpPr>
        <p:spPr>
          <a:xfrm>
            <a:off x="365040" y="1189080"/>
            <a:ext cx="8228880" cy="821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3880"/>
                <a:tab algn="l" pos="712440"/>
                <a:tab algn="l" pos="1071360"/>
                <a:tab algn="l" pos="1430280"/>
                <a:tab algn="l" pos="1788840"/>
                <a:tab algn="l" pos="2147760"/>
                <a:tab algn="l" pos="2506320"/>
                <a:tab algn="l" pos="2865240"/>
                <a:tab algn="l" pos="3224160"/>
                <a:tab algn="l" pos="3582720"/>
                <a:tab algn="l" pos="3941640"/>
                <a:tab algn="l" pos="4300200"/>
                <a:tab algn="l" pos="4659120"/>
                <a:tab algn="l" pos="5018040"/>
                <a:tab algn="l" pos="5376600"/>
                <a:tab algn="l" pos="5735520"/>
                <a:tab algn="l" pos="6094080"/>
                <a:tab algn="l" pos="6453000"/>
                <a:tab algn="l" pos="6811920"/>
                <a:tab algn="l" pos="7170480"/>
                <a:tab algn="l" pos="7203960"/>
                <a:tab algn="l" pos="7564320"/>
                <a:tab algn="l" pos="7924680"/>
                <a:tab algn="l" pos="8248320"/>
                <a:tab algn="l" pos="8607240"/>
                <a:tab algn="l" pos="8966160"/>
                <a:tab algn="l" pos="9324720"/>
                <a:tab algn="l" pos="9683640"/>
                <a:tab algn="l" pos="10042200"/>
                <a:tab algn="l" pos="10401120"/>
                <a:tab algn="l" pos="1076004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For reliability and repeatable deployments, many apps are run in Docker "containers" or on virtual machines (VMs).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CustomShape 1"/>
          <p:cNvSpPr/>
          <p:nvPr/>
        </p:nvSpPr>
        <p:spPr>
          <a:xfrm>
            <a:off x="611280" y="259920"/>
            <a:ext cx="7920720" cy="864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353880"/>
                <a:tab algn="l" pos="712440"/>
                <a:tab algn="l" pos="1071360"/>
                <a:tab algn="l" pos="1430280"/>
                <a:tab algn="l" pos="1788840"/>
                <a:tab algn="l" pos="2147760"/>
                <a:tab algn="l" pos="2506320"/>
                <a:tab algn="l" pos="2865240"/>
                <a:tab algn="l" pos="3224160"/>
                <a:tab algn="l" pos="3582720"/>
                <a:tab algn="l" pos="3941640"/>
                <a:tab algn="l" pos="4300200"/>
                <a:tab algn="l" pos="4659120"/>
                <a:tab algn="l" pos="5018040"/>
                <a:tab algn="l" pos="5376600"/>
                <a:tab algn="l" pos="5735520"/>
                <a:tab algn="l" pos="6094080"/>
                <a:tab algn="l" pos="6453000"/>
                <a:tab algn="l" pos="6811920"/>
                <a:tab algn="l" pos="7170480"/>
                <a:tab algn="l" pos="7203960"/>
                <a:tab algn="l" pos="7564320"/>
                <a:tab algn="l" pos="7889760"/>
                <a:tab algn="l" pos="8248320"/>
                <a:tab algn="l" pos="8607240"/>
                <a:tab algn="l" pos="8966160"/>
                <a:tab algn="l" pos="9324720"/>
                <a:tab algn="l" pos="9683640"/>
                <a:tab algn="l" pos="10042200"/>
                <a:tab algn="l" pos="10401120"/>
                <a:tab algn="l" pos="1076004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The Most Popular Web Servers?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338" name="CustomShape 2"/>
          <p:cNvSpPr/>
          <p:nvPr/>
        </p:nvSpPr>
        <p:spPr>
          <a:xfrm>
            <a:off x="258840" y="5211720"/>
            <a:ext cx="8335080" cy="1223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936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marL="177480" indent="-172080">
              <a:lnSpc>
                <a:spcPct val="100000"/>
              </a:lnSpc>
              <a:spcBef>
                <a:spcPts val="848"/>
              </a:spcBef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000080"/>
                </a:solidFill>
                <a:latin typeface="Arial"/>
                <a:ea typeface="Arial"/>
              </a:rPr>
              <a:t>Netcraft Server Survey  </a:t>
            </a:r>
            <a:r>
              <a:rPr b="0" i="1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https://www.netcraft.com/resources/blog</a:t>
            </a:r>
            <a:endParaRPr b="0" lang="en-US" sz="2000" spc="-1" strike="noStrike">
              <a:latin typeface="Arial"/>
            </a:endParaRPr>
          </a:p>
          <a:p>
            <a:pPr marL="177480" indent="-172080">
              <a:lnSpc>
                <a:spcPct val="100000"/>
              </a:lnSpc>
              <a:spcBef>
                <a:spcPts val="848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https://</a:t>
            </a:r>
            <a:r>
              <a:rPr b="0" lang="en-US" sz="2000" spc="-1" strike="noStrike">
                <a:solidFill>
                  <a:srgbClr val="000080"/>
                </a:solidFill>
                <a:latin typeface="Arial"/>
                <a:ea typeface="Arial"/>
              </a:rPr>
              <a:t>www.datanyze.com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/market-share/web-and-application-servers/</a:t>
            </a:r>
            <a:endParaRPr b="0" lang="en-US" sz="2000" spc="-1" strike="noStrike">
              <a:latin typeface="Arial"/>
            </a:endParaRPr>
          </a:p>
          <a:p>
            <a:pPr marL="177480" indent="-172080">
              <a:lnSpc>
                <a:spcPct val="100000"/>
              </a:lnSpc>
              <a:spcBef>
                <a:spcPts val="848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https://w3techs.com/technologies/overview/web_server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39" name="CustomShape 3"/>
          <p:cNvSpPr/>
          <p:nvPr/>
        </p:nvSpPr>
        <p:spPr>
          <a:xfrm>
            <a:off x="457200" y="1365120"/>
            <a:ext cx="8228880" cy="1513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  <a:spcBef>
                <a:spcPts val="1423"/>
              </a:spcBef>
              <a:tabLst>
                <a:tab algn="l" pos="0"/>
                <a:tab algn="l" pos="353880"/>
                <a:tab algn="l" pos="712440"/>
                <a:tab algn="l" pos="1071360"/>
                <a:tab algn="l" pos="1430280"/>
                <a:tab algn="l" pos="1788840"/>
                <a:tab algn="l" pos="2147760"/>
                <a:tab algn="l" pos="2506320"/>
                <a:tab algn="l" pos="2865240"/>
                <a:tab algn="l" pos="3224160"/>
                <a:tab algn="l" pos="3582720"/>
                <a:tab algn="l" pos="3941640"/>
                <a:tab algn="l" pos="4300200"/>
                <a:tab algn="l" pos="4659120"/>
                <a:tab algn="l" pos="5018040"/>
                <a:tab algn="l" pos="5376600"/>
                <a:tab algn="l" pos="5735520"/>
                <a:tab algn="l" pos="6094080"/>
                <a:tab algn="l" pos="6453000"/>
                <a:tab algn="l" pos="6811920"/>
                <a:tab algn="l" pos="7170480"/>
                <a:tab algn="l" pos="7203960"/>
                <a:tab algn="l" pos="7564320"/>
                <a:tab algn="l" pos="7924680"/>
                <a:tab algn="l" pos="8248320"/>
                <a:tab algn="l" pos="8607240"/>
                <a:tab algn="l" pos="8966160"/>
                <a:tab algn="l" pos="9324720"/>
                <a:tab algn="l" pos="9683640"/>
                <a:tab algn="l" pos="10042200"/>
                <a:tab algn="l" pos="10401120"/>
                <a:tab algn="l" pos="10760040"/>
                <a:tab algn="l" pos="10761480"/>
                <a:tab algn="l" pos="1076292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Nginx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23"/>
              </a:spcBef>
              <a:tabLst>
                <a:tab algn="l" pos="0"/>
                <a:tab algn="l" pos="353880"/>
                <a:tab algn="l" pos="712440"/>
                <a:tab algn="l" pos="1071360"/>
                <a:tab algn="l" pos="1430280"/>
                <a:tab algn="l" pos="1788840"/>
                <a:tab algn="l" pos="2147760"/>
                <a:tab algn="l" pos="2506320"/>
                <a:tab algn="l" pos="2865240"/>
                <a:tab algn="l" pos="3224160"/>
                <a:tab algn="l" pos="3582720"/>
                <a:tab algn="l" pos="3941640"/>
                <a:tab algn="l" pos="4300200"/>
                <a:tab algn="l" pos="4659120"/>
                <a:tab algn="l" pos="5018040"/>
                <a:tab algn="l" pos="5376600"/>
                <a:tab algn="l" pos="5735520"/>
                <a:tab algn="l" pos="6094080"/>
                <a:tab algn="l" pos="6453000"/>
                <a:tab algn="l" pos="6811920"/>
                <a:tab algn="l" pos="7170480"/>
                <a:tab algn="l" pos="7203960"/>
                <a:tab algn="l" pos="7564320"/>
                <a:tab algn="l" pos="7924680"/>
                <a:tab algn="l" pos="8248320"/>
                <a:tab algn="l" pos="8607240"/>
                <a:tab algn="l" pos="8966160"/>
                <a:tab algn="l" pos="9324720"/>
                <a:tab algn="l" pos="9683640"/>
                <a:tab algn="l" pos="10042200"/>
                <a:tab algn="l" pos="10401120"/>
                <a:tab algn="l" pos="10760040"/>
                <a:tab algn="l" pos="10761480"/>
                <a:tab algn="l" pos="1076292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Cloudflare servers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23"/>
              </a:spcBef>
              <a:tabLst>
                <a:tab algn="l" pos="0"/>
                <a:tab algn="l" pos="353880"/>
                <a:tab algn="l" pos="712440"/>
                <a:tab algn="l" pos="1071360"/>
                <a:tab algn="l" pos="1430280"/>
                <a:tab algn="l" pos="1788840"/>
                <a:tab algn="l" pos="2147760"/>
                <a:tab algn="l" pos="2506320"/>
                <a:tab algn="l" pos="2865240"/>
                <a:tab algn="l" pos="3224160"/>
                <a:tab algn="l" pos="3582720"/>
                <a:tab algn="l" pos="3941640"/>
                <a:tab algn="l" pos="4300200"/>
                <a:tab algn="l" pos="4659120"/>
                <a:tab algn="l" pos="5018040"/>
                <a:tab algn="l" pos="5376600"/>
                <a:tab algn="l" pos="5735520"/>
                <a:tab algn="l" pos="6094080"/>
                <a:tab algn="l" pos="6453000"/>
                <a:tab algn="l" pos="6811920"/>
                <a:tab algn="l" pos="7170480"/>
                <a:tab algn="l" pos="7203960"/>
                <a:tab algn="l" pos="7564320"/>
                <a:tab algn="l" pos="7924680"/>
                <a:tab algn="l" pos="8248320"/>
                <a:tab algn="l" pos="8607240"/>
                <a:tab algn="l" pos="8966160"/>
                <a:tab algn="l" pos="9324720"/>
                <a:tab algn="l" pos="9683640"/>
                <a:tab algn="l" pos="10042200"/>
                <a:tab algn="l" pos="10401120"/>
                <a:tab algn="l" pos="10760040"/>
                <a:tab algn="l" pos="10761480"/>
                <a:tab algn="l" pos="1076292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Apache httpd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23"/>
              </a:spcBef>
              <a:tabLst>
                <a:tab algn="l" pos="0"/>
                <a:tab algn="l" pos="353880"/>
                <a:tab algn="l" pos="712440"/>
                <a:tab algn="l" pos="1071360"/>
                <a:tab algn="l" pos="1430280"/>
                <a:tab algn="l" pos="1788840"/>
                <a:tab algn="l" pos="2147760"/>
                <a:tab algn="l" pos="2506320"/>
                <a:tab algn="l" pos="2865240"/>
                <a:tab algn="l" pos="3224160"/>
                <a:tab algn="l" pos="3582720"/>
                <a:tab algn="l" pos="3941640"/>
                <a:tab algn="l" pos="4300200"/>
                <a:tab algn="l" pos="4659120"/>
                <a:tab algn="l" pos="5018040"/>
                <a:tab algn="l" pos="5376600"/>
                <a:tab algn="l" pos="5735520"/>
                <a:tab algn="l" pos="6094080"/>
                <a:tab algn="l" pos="6453000"/>
                <a:tab algn="l" pos="6811920"/>
                <a:tab algn="l" pos="7170480"/>
                <a:tab algn="l" pos="7203960"/>
                <a:tab algn="l" pos="7564320"/>
                <a:tab algn="l" pos="7924680"/>
                <a:tab algn="l" pos="8248320"/>
                <a:tab algn="l" pos="8607240"/>
                <a:tab algn="l" pos="8966160"/>
                <a:tab algn="l" pos="9324720"/>
                <a:tab algn="l" pos="9683640"/>
                <a:tab algn="l" pos="10042200"/>
                <a:tab algn="l" pos="10401120"/>
                <a:tab algn="l" pos="10760040"/>
                <a:tab algn="l" pos="10761480"/>
                <a:tab algn="l" pos="1076292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LiteSpeed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23"/>
              </a:spcBef>
              <a:tabLst>
                <a:tab algn="l" pos="0"/>
                <a:tab algn="l" pos="353880"/>
                <a:tab algn="l" pos="712440"/>
                <a:tab algn="l" pos="1071360"/>
                <a:tab algn="l" pos="1430280"/>
                <a:tab algn="l" pos="1788840"/>
                <a:tab algn="l" pos="2147760"/>
                <a:tab algn="l" pos="2506320"/>
                <a:tab algn="l" pos="2865240"/>
                <a:tab algn="l" pos="3224160"/>
                <a:tab algn="l" pos="3582720"/>
                <a:tab algn="l" pos="3941640"/>
                <a:tab algn="l" pos="4300200"/>
                <a:tab algn="l" pos="4659120"/>
                <a:tab algn="l" pos="5018040"/>
                <a:tab algn="l" pos="5376600"/>
                <a:tab algn="l" pos="5735520"/>
                <a:tab algn="l" pos="6094080"/>
                <a:tab algn="l" pos="6453000"/>
                <a:tab algn="l" pos="6811920"/>
                <a:tab algn="l" pos="7170480"/>
                <a:tab algn="l" pos="7203960"/>
                <a:tab algn="l" pos="7564320"/>
                <a:tab algn="l" pos="7924680"/>
                <a:tab algn="l" pos="8248320"/>
                <a:tab algn="l" pos="8607240"/>
                <a:tab algn="l" pos="8966160"/>
                <a:tab algn="l" pos="9324720"/>
                <a:tab algn="l" pos="9683640"/>
                <a:tab algn="l" pos="10042200"/>
                <a:tab algn="l" pos="10401120"/>
                <a:tab algn="l" pos="10760040"/>
                <a:tab algn="l" pos="10761480"/>
                <a:tab algn="l" pos="1076292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Node.js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23"/>
              </a:spcBef>
              <a:tabLst>
                <a:tab algn="l" pos="0"/>
                <a:tab algn="l" pos="353880"/>
                <a:tab algn="l" pos="712440"/>
                <a:tab algn="l" pos="1071360"/>
                <a:tab algn="l" pos="1430280"/>
                <a:tab algn="l" pos="1788840"/>
                <a:tab algn="l" pos="2147760"/>
                <a:tab algn="l" pos="2506320"/>
                <a:tab algn="l" pos="2865240"/>
                <a:tab algn="l" pos="3224160"/>
                <a:tab algn="l" pos="3582720"/>
                <a:tab algn="l" pos="3941640"/>
                <a:tab algn="l" pos="4300200"/>
                <a:tab algn="l" pos="4659120"/>
                <a:tab algn="l" pos="5018040"/>
                <a:tab algn="l" pos="5376600"/>
                <a:tab algn="l" pos="5735520"/>
                <a:tab algn="l" pos="6094080"/>
                <a:tab algn="l" pos="6453000"/>
                <a:tab algn="l" pos="6811920"/>
                <a:tab algn="l" pos="7170480"/>
                <a:tab algn="l" pos="7203960"/>
                <a:tab algn="l" pos="7564320"/>
                <a:tab algn="l" pos="7924680"/>
                <a:tab algn="l" pos="8248320"/>
                <a:tab algn="l" pos="8607240"/>
                <a:tab algn="l" pos="8966160"/>
                <a:tab algn="l" pos="9324720"/>
                <a:tab algn="l" pos="9683640"/>
                <a:tab algn="l" pos="10042200"/>
                <a:tab algn="l" pos="10401120"/>
                <a:tab algn="l" pos="10760040"/>
                <a:tab algn="l" pos="10761480"/>
                <a:tab algn="l" pos="1076292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Microsoft IIS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CustomShape 1"/>
          <p:cNvSpPr/>
          <p:nvPr/>
        </p:nvSpPr>
        <p:spPr>
          <a:xfrm>
            <a:off x="610920" y="260280"/>
            <a:ext cx="7869960" cy="813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3600" spc="-1" strike="noStrike">
                <a:solidFill>
                  <a:srgbClr val="000080"/>
                </a:solidFill>
                <a:latin typeface="Arial"/>
              </a:rPr>
              <a:t>Running Django w/o a Web Server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341" name="CustomShape 2"/>
          <p:cNvSpPr/>
          <p:nvPr/>
        </p:nvSpPr>
        <p:spPr>
          <a:xfrm>
            <a:off x="674640" y="1399680"/>
            <a:ext cx="7870320" cy="4412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 marL="432000" indent="-323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During development, we can "run" a Django app directly.</a:t>
            </a:r>
            <a:endParaRPr b="0" lang="en-US" sz="32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No separate web server.</a:t>
            </a:r>
            <a:endParaRPr b="0" lang="en-US" sz="32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How does that work?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CustomShape 1"/>
          <p:cNvSpPr/>
          <p:nvPr/>
        </p:nvSpPr>
        <p:spPr>
          <a:xfrm>
            <a:off x="4206960" y="3565440"/>
            <a:ext cx="3291840" cy="20106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9360">
            <a:solidFill>
              <a:srgbClr val="000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353880"/>
                <a:tab algn="l" pos="712440"/>
                <a:tab algn="l" pos="1071360"/>
                <a:tab algn="l" pos="1430280"/>
                <a:tab algn="l" pos="1788840"/>
                <a:tab algn="l" pos="2147760"/>
                <a:tab algn="l" pos="2506320"/>
                <a:tab algn="l" pos="2865240"/>
                <a:tab algn="l" pos="3224160"/>
                <a:tab algn="l" pos="3582720"/>
                <a:tab algn="l" pos="3941640"/>
                <a:tab algn="l" pos="4300200"/>
                <a:tab algn="l" pos="4659120"/>
                <a:tab algn="l" pos="5018040"/>
                <a:tab algn="l" pos="5376600"/>
                <a:tab algn="l" pos="5735520"/>
                <a:tab algn="l" pos="6094080"/>
                <a:tab algn="l" pos="6453000"/>
                <a:tab algn="l" pos="6811920"/>
                <a:tab algn="l" pos="7170480"/>
                <a:tab algn="l" pos="7172280"/>
                <a:tab algn="l" pos="7530840"/>
                <a:tab algn="l" pos="7889760"/>
                <a:tab algn="l" pos="8248320"/>
                <a:tab algn="l" pos="8607240"/>
                <a:tab algn="l" pos="8966160"/>
                <a:tab algn="l" pos="9324720"/>
                <a:tab algn="l" pos="9683640"/>
                <a:tab algn="l" pos="10042200"/>
                <a:tab algn="l" pos="10401120"/>
                <a:tab algn="l" pos="1076004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Django Framework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43" name="CustomShape 2"/>
          <p:cNvSpPr/>
          <p:nvPr/>
        </p:nvSpPr>
        <p:spPr>
          <a:xfrm>
            <a:off x="610920" y="260280"/>
            <a:ext cx="7876440" cy="820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 anchorCtr="1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3880"/>
                <a:tab algn="l" pos="712440"/>
                <a:tab algn="l" pos="1071360"/>
                <a:tab algn="l" pos="1430280"/>
                <a:tab algn="l" pos="1788840"/>
                <a:tab algn="l" pos="2147760"/>
                <a:tab algn="l" pos="2506320"/>
                <a:tab algn="l" pos="2865240"/>
                <a:tab algn="l" pos="3224160"/>
                <a:tab algn="l" pos="3582720"/>
                <a:tab algn="l" pos="3941640"/>
                <a:tab algn="l" pos="4300200"/>
                <a:tab algn="l" pos="4659120"/>
                <a:tab algn="l" pos="5018040"/>
                <a:tab algn="l" pos="5376600"/>
                <a:tab algn="l" pos="5735520"/>
                <a:tab algn="l" pos="6094080"/>
                <a:tab algn="l" pos="6453000"/>
                <a:tab algn="l" pos="6811920"/>
                <a:tab algn="l" pos="7170480"/>
                <a:tab algn="l" pos="7203960"/>
                <a:tab algn="l" pos="7564320"/>
                <a:tab algn="l" pos="7889760"/>
                <a:tab algn="l" pos="8248320"/>
                <a:tab algn="l" pos="8607240"/>
                <a:tab algn="l" pos="8966160"/>
                <a:tab algn="l" pos="9324720"/>
                <a:tab algn="l" pos="9683640"/>
                <a:tab algn="l" pos="10042200"/>
                <a:tab algn="l" pos="10401120"/>
                <a:tab algn="l" pos="1076004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Django App in Development Mode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344" name="CustomShape 3"/>
          <p:cNvSpPr/>
          <p:nvPr/>
        </p:nvSpPr>
        <p:spPr>
          <a:xfrm>
            <a:off x="674640" y="1400040"/>
            <a:ext cx="8103600" cy="2074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rmAutofit/>
          </a:bodyPr>
          <a:p>
            <a:pPr marL="342720" indent="-33588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Django includes a built-in HTTP server, written in Python.</a:t>
            </a:r>
            <a:endParaRPr b="0" lang="en-US" sz="2400" spc="-1" strike="noStrike">
              <a:latin typeface="Arial"/>
            </a:endParaRPr>
          </a:p>
          <a:p>
            <a:pPr marL="342720" indent="-33588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The server parses requests and passes them to the Django application.</a:t>
            </a:r>
            <a:endParaRPr b="0" lang="en-US" sz="2400" spc="-1" strike="noStrike">
              <a:latin typeface="Arial"/>
            </a:endParaRPr>
          </a:p>
          <a:p>
            <a:pPr marL="342720" indent="-33588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This is</a:t>
            </a:r>
            <a:r>
              <a:rPr b="0" lang="en-US" sz="2400" spc="-1" strike="noStrike">
                <a:solidFill>
                  <a:srgbClr val="000080"/>
                </a:solidFill>
                <a:latin typeface="Arial"/>
                <a:ea typeface="DejaVu Sans"/>
              </a:rPr>
              <a:t> </a:t>
            </a:r>
            <a:r>
              <a:rPr b="0" i="1" lang="en-US" sz="2400" spc="-1" strike="noStrike">
                <a:solidFill>
                  <a:srgbClr val="000080"/>
                </a:solidFill>
                <a:latin typeface="Arial"/>
                <a:ea typeface="DejaVu Sans"/>
              </a:rPr>
              <a:t>low performance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and not for production use.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45" name="CustomShape 4"/>
          <p:cNvSpPr/>
          <p:nvPr/>
        </p:nvSpPr>
        <p:spPr>
          <a:xfrm>
            <a:off x="1353960" y="4033800"/>
            <a:ext cx="956880" cy="821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9360">
            <a:solidFill>
              <a:srgbClr val="000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353880"/>
                <a:tab algn="l" pos="712440"/>
                <a:tab algn="l" pos="1071360"/>
                <a:tab algn="l" pos="1430280"/>
                <a:tab algn="l" pos="1788840"/>
                <a:tab algn="l" pos="2147760"/>
                <a:tab algn="l" pos="2506320"/>
                <a:tab algn="l" pos="2865240"/>
                <a:tab algn="l" pos="3224160"/>
                <a:tab algn="l" pos="3582720"/>
                <a:tab algn="l" pos="3941640"/>
                <a:tab algn="l" pos="4300200"/>
                <a:tab algn="l" pos="4659120"/>
                <a:tab algn="l" pos="5018040"/>
                <a:tab algn="l" pos="5376600"/>
                <a:tab algn="l" pos="5735520"/>
                <a:tab algn="l" pos="6094080"/>
                <a:tab algn="l" pos="6453000"/>
                <a:tab algn="l" pos="6811920"/>
                <a:tab algn="l" pos="7170480"/>
                <a:tab algn="l" pos="7172280"/>
                <a:tab algn="l" pos="7530840"/>
                <a:tab algn="l" pos="7889760"/>
                <a:tab algn="l" pos="8248320"/>
                <a:tab algn="l" pos="8607240"/>
                <a:tab algn="l" pos="8966160"/>
                <a:tab algn="l" pos="9324720"/>
                <a:tab algn="l" pos="9683640"/>
                <a:tab algn="l" pos="10042200"/>
                <a:tab algn="l" pos="10401120"/>
                <a:tab algn="l" pos="1076004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Web</a:t>
            </a:r>
            <a:br/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Client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46" name="CustomShape 5"/>
          <p:cNvSpPr/>
          <p:nvPr/>
        </p:nvSpPr>
        <p:spPr>
          <a:xfrm>
            <a:off x="4572000" y="4168800"/>
            <a:ext cx="2467800" cy="4550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9360">
            <a:solidFill>
              <a:srgbClr val="000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353880"/>
                <a:tab algn="l" pos="712440"/>
                <a:tab algn="l" pos="1071360"/>
                <a:tab algn="l" pos="1430280"/>
                <a:tab algn="l" pos="1788840"/>
                <a:tab algn="l" pos="2147760"/>
                <a:tab algn="l" pos="2506320"/>
                <a:tab algn="l" pos="2865240"/>
                <a:tab algn="l" pos="3224160"/>
                <a:tab algn="l" pos="3582720"/>
                <a:tab algn="l" pos="3941640"/>
                <a:tab algn="l" pos="4300200"/>
                <a:tab algn="l" pos="4659120"/>
                <a:tab algn="l" pos="5018040"/>
                <a:tab algn="l" pos="5376600"/>
                <a:tab algn="l" pos="5735520"/>
                <a:tab algn="l" pos="6094080"/>
                <a:tab algn="l" pos="6453000"/>
                <a:tab algn="l" pos="6811920"/>
                <a:tab algn="l" pos="7170480"/>
                <a:tab algn="l" pos="7172280"/>
                <a:tab algn="l" pos="7530840"/>
                <a:tab algn="l" pos="7889760"/>
                <a:tab algn="l" pos="8248320"/>
                <a:tab algn="l" pos="8607240"/>
                <a:tab algn="l" pos="8966160"/>
                <a:tab algn="l" pos="9324720"/>
                <a:tab algn="l" pos="9683640"/>
                <a:tab algn="l" pos="10042200"/>
                <a:tab algn="l" pos="10401120"/>
                <a:tab algn="l" pos="1076004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HTTP Server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47" name="CustomShape 6"/>
          <p:cNvSpPr/>
          <p:nvPr/>
        </p:nvSpPr>
        <p:spPr>
          <a:xfrm>
            <a:off x="4572000" y="4938840"/>
            <a:ext cx="2498040" cy="4546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9360">
            <a:solidFill>
              <a:srgbClr val="000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353880"/>
                <a:tab algn="l" pos="712440"/>
                <a:tab algn="l" pos="1071360"/>
                <a:tab algn="l" pos="1430280"/>
                <a:tab algn="l" pos="1788840"/>
                <a:tab algn="l" pos="2147760"/>
                <a:tab algn="l" pos="2506320"/>
                <a:tab algn="l" pos="2865240"/>
                <a:tab algn="l" pos="3224160"/>
                <a:tab algn="l" pos="3582720"/>
                <a:tab algn="l" pos="3941640"/>
                <a:tab algn="l" pos="4300200"/>
                <a:tab algn="l" pos="4659120"/>
                <a:tab algn="l" pos="5018040"/>
                <a:tab algn="l" pos="5376600"/>
                <a:tab algn="l" pos="5735520"/>
                <a:tab algn="l" pos="6094080"/>
                <a:tab algn="l" pos="6453000"/>
                <a:tab algn="l" pos="6811920"/>
                <a:tab algn="l" pos="7170480"/>
                <a:tab algn="l" pos="7172280"/>
                <a:tab algn="l" pos="7530840"/>
                <a:tab algn="l" pos="7889760"/>
                <a:tab algn="l" pos="8248320"/>
                <a:tab algn="l" pos="8607240"/>
                <a:tab algn="l" pos="8966160"/>
                <a:tab algn="l" pos="9324720"/>
                <a:tab algn="l" pos="9683640"/>
                <a:tab algn="l" pos="10042200"/>
                <a:tab algn="l" pos="10401120"/>
                <a:tab algn="l" pos="1076004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Your Django App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48" name="Line 7"/>
          <p:cNvSpPr/>
          <p:nvPr/>
        </p:nvSpPr>
        <p:spPr>
          <a:xfrm>
            <a:off x="2311560" y="4317840"/>
            <a:ext cx="2201760" cy="1800"/>
          </a:xfrm>
          <a:prstGeom prst="line">
            <a:avLst/>
          </a:prstGeom>
          <a:ln w="936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49" name="Line 8"/>
          <p:cNvSpPr/>
          <p:nvPr/>
        </p:nvSpPr>
        <p:spPr>
          <a:xfrm flipH="1">
            <a:off x="2304720" y="4479840"/>
            <a:ext cx="2273400" cy="19080"/>
          </a:xfrm>
          <a:prstGeom prst="line">
            <a:avLst/>
          </a:prstGeom>
          <a:ln w="9360">
            <a:solidFill>
              <a:srgbClr val="000000"/>
            </a:solidFill>
            <a:prstDash val="sysDot"/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50" name="Line 9"/>
          <p:cNvSpPr/>
          <p:nvPr/>
        </p:nvSpPr>
        <p:spPr>
          <a:xfrm>
            <a:off x="5761080" y="4624560"/>
            <a:ext cx="1440" cy="404640"/>
          </a:xfrm>
          <a:prstGeom prst="line">
            <a:avLst/>
          </a:prstGeom>
          <a:ln w="936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51" name="Line 10"/>
          <p:cNvSpPr/>
          <p:nvPr/>
        </p:nvSpPr>
        <p:spPr>
          <a:xfrm flipV="1">
            <a:off x="5943600" y="4565520"/>
            <a:ext cx="1440" cy="379440"/>
          </a:xfrm>
          <a:prstGeom prst="line">
            <a:avLst/>
          </a:prstGeom>
          <a:ln w="936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52" name="CustomShape 11"/>
          <p:cNvSpPr/>
          <p:nvPr/>
        </p:nvSpPr>
        <p:spPr>
          <a:xfrm>
            <a:off x="3932280" y="5668920"/>
            <a:ext cx="3839400" cy="4564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3880"/>
                <a:tab algn="l" pos="712440"/>
                <a:tab algn="l" pos="1071360"/>
                <a:tab algn="l" pos="1430280"/>
                <a:tab algn="l" pos="1788840"/>
                <a:tab algn="l" pos="2147760"/>
                <a:tab algn="l" pos="2506320"/>
                <a:tab algn="l" pos="2865240"/>
                <a:tab algn="l" pos="3224160"/>
                <a:tab algn="l" pos="3582720"/>
                <a:tab algn="l" pos="3941640"/>
                <a:tab algn="l" pos="4300200"/>
                <a:tab algn="l" pos="4659120"/>
                <a:tab algn="l" pos="5018040"/>
                <a:tab algn="l" pos="5376600"/>
                <a:tab algn="l" pos="5735520"/>
                <a:tab algn="l" pos="6094080"/>
                <a:tab algn="l" pos="6453000"/>
                <a:tab algn="l" pos="6811920"/>
                <a:tab algn="l" pos="7170480"/>
                <a:tab algn="l" pos="7172280"/>
                <a:tab algn="l" pos="7530840"/>
                <a:tab algn="l" pos="7889760"/>
                <a:tab algn="l" pos="8248320"/>
                <a:tab algn="l" pos="8607240"/>
                <a:tab algn="l" pos="8966160"/>
                <a:tab algn="l" pos="9324720"/>
                <a:tab algn="l" pos="9683640"/>
                <a:tab algn="l" pos="10042200"/>
                <a:tab algn="l" pos="10401120"/>
                <a:tab algn="l" pos="10760040"/>
                <a:tab algn="l" pos="10761480"/>
                <a:tab algn="l" pos="10762920"/>
              </a:tabLst>
            </a:pPr>
            <a:r>
              <a:rPr b="0" i="1" lang="en-US" sz="2000" spc="-1" strike="noStrike">
                <a:solidFill>
                  <a:srgbClr val="000080"/>
                </a:solidFill>
                <a:latin typeface="Arial"/>
                <a:ea typeface="DejaVu Sans"/>
              </a:rPr>
              <a:t>Running in </a:t>
            </a:r>
            <a:r>
              <a:rPr b="1" i="1" lang="en-US" sz="2000" spc="-1" strike="noStrike">
                <a:solidFill>
                  <a:srgbClr val="000080"/>
                </a:solidFill>
                <a:latin typeface="Arial"/>
                <a:ea typeface="DejaVu Sans"/>
              </a:rPr>
              <a:t>Python</a:t>
            </a:r>
            <a:r>
              <a:rPr b="0" i="1" lang="en-US" sz="2000" spc="-1" strike="noStrike">
                <a:solidFill>
                  <a:srgbClr val="000080"/>
                </a:solidFill>
                <a:latin typeface="Arial"/>
                <a:ea typeface="DejaVu Sans"/>
              </a:rPr>
              <a:t> (of course)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TextShape 1"/>
          <p:cNvSpPr txBox="1"/>
          <p:nvPr/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000" spc="-1" strike="noStrike">
                <a:solidFill>
                  <a:srgbClr val="000080"/>
                </a:solidFill>
                <a:latin typeface="Arial"/>
              </a:rPr>
              <a:t>Extra Material</a:t>
            </a:r>
            <a:endParaRPr b="0" lang="en-US" sz="4000" spc="-1" strike="noStrike">
              <a:solidFill>
                <a:srgbClr val="000080"/>
              </a:solidFill>
              <a:latin typeface="Arial"/>
            </a:endParaRPr>
          </a:p>
        </p:txBody>
      </p:sp>
      <p:sp>
        <p:nvSpPr>
          <p:cNvPr id="354" name="TextShape 2"/>
          <p:cNvSpPr txBox="1"/>
          <p:nvPr/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Frameworks - what are they?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CGI - the original interface for server-side application code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CustomShape 1"/>
          <p:cNvSpPr/>
          <p:nvPr/>
        </p:nvSpPr>
        <p:spPr>
          <a:xfrm>
            <a:off x="610920" y="259920"/>
            <a:ext cx="7901640" cy="845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 anchorCtr="1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Frameworks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356" name="CustomShape 2"/>
          <p:cNvSpPr/>
          <p:nvPr/>
        </p:nvSpPr>
        <p:spPr>
          <a:xfrm>
            <a:off x="611280" y="1371600"/>
            <a:ext cx="8074800" cy="5028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rmAutofit/>
          </a:bodyPr>
          <a:p>
            <a:pPr>
              <a:lnSpc>
                <a:spcPct val="100000"/>
              </a:lnSpc>
              <a:spcBef>
                <a:spcPts val="598"/>
              </a:spcBef>
              <a:tabLst>
                <a:tab algn="l" pos="0"/>
                <a:tab algn="l" pos="34128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92612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A </a:t>
            </a:r>
            <a:r>
              <a:rPr b="0" lang="en-US" sz="2400" spc="-1" strike="noStrike">
                <a:solidFill>
                  <a:srgbClr val="000080"/>
                </a:solidFill>
                <a:latin typeface="Arial"/>
                <a:ea typeface="DejaVu Sans"/>
              </a:rPr>
              <a:t>Framework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contains an "almost" complete app code, including logic for </a:t>
            </a:r>
            <a:r>
              <a:rPr b="0" lang="en-US" sz="2400" spc="-1" strike="noStrike">
                <a:solidFill>
                  <a:srgbClr val="000080"/>
                </a:solidFill>
                <a:latin typeface="Arial"/>
                <a:ea typeface="DejaVu Sans"/>
              </a:rPr>
              <a:t>the flow of control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en-US" sz="2400" spc="-1" strike="noStrike">
              <a:latin typeface="Arial"/>
            </a:endParaRPr>
          </a:p>
          <a:p>
            <a:pPr marL="342720" indent="-33264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  <a:p>
            <a:pPr marL="342720" indent="-33264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You must supply</a:t>
            </a:r>
            <a:endParaRPr b="0" lang="en-US" sz="2400" spc="-1" strike="noStrike">
              <a:latin typeface="Arial"/>
            </a:endParaRPr>
          </a:p>
          <a:p>
            <a:pPr marL="555480" indent="-550080">
              <a:lnSpc>
                <a:spcPct val="100000"/>
              </a:lnSpc>
              <a:spcBef>
                <a:spcPts val="598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34128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92612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configuration data (text file, XML, Json, ...)</a:t>
            </a:r>
            <a:endParaRPr b="0" lang="en-US" sz="2400" spc="-1" strike="noStrike">
              <a:latin typeface="Arial"/>
            </a:endParaRPr>
          </a:p>
          <a:p>
            <a:pPr marL="555480" indent="-550080">
              <a:lnSpc>
                <a:spcPct val="100000"/>
              </a:lnSpc>
              <a:spcBef>
                <a:spcPts val="598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34128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92612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missing methods the framework will invoke, "slots"</a:t>
            </a:r>
            <a:endParaRPr b="0" lang="en-US" sz="2400" spc="-1" strike="noStrike">
              <a:latin typeface="Arial"/>
            </a:endParaRPr>
          </a:p>
          <a:p>
            <a:pPr marL="555480" indent="-550080">
              <a:lnSpc>
                <a:spcPct val="100000"/>
              </a:lnSpc>
              <a:spcBef>
                <a:spcPts val="598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34128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92612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application logic</a:t>
            </a:r>
            <a:endParaRPr b="0" lang="en-US" sz="2400" spc="-1" strike="noStrike">
              <a:latin typeface="Arial"/>
            </a:endParaRPr>
          </a:p>
          <a:p>
            <a:pPr marL="555480" indent="-550080">
              <a:lnSpc>
                <a:spcPct val="100000"/>
              </a:lnSpc>
              <a:spcBef>
                <a:spcPts val="598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34128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92612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domain models ("model") for persistent objects</a:t>
            </a:r>
            <a:endParaRPr b="0" lang="en-US" sz="2400" spc="-1" strike="noStrike">
              <a:latin typeface="Arial"/>
            </a:endParaRPr>
          </a:p>
          <a:p>
            <a:pPr marL="342720" indent="-33264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and optionally...</a:t>
            </a:r>
            <a:endParaRPr b="0" lang="en-US" sz="2400" spc="-1" strike="noStrike">
              <a:latin typeface="Arial"/>
            </a:endParaRPr>
          </a:p>
          <a:p>
            <a:pPr marL="555480" indent="-550080">
              <a:lnSpc>
                <a:spcPct val="100000"/>
              </a:lnSpc>
              <a:spcBef>
                <a:spcPts val="598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34128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92612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override frameworks methods with custom code</a:t>
            </a:r>
            <a:endParaRPr b="0" lang="en-US" sz="2400" spc="-1" strike="noStrike">
              <a:latin typeface="Arial"/>
            </a:endParaRPr>
          </a:p>
          <a:p>
            <a:pPr marL="555480" indent="-550080">
              <a:lnSpc>
                <a:spcPct val="100000"/>
              </a:lnSpc>
              <a:spcBef>
                <a:spcPts val="598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34128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92612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add </a:t>
            </a:r>
            <a:r>
              <a:rPr b="0" lang="en-US" sz="2400" spc="-1" strike="noStrike">
                <a:solidFill>
                  <a:srgbClr val="000080"/>
                </a:solidFill>
                <a:latin typeface="Arial"/>
                <a:ea typeface="DejaVu Sans"/>
              </a:rPr>
              <a:t>callbacks or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"</a:t>
            </a:r>
            <a:r>
              <a:rPr b="0" lang="en-US" sz="2400" spc="-1" strike="noStrike">
                <a:solidFill>
                  <a:srgbClr val="000080"/>
                </a:solidFill>
                <a:latin typeface="Arial"/>
                <a:ea typeface="DejaVu Sans"/>
              </a:rPr>
              <a:t>hooks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", for extra functionality</a:t>
            </a:r>
            <a:endParaRPr b="0" lang="en-US" sz="2400" spc="-1" strike="noStrike">
              <a:latin typeface="Arial"/>
            </a:endParaRPr>
          </a:p>
          <a:p>
            <a:pPr marL="342720" indent="-33264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CustomShape 1"/>
          <p:cNvSpPr/>
          <p:nvPr/>
        </p:nvSpPr>
        <p:spPr>
          <a:xfrm>
            <a:off x="610920" y="259920"/>
            <a:ext cx="7893720" cy="837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357120"/>
                <a:tab algn="l" pos="715680"/>
                <a:tab algn="l" pos="1074600"/>
                <a:tab algn="l" pos="1433160"/>
                <a:tab algn="l" pos="1792080"/>
                <a:tab algn="l" pos="2151000"/>
                <a:tab algn="l" pos="2509560"/>
                <a:tab algn="l" pos="2868480"/>
                <a:tab algn="l" pos="3227040"/>
                <a:tab algn="l" pos="3585960"/>
                <a:tab algn="l" pos="3944880"/>
                <a:tab algn="l" pos="4303440"/>
                <a:tab algn="l" pos="4662360"/>
                <a:tab algn="l" pos="5020920"/>
                <a:tab algn="l" pos="5379840"/>
                <a:tab algn="l" pos="5738760"/>
                <a:tab algn="l" pos="6097320"/>
                <a:tab algn="l" pos="6456240"/>
                <a:tab algn="l" pos="6814800"/>
                <a:tab algn="l" pos="7173720"/>
                <a:tab algn="l" pos="7207200"/>
                <a:tab algn="l" pos="7567560"/>
                <a:tab algn="l" pos="7893000"/>
                <a:tab algn="l" pos="8251560"/>
                <a:tab algn="l" pos="8610480"/>
                <a:tab algn="l" pos="89690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Framework versus Library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358" name="CustomShape 2"/>
          <p:cNvSpPr/>
          <p:nvPr/>
        </p:nvSpPr>
        <p:spPr>
          <a:xfrm>
            <a:off x="610920" y="1371600"/>
            <a:ext cx="7893720" cy="5298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rmAutofit/>
          </a:bodyPr>
          <a:p>
            <a:pPr marL="342720" indent="-340560">
              <a:lnSpc>
                <a:spcPct val="100000"/>
              </a:lnSpc>
              <a:spcBef>
                <a:spcPts val="1449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An </a:t>
            </a:r>
            <a:r>
              <a:rPr b="0" lang="en-US" sz="2400" spc="-1" strike="noStrike">
                <a:solidFill>
                  <a:srgbClr val="000080"/>
                </a:solidFill>
                <a:latin typeface="Arial"/>
                <a:ea typeface="DejaVu Sans"/>
              </a:rPr>
              <a:t>application </a:t>
            </a:r>
            <a:r>
              <a:rPr b="1" lang="en-US" sz="2400" spc="-1" strike="noStrike">
                <a:solidFill>
                  <a:srgbClr val="000080"/>
                </a:solidFill>
                <a:latin typeface="Arial"/>
                <a:ea typeface="DejaVu Sans"/>
              </a:rPr>
              <a:t>framework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"runs" the application.</a:t>
            </a:r>
            <a:endParaRPr b="0" lang="en-US" sz="2400" spc="-1" strike="noStrike">
              <a:latin typeface="Arial"/>
            </a:endParaRPr>
          </a:p>
          <a:p>
            <a:pPr marL="558720" indent="-556560">
              <a:lnSpc>
                <a:spcPct val="100000"/>
              </a:lnSpc>
              <a:spcBef>
                <a:spcPts val="144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357120"/>
                <a:tab algn="l" pos="715680"/>
                <a:tab algn="l" pos="1074600"/>
                <a:tab algn="l" pos="1433160"/>
                <a:tab algn="l" pos="1792080"/>
                <a:tab algn="l" pos="2151000"/>
                <a:tab algn="l" pos="2509560"/>
                <a:tab algn="l" pos="2868480"/>
                <a:tab algn="l" pos="3227040"/>
                <a:tab algn="l" pos="3585960"/>
                <a:tab algn="l" pos="3944880"/>
                <a:tab algn="l" pos="4303440"/>
                <a:tab algn="l" pos="4662360"/>
                <a:tab algn="l" pos="5020920"/>
                <a:tab algn="l" pos="5379840"/>
                <a:tab algn="l" pos="5738760"/>
                <a:tab algn="l" pos="6097320"/>
                <a:tab algn="l" pos="6456240"/>
                <a:tab algn="l" pos="6814800"/>
                <a:tab algn="l" pos="7173720"/>
                <a:tab algn="l" pos="7207200"/>
                <a:tab algn="l" pos="7567560"/>
                <a:tab algn="l" pos="7893000"/>
                <a:tab algn="l" pos="8251560"/>
                <a:tab algn="l" pos="8610480"/>
                <a:tab algn="l" pos="89690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the framework calls your code</a:t>
            </a:r>
            <a:endParaRPr b="0" lang="en-US" sz="2400" spc="-1" strike="noStrike">
              <a:latin typeface="Arial"/>
            </a:endParaRPr>
          </a:p>
          <a:p>
            <a:pPr marL="558720" indent="-556560">
              <a:lnSpc>
                <a:spcPct val="100000"/>
              </a:lnSpc>
              <a:spcBef>
                <a:spcPts val="144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357120"/>
                <a:tab algn="l" pos="715680"/>
                <a:tab algn="l" pos="1074600"/>
                <a:tab algn="l" pos="1433160"/>
                <a:tab algn="l" pos="1792080"/>
                <a:tab algn="l" pos="2151000"/>
                <a:tab algn="l" pos="2509560"/>
                <a:tab algn="l" pos="2868480"/>
                <a:tab algn="l" pos="3227040"/>
                <a:tab algn="l" pos="3585960"/>
                <a:tab algn="l" pos="3944880"/>
                <a:tab algn="l" pos="4303440"/>
                <a:tab algn="l" pos="4662360"/>
                <a:tab algn="l" pos="5020920"/>
                <a:tab algn="l" pos="5379840"/>
                <a:tab algn="l" pos="5738760"/>
                <a:tab algn="l" pos="6097320"/>
                <a:tab algn="l" pos="6456240"/>
                <a:tab algn="l" pos="6814800"/>
                <a:tab algn="l" pos="7173720"/>
                <a:tab algn="l" pos="7207200"/>
                <a:tab algn="l" pos="7567560"/>
                <a:tab algn="l" pos="7893000"/>
                <a:tab algn="l" pos="8251560"/>
                <a:tab algn="l" pos="8610480"/>
                <a:tab algn="l" pos="89690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"</a:t>
            </a:r>
            <a:r>
              <a:rPr b="0" i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don't call us, we'll call you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"</a:t>
            </a:r>
            <a:endParaRPr b="0" lang="en-US" sz="2400" spc="-1" strike="noStrike">
              <a:latin typeface="Arial"/>
            </a:endParaRPr>
          </a:p>
          <a:p>
            <a:pPr marL="342720" indent="-340560">
              <a:lnSpc>
                <a:spcPct val="100000"/>
              </a:lnSpc>
              <a:spcBef>
                <a:spcPts val="1449"/>
              </a:spcBef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  <a:p>
            <a:pPr marL="342720" indent="-340560">
              <a:lnSpc>
                <a:spcPct val="100000"/>
              </a:lnSpc>
              <a:spcBef>
                <a:spcPts val="1449"/>
              </a:spcBef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80"/>
                </a:solidFill>
                <a:latin typeface="Arial"/>
                <a:ea typeface="DejaVu Sans"/>
              </a:rPr>
              <a:t>Library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- provides functions you call, classes you use</a:t>
            </a:r>
            <a:endParaRPr b="0" lang="en-US" sz="2400" spc="-1" strike="noStrike">
              <a:latin typeface="Arial"/>
            </a:endParaRPr>
          </a:p>
          <a:p>
            <a:pPr marL="558720" indent="-556560">
              <a:lnSpc>
                <a:spcPct val="100000"/>
              </a:lnSpc>
              <a:spcBef>
                <a:spcPts val="144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357120"/>
                <a:tab algn="l" pos="715680"/>
                <a:tab algn="l" pos="1074600"/>
                <a:tab algn="l" pos="1433160"/>
                <a:tab algn="l" pos="1792080"/>
                <a:tab algn="l" pos="2151000"/>
                <a:tab algn="l" pos="2509560"/>
                <a:tab algn="l" pos="2868480"/>
                <a:tab algn="l" pos="3227040"/>
                <a:tab algn="l" pos="3585960"/>
                <a:tab algn="l" pos="3944880"/>
                <a:tab algn="l" pos="4303440"/>
                <a:tab algn="l" pos="4662360"/>
                <a:tab algn="l" pos="5020920"/>
                <a:tab algn="l" pos="5379840"/>
                <a:tab algn="l" pos="5738760"/>
                <a:tab algn="l" pos="6097320"/>
                <a:tab algn="l" pos="6456240"/>
                <a:tab algn="l" pos="6814800"/>
                <a:tab algn="l" pos="7173720"/>
                <a:tab algn="l" pos="7207200"/>
                <a:tab algn="l" pos="7567560"/>
                <a:tab algn="l" pos="7893000"/>
                <a:tab algn="l" pos="8251560"/>
                <a:tab algn="l" pos="8610480"/>
                <a:tab algn="l" pos="89690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ourier New"/>
                <a:ea typeface="DejaVu Sans"/>
              </a:rPr>
              <a:t>Requests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is a library of functions for sending HTTP requests</a:t>
            </a:r>
            <a:endParaRPr b="0" lang="en-US" sz="2400" spc="-1" strike="noStrike">
              <a:latin typeface="Arial"/>
            </a:endParaRPr>
          </a:p>
          <a:p>
            <a:pPr marL="558720" indent="-556560">
              <a:lnSpc>
                <a:spcPct val="100000"/>
              </a:lnSpc>
              <a:spcBef>
                <a:spcPts val="144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357120"/>
                <a:tab algn="l" pos="715680"/>
                <a:tab algn="l" pos="1074600"/>
                <a:tab algn="l" pos="1433160"/>
                <a:tab algn="l" pos="1792080"/>
                <a:tab algn="l" pos="2151000"/>
                <a:tab algn="l" pos="2509560"/>
                <a:tab algn="l" pos="2868480"/>
                <a:tab algn="l" pos="3227040"/>
                <a:tab algn="l" pos="3585960"/>
                <a:tab algn="l" pos="3944880"/>
                <a:tab algn="l" pos="4303440"/>
                <a:tab algn="l" pos="4662360"/>
                <a:tab algn="l" pos="5020920"/>
                <a:tab algn="l" pos="5379840"/>
                <a:tab algn="l" pos="5738760"/>
                <a:tab algn="l" pos="6097320"/>
                <a:tab algn="l" pos="6456240"/>
                <a:tab algn="l" pos="6814800"/>
                <a:tab algn="l" pos="7173720"/>
                <a:tab algn="l" pos="7207200"/>
                <a:tab algn="l" pos="7567560"/>
                <a:tab algn="l" pos="7893000"/>
                <a:tab algn="l" pos="8251560"/>
                <a:tab algn="l" pos="8610480"/>
                <a:tab algn="l" pos="89690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ourier New"/>
                <a:ea typeface="DejaVu Sans"/>
              </a:rPr>
              <a:t>numpy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is a library for numerical computing</a:t>
            </a:r>
            <a:endParaRPr b="0" lang="en-US" sz="2400" spc="-1" strike="noStrike">
              <a:latin typeface="Arial"/>
            </a:endParaRPr>
          </a:p>
          <a:p>
            <a:pPr marL="558720" indent="-556560">
              <a:lnSpc>
                <a:spcPct val="100000"/>
              </a:lnSpc>
              <a:spcBef>
                <a:spcPts val="144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357120"/>
                <a:tab algn="l" pos="715680"/>
                <a:tab algn="l" pos="1074600"/>
                <a:tab algn="l" pos="1433160"/>
                <a:tab algn="l" pos="1792080"/>
                <a:tab algn="l" pos="2151000"/>
                <a:tab algn="l" pos="2509560"/>
                <a:tab algn="l" pos="2868480"/>
                <a:tab algn="l" pos="3227040"/>
                <a:tab algn="l" pos="3585960"/>
                <a:tab algn="l" pos="3944880"/>
                <a:tab algn="l" pos="4303440"/>
                <a:tab algn="l" pos="4662360"/>
                <a:tab algn="l" pos="5020920"/>
                <a:tab algn="l" pos="5379840"/>
                <a:tab algn="l" pos="5738760"/>
                <a:tab algn="l" pos="6097320"/>
                <a:tab algn="l" pos="6456240"/>
                <a:tab algn="l" pos="6814800"/>
                <a:tab algn="l" pos="7173720"/>
                <a:tab algn="l" pos="7207200"/>
                <a:tab algn="l" pos="7567560"/>
                <a:tab algn="l" pos="7893000"/>
                <a:tab algn="l" pos="8251560"/>
                <a:tab algn="l" pos="8610480"/>
                <a:tab algn="l" pos="89690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Your app </a:t>
            </a:r>
            <a:r>
              <a:rPr b="0" lang="en-US" sz="2400" spc="-1" strike="noStrike" u="sng">
                <a:solidFill>
                  <a:srgbClr val="000000"/>
                </a:solidFill>
                <a:uFillTx/>
                <a:latin typeface="Arial"/>
                <a:ea typeface="DejaVu Sans"/>
              </a:rPr>
              <a:t>calls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ourier New"/>
                <a:ea typeface="DejaVu Sans"/>
              </a:rPr>
              <a:t>numpy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code, it returns a result</a:t>
            </a:r>
            <a:endParaRPr b="0" lang="en-US" sz="2400" spc="-1" strike="noStrike">
              <a:latin typeface="Arial"/>
            </a:endParaRPr>
          </a:p>
          <a:p>
            <a:pPr marL="342720" indent="-34056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CustomShape 1"/>
          <p:cNvSpPr/>
          <p:nvPr/>
        </p:nvSpPr>
        <p:spPr>
          <a:xfrm>
            <a:off x="611280" y="259920"/>
            <a:ext cx="7881120" cy="824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 anchorCtr="1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3880"/>
                <a:tab algn="l" pos="712440"/>
                <a:tab algn="l" pos="1071360"/>
                <a:tab algn="l" pos="1430280"/>
                <a:tab algn="l" pos="1788840"/>
                <a:tab algn="l" pos="2147760"/>
                <a:tab algn="l" pos="2506320"/>
                <a:tab algn="l" pos="2865240"/>
                <a:tab algn="l" pos="3224160"/>
                <a:tab algn="l" pos="3582720"/>
                <a:tab algn="l" pos="3941640"/>
                <a:tab algn="l" pos="4300200"/>
                <a:tab algn="l" pos="4659120"/>
                <a:tab algn="l" pos="5018040"/>
                <a:tab algn="l" pos="5376600"/>
                <a:tab algn="l" pos="5735520"/>
                <a:tab algn="l" pos="6094080"/>
                <a:tab algn="l" pos="6453000"/>
                <a:tab algn="l" pos="6811920"/>
                <a:tab algn="l" pos="7170480"/>
                <a:tab algn="l" pos="7203960"/>
                <a:tab algn="l" pos="7564320"/>
                <a:tab algn="l" pos="7889760"/>
                <a:tab algn="l" pos="8248320"/>
                <a:tab algn="l" pos="8607240"/>
                <a:tab algn="l" pos="8966160"/>
                <a:tab algn="l" pos="9324720"/>
                <a:tab algn="l" pos="9683640"/>
                <a:tab algn="l" pos="10042200"/>
                <a:tab algn="l" pos="10401120"/>
                <a:tab algn="l" pos="1076004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Common Gateway Interface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360" name="CustomShape 2"/>
          <p:cNvSpPr/>
          <p:nvPr/>
        </p:nvSpPr>
        <p:spPr>
          <a:xfrm>
            <a:off x="622440" y="1125000"/>
            <a:ext cx="7881120" cy="2937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rmAutofit/>
          </a:bodyPr>
          <a:p>
            <a:pPr>
              <a:lnSpc>
                <a:spcPct val="100000"/>
              </a:lnSpc>
              <a:spcBef>
                <a:spcPts val="1423"/>
              </a:spcBef>
              <a:tabLst>
                <a:tab algn="l" pos="0"/>
                <a:tab algn="l" pos="10800"/>
                <a:tab algn="l" pos="369720"/>
                <a:tab algn="l" pos="728640"/>
                <a:tab algn="l" pos="1087200"/>
                <a:tab algn="l" pos="1446120"/>
                <a:tab algn="l" pos="1804680"/>
                <a:tab algn="l" pos="2163600"/>
                <a:tab algn="l" pos="2522520"/>
                <a:tab algn="l" pos="2881080"/>
                <a:tab algn="l" pos="3240000"/>
                <a:tab algn="l" pos="3598560"/>
                <a:tab algn="l" pos="3957480"/>
                <a:tab algn="l" pos="4316400"/>
                <a:tab algn="l" pos="4674960"/>
                <a:tab algn="l" pos="5033880"/>
                <a:tab algn="l" pos="5392440"/>
                <a:tab algn="l" pos="5751360"/>
                <a:tab algn="l" pos="6110280"/>
                <a:tab algn="l" pos="6468840"/>
                <a:tab algn="l" pos="6827760"/>
                <a:tab algn="l" pos="6843600"/>
                <a:tab algn="l" pos="7203960"/>
                <a:tab algn="l" pos="7564320"/>
                <a:tab algn="l" pos="7889760"/>
                <a:tab algn="l" pos="8248320"/>
                <a:tab algn="l" pos="8607240"/>
                <a:tab algn="l" pos="8966160"/>
                <a:tab algn="l" pos="9324720"/>
                <a:tab algn="l" pos="9683640"/>
                <a:tab algn="l" pos="10042200"/>
                <a:tab algn="l" pos="10401120"/>
                <a:tab algn="l" pos="1076004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The original way to generate dynamic content by running code used the Common Gateway Interface (CGI).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23"/>
              </a:spcBef>
              <a:tabLst>
                <a:tab algn="l" pos="0"/>
                <a:tab algn="l" pos="10800"/>
                <a:tab algn="l" pos="369720"/>
                <a:tab algn="l" pos="728640"/>
                <a:tab algn="l" pos="1087200"/>
                <a:tab algn="l" pos="1446120"/>
                <a:tab algn="l" pos="1804680"/>
                <a:tab algn="l" pos="2163600"/>
                <a:tab algn="l" pos="2522520"/>
                <a:tab algn="l" pos="2881080"/>
                <a:tab algn="l" pos="3240000"/>
                <a:tab algn="l" pos="3598560"/>
                <a:tab algn="l" pos="3957480"/>
                <a:tab algn="l" pos="4316400"/>
                <a:tab algn="l" pos="4674960"/>
                <a:tab algn="l" pos="5033880"/>
                <a:tab algn="l" pos="5392440"/>
                <a:tab algn="l" pos="5751360"/>
                <a:tab algn="l" pos="6110280"/>
                <a:tab algn="l" pos="6468840"/>
                <a:tab algn="l" pos="6827760"/>
                <a:tab algn="l" pos="6843600"/>
                <a:tab algn="l" pos="7203960"/>
                <a:tab algn="l" pos="7564320"/>
                <a:tab algn="l" pos="7889760"/>
                <a:tab algn="l" pos="8248320"/>
                <a:tab algn="l" pos="8607240"/>
                <a:tab algn="l" pos="8966160"/>
                <a:tab algn="l" pos="9324720"/>
                <a:tab algn="l" pos="9683640"/>
                <a:tab algn="l" pos="10042200"/>
                <a:tab algn="l" pos="10401120"/>
                <a:tab algn="l" pos="1076004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Each CGI request was run as a </a:t>
            </a:r>
            <a:r>
              <a:rPr b="0" lang="en-US" sz="2400" spc="-1" strike="noStrike">
                <a:solidFill>
                  <a:srgbClr val="000080"/>
                </a:solidFill>
                <a:latin typeface="Arial"/>
                <a:ea typeface="DejaVu Sans"/>
              </a:rPr>
              <a:t>separate process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, and it was the CGI app's responsibility to parse http requests, manage sessions, manage storage, etc.   </a:t>
            </a:r>
            <a:r>
              <a:rPr b="0" i="1" lang="en-US" sz="2400" spc="-1" strike="noStrike">
                <a:solidFill>
                  <a:srgbClr val="000080"/>
                </a:solidFill>
                <a:latin typeface="Arial"/>
                <a:ea typeface="DejaVu Sans"/>
              </a:rPr>
              <a:t>Very low performance due to per-invocation overhead.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23"/>
              </a:spcBef>
              <a:tabLst>
                <a:tab algn="l" pos="0"/>
                <a:tab algn="l" pos="10800"/>
                <a:tab algn="l" pos="369720"/>
                <a:tab algn="l" pos="728640"/>
                <a:tab algn="l" pos="1087200"/>
                <a:tab algn="l" pos="1446120"/>
                <a:tab algn="l" pos="1804680"/>
                <a:tab algn="l" pos="2163600"/>
                <a:tab algn="l" pos="2522520"/>
                <a:tab algn="l" pos="2881080"/>
                <a:tab algn="l" pos="3240000"/>
                <a:tab algn="l" pos="3598560"/>
                <a:tab algn="l" pos="3957480"/>
                <a:tab algn="l" pos="4316400"/>
                <a:tab algn="l" pos="4674960"/>
                <a:tab algn="l" pos="5033880"/>
                <a:tab algn="l" pos="5392440"/>
                <a:tab algn="l" pos="5751360"/>
                <a:tab algn="l" pos="6110280"/>
                <a:tab algn="l" pos="6468840"/>
                <a:tab algn="l" pos="6827760"/>
                <a:tab algn="l" pos="6843600"/>
                <a:tab algn="l" pos="7203960"/>
                <a:tab algn="l" pos="7564320"/>
                <a:tab algn="l" pos="7889760"/>
                <a:tab algn="l" pos="8248320"/>
                <a:tab algn="l" pos="8607240"/>
                <a:tab algn="l" pos="8966160"/>
                <a:tab algn="l" pos="9324720"/>
                <a:tab algn="l" pos="9683640"/>
                <a:tab algn="l" pos="10042200"/>
                <a:tab algn="l" pos="10401120"/>
                <a:tab algn="l" pos="1076004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CGI scripts (apps) often written in Perl, C, or Bash script.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61" name="CustomShape 3"/>
          <p:cNvSpPr/>
          <p:nvPr/>
        </p:nvSpPr>
        <p:spPr>
          <a:xfrm>
            <a:off x="365040" y="5211720"/>
            <a:ext cx="8411400" cy="639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362" name="" descr=""/>
          <p:cNvPicPr/>
          <p:nvPr/>
        </p:nvPicPr>
        <p:blipFill>
          <a:blip r:embed="rId1"/>
          <a:stretch/>
        </p:blipFill>
        <p:spPr>
          <a:xfrm>
            <a:off x="974880" y="4064040"/>
            <a:ext cx="7354080" cy="27932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1337</TotalTime>
  <Application>LibreOffice/6.4.7.2$Linux_X86_64 LibreOffice_project/40$Build-2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2004-08-31T06:54:20Z</dcterms:created>
  <dc:creator>Jim</dc:creator>
  <dc:description/>
  <dc:language>en-US</dc:language>
  <cp:lastModifiedBy/>
  <dcterms:modified xsi:type="dcterms:W3CDTF">2026-01-14T18:53:12Z</dcterms:modified>
  <cp:revision>52</cp:revision>
  <dc:subject/>
  <dc:title>Web Servers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5</vt:i4>
  </property>
</Properties>
</file>