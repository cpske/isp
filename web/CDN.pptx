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x="9144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4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1D85239A-D4BA-465B-BA89-DB765D0F83AC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1480" cy="3428640"/>
          </a:xfrm>
          <a:prstGeom prst="rect">
            <a:avLst/>
          </a:prstGeom>
        </p:spPr>
      </p:sp>
      <p:sp>
        <p:nvSpPr>
          <p:cNvPr id="106" name="CustomShape 2"/>
          <p:cNvSpPr/>
          <p:nvPr/>
        </p:nvSpPr>
        <p:spPr>
          <a:xfrm>
            <a:off x="685800" y="4343400"/>
            <a:ext cx="5486040" cy="4114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1480" cy="3428640"/>
          </a:xfrm>
          <a:prstGeom prst="rect">
            <a:avLst/>
          </a:prstGeom>
        </p:spPr>
      </p:sp>
      <p:sp>
        <p:nvSpPr>
          <p:cNvPr id="108" name="CustomShape 2"/>
          <p:cNvSpPr/>
          <p:nvPr/>
        </p:nvSpPr>
        <p:spPr>
          <a:xfrm>
            <a:off x="685800" y="4343400"/>
            <a:ext cx="5486040" cy="4114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1480" cy="3428640"/>
          </a:xfrm>
          <a:prstGeom prst="rect">
            <a:avLst/>
          </a:prstGeom>
        </p:spPr>
      </p:sp>
      <p:sp>
        <p:nvSpPr>
          <p:cNvPr id="110" name="CustomShape 2"/>
          <p:cNvSpPr/>
          <p:nvPr/>
        </p:nvSpPr>
        <p:spPr>
          <a:xfrm>
            <a:off x="685800" y="4343400"/>
            <a:ext cx="5486040" cy="4114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1480" cy="3428640"/>
          </a:xfrm>
          <a:prstGeom prst="rect">
            <a:avLst/>
          </a:prstGeom>
        </p:spPr>
      </p:sp>
      <p:sp>
        <p:nvSpPr>
          <p:cNvPr id="112" name="CustomShape 2"/>
          <p:cNvSpPr/>
          <p:nvPr/>
        </p:nvSpPr>
        <p:spPr>
          <a:xfrm>
            <a:off x="685800" y="4343400"/>
            <a:ext cx="5486040" cy="4114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1480" cy="3428640"/>
          </a:xfrm>
          <a:prstGeom prst="rect">
            <a:avLst/>
          </a:prstGeom>
        </p:spPr>
      </p:sp>
      <p:sp>
        <p:nvSpPr>
          <p:cNvPr id="114" name="CustomShape 2"/>
          <p:cNvSpPr/>
          <p:nvPr/>
        </p:nvSpPr>
        <p:spPr>
          <a:xfrm>
            <a:off x="685800" y="4343400"/>
            <a:ext cx="5486040" cy="4114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70320" cy="813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674640" y="1399680"/>
            <a:ext cx="7870680" cy="4412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70320" cy="813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74640" y="1399680"/>
            <a:ext cx="7870680" cy="4412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70320" cy="813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74640" y="1399680"/>
            <a:ext cx="3840840" cy="4412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708080" y="1399680"/>
            <a:ext cx="3840840" cy="4412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70320" cy="813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ubTitle"/>
          </p:nvPr>
        </p:nvSpPr>
        <p:spPr>
          <a:xfrm>
            <a:off x="610920" y="260280"/>
            <a:ext cx="7870320" cy="3774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70320" cy="813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74640" y="1399680"/>
            <a:ext cx="38408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708080" y="1399680"/>
            <a:ext cx="3840840" cy="4412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674640" y="3705120"/>
            <a:ext cx="38408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70320" cy="813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74640" y="1399680"/>
            <a:ext cx="3840840" cy="4412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708080" y="1399680"/>
            <a:ext cx="38408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708080" y="3705120"/>
            <a:ext cx="38408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70320" cy="813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74640" y="1399680"/>
            <a:ext cx="38408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708080" y="1399680"/>
            <a:ext cx="38408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74640" y="3705120"/>
            <a:ext cx="787068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70320" cy="813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74640" y="1399680"/>
            <a:ext cx="787068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74640" y="3705120"/>
            <a:ext cx="787068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70320" cy="813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74640" y="1399680"/>
            <a:ext cx="38408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708080" y="1399680"/>
            <a:ext cx="38408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74640" y="3705120"/>
            <a:ext cx="38408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708080" y="3705120"/>
            <a:ext cx="38408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70320" cy="813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74640" y="1399680"/>
            <a:ext cx="25340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3335760" y="1399680"/>
            <a:ext cx="25340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5996880" y="1399680"/>
            <a:ext cx="25340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74640" y="3705120"/>
            <a:ext cx="25340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body"/>
          </p:nvPr>
        </p:nvSpPr>
        <p:spPr>
          <a:xfrm>
            <a:off x="3335760" y="3705120"/>
            <a:ext cx="25340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body"/>
          </p:nvPr>
        </p:nvSpPr>
        <p:spPr>
          <a:xfrm>
            <a:off x="5996880" y="3705120"/>
            <a:ext cx="25340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70320" cy="813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674640" y="1399680"/>
            <a:ext cx="7870680" cy="4412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70320" cy="813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74640" y="1399680"/>
            <a:ext cx="7870680" cy="4412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70320" cy="813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74640" y="1399680"/>
            <a:ext cx="3840840" cy="4412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708080" y="1399680"/>
            <a:ext cx="3840840" cy="4412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70320" cy="813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ubTitle"/>
          </p:nvPr>
        </p:nvSpPr>
        <p:spPr>
          <a:xfrm>
            <a:off x="610920" y="260280"/>
            <a:ext cx="7870320" cy="3774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70320" cy="813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74640" y="1399680"/>
            <a:ext cx="38408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708080" y="1399680"/>
            <a:ext cx="3840840" cy="4412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74640" y="3705120"/>
            <a:ext cx="38408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70320" cy="813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74640" y="1399680"/>
            <a:ext cx="3840840" cy="4412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708080" y="1399680"/>
            <a:ext cx="38408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708080" y="3705120"/>
            <a:ext cx="38408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70320" cy="813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74640" y="1399680"/>
            <a:ext cx="38408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708080" y="1399680"/>
            <a:ext cx="38408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74640" y="3705120"/>
            <a:ext cx="787068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70320" cy="813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74640" y="1399680"/>
            <a:ext cx="787068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674640" y="3705120"/>
            <a:ext cx="787068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70320" cy="813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74640" y="1399680"/>
            <a:ext cx="38408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4708080" y="1399680"/>
            <a:ext cx="38408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674640" y="3705120"/>
            <a:ext cx="38408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4708080" y="3705120"/>
            <a:ext cx="38408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70320" cy="813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74640" y="1399680"/>
            <a:ext cx="25340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3335760" y="1399680"/>
            <a:ext cx="25340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5996880" y="1399680"/>
            <a:ext cx="25340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74640" y="3705120"/>
            <a:ext cx="25340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body"/>
          </p:nvPr>
        </p:nvSpPr>
        <p:spPr>
          <a:xfrm>
            <a:off x="3335760" y="3705120"/>
            <a:ext cx="25340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8" name="PlaceHolder 7"/>
          <p:cNvSpPr>
            <a:spLocks noGrp="1"/>
          </p:cNvSpPr>
          <p:nvPr>
            <p:ph type="body"/>
          </p:nvPr>
        </p:nvSpPr>
        <p:spPr>
          <a:xfrm>
            <a:off x="5996880" y="3705120"/>
            <a:ext cx="2534040" cy="210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1"/>
          <p:cNvGrpSpPr/>
          <p:nvPr/>
        </p:nvGrpSpPr>
        <p:grpSpPr>
          <a:xfrm>
            <a:off x="0" y="2438280"/>
            <a:ext cx="8957880" cy="1001520"/>
            <a:chOff x="0" y="2438280"/>
            <a:chExt cx="8957880" cy="1001520"/>
          </a:xfrm>
        </p:grpSpPr>
        <p:grpSp>
          <p:nvGrpSpPr>
            <p:cNvPr id="1" name="Group 2"/>
            <p:cNvGrpSpPr/>
            <p:nvPr/>
          </p:nvGrpSpPr>
          <p:grpSpPr>
            <a:xfrm>
              <a:off x="290520" y="2546280"/>
              <a:ext cx="659880" cy="423720"/>
              <a:chOff x="290520" y="2546280"/>
              <a:chExt cx="659880" cy="423720"/>
            </a:xfrm>
          </p:grpSpPr>
          <p:sp>
            <p:nvSpPr>
              <p:cNvPr id="2" name="CustomShape 3"/>
              <p:cNvSpPr/>
              <p:nvPr/>
            </p:nvSpPr>
            <p:spPr>
              <a:xfrm>
                <a:off x="290520" y="2546280"/>
                <a:ext cx="387000" cy="423720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" name="CustomShape 4"/>
              <p:cNvSpPr/>
              <p:nvPr/>
            </p:nvSpPr>
            <p:spPr>
              <a:xfrm>
                <a:off x="673200" y="2546280"/>
                <a:ext cx="277200" cy="423720"/>
              </a:xfrm>
              <a:prstGeom prst="rect">
                <a:avLst/>
              </a:prstGeom>
              <a:gradFill rotWithShape="0">
                <a:gsLst>
                  <a:gs pos="0">
                    <a:srgbClr val="3333cc"/>
                  </a:gs>
                  <a:gs pos="100000">
                    <a:srgbClr val="ffffff"/>
                  </a:gs>
                </a:gsLst>
                <a:lin ang="10800000"/>
              </a:gra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" name="Group 5"/>
            <p:cNvGrpSpPr/>
            <p:nvPr/>
          </p:nvGrpSpPr>
          <p:grpSpPr>
            <a:xfrm>
              <a:off x="414360" y="2968560"/>
              <a:ext cx="686520" cy="423720"/>
              <a:chOff x="414360" y="2968560"/>
              <a:chExt cx="686520" cy="423720"/>
            </a:xfrm>
          </p:grpSpPr>
          <p:sp>
            <p:nvSpPr>
              <p:cNvPr id="5" name="CustomShape 6"/>
              <p:cNvSpPr/>
              <p:nvPr/>
            </p:nvSpPr>
            <p:spPr>
              <a:xfrm>
                <a:off x="414360" y="2968560"/>
                <a:ext cx="421200" cy="423720"/>
              </a:xfrm>
              <a:prstGeom prst="rect">
                <a:avLst/>
              </a:prstGeom>
              <a:solidFill>
                <a:srgbClr val="ffcf01"/>
              </a:soli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" name="CustomShape 7"/>
              <p:cNvSpPr/>
              <p:nvPr/>
            </p:nvSpPr>
            <p:spPr>
              <a:xfrm>
                <a:off x="783360" y="2968560"/>
                <a:ext cx="317520" cy="423720"/>
              </a:xfrm>
              <a:prstGeom prst="rect">
                <a:avLst/>
              </a:prstGeom>
              <a:gradFill rotWithShape="0">
                <a:gsLst>
                  <a:gs pos="0">
                    <a:srgbClr val="ffcf01"/>
                  </a:gs>
                  <a:gs pos="100000">
                    <a:srgbClr val="ffffff"/>
                  </a:gs>
                </a:gsLst>
                <a:lin ang="10800000"/>
              </a:gra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7" name="CustomShape 8"/>
            <p:cNvSpPr/>
            <p:nvPr/>
          </p:nvSpPr>
          <p:spPr>
            <a:xfrm>
              <a:off x="0" y="2895480"/>
              <a:ext cx="509400" cy="371160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810000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" name="CustomShape 9"/>
            <p:cNvSpPr/>
            <p:nvPr/>
          </p:nvSpPr>
          <p:spPr>
            <a:xfrm>
              <a:off x="635040" y="2438280"/>
              <a:ext cx="360" cy="1001520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" name="CustomShape 10"/>
            <p:cNvSpPr/>
            <p:nvPr/>
          </p:nvSpPr>
          <p:spPr>
            <a:xfrm flipV="1">
              <a:off x="316080" y="3259440"/>
              <a:ext cx="8641800" cy="4320"/>
            </a:xfrm>
            <a:prstGeom prst="rect">
              <a:avLst/>
            </a:prstGeom>
            <a:gradFill rotWithShape="0">
              <a:gsLst>
                <a:gs pos="0">
                  <a:srgbClr val="1c1c1c"/>
                </a:gs>
                <a:gs pos="100000">
                  <a:srgbClr val="ffffff"/>
                </a:gs>
              </a:gsLst>
              <a:lin ang="1080000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" name="PlaceHolder 1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70320" cy="813960"/>
          </a:xfrm>
          <a:prstGeom prst="rect">
            <a:avLst/>
          </a:prstGeom>
        </p:spPr>
        <p:txBody>
          <a:bodyPr lIns="90000" rIns="90000" tIns="46800" bIns="46800" anchor="ctr" anchorCtr="1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" name="PlaceHolder 1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1"/>
          <p:cNvGrpSpPr/>
          <p:nvPr/>
        </p:nvGrpSpPr>
        <p:grpSpPr>
          <a:xfrm>
            <a:off x="189000" y="368280"/>
            <a:ext cx="8175240" cy="1001520"/>
            <a:chOff x="189000" y="368280"/>
            <a:chExt cx="8175240" cy="1001520"/>
          </a:xfrm>
        </p:grpSpPr>
        <p:sp>
          <p:nvSpPr>
            <p:cNvPr id="49" name="CustomShape 2"/>
            <p:cNvSpPr/>
            <p:nvPr/>
          </p:nvSpPr>
          <p:spPr>
            <a:xfrm>
              <a:off x="507960" y="368280"/>
              <a:ext cx="360" cy="100152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" name="CustomShape 3"/>
            <p:cNvSpPr/>
            <p:nvPr/>
          </p:nvSpPr>
          <p:spPr>
            <a:xfrm>
              <a:off x="189000" y="1158840"/>
              <a:ext cx="8175240" cy="360"/>
            </a:xfrm>
            <a:prstGeom prst="rect">
              <a:avLst/>
            </a:prstGeom>
            <a:gradFill rotWithShape="0">
              <a:gsLst>
                <a:gs pos="0">
                  <a:srgbClr val="1c1c1c"/>
                </a:gs>
                <a:gs pos="100000">
                  <a:srgbClr val="ffffff"/>
                </a:gs>
              </a:gsLst>
              <a:lin ang="1080000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1" name="PlaceHolder 4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70320" cy="813960"/>
          </a:xfrm>
          <a:prstGeom prst="rect">
            <a:avLst/>
          </a:prstGeom>
        </p:spPr>
        <p:txBody>
          <a:bodyPr lIns="90000" rIns="90000" tIns="46800" bIns="46800" anchor="ctr" anchorCtr="1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74640" y="1399680"/>
            <a:ext cx="7870680" cy="44128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990720" y="1676160"/>
            <a:ext cx="7446600" cy="1461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3960"/>
                <a:tab algn="l" pos="753084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4000" spc="-1" strike="noStrike">
                <a:solidFill>
                  <a:srgbClr val="333399"/>
                </a:solidFill>
                <a:latin typeface="Arial"/>
              </a:rPr>
              <a:t>Content Delivery Networks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96" name="CustomShape 2"/>
          <p:cNvSpPr/>
          <p:nvPr/>
        </p:nvSpPr>
        <p:spPr>
          <a:xfrm>
            <a:off x="1371600" y="3886200"/>
            <a:ext cx="6765480" cy="175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Autofit/>
          </a:bodyPr>
          <a:p>
            <a:pPr algn="ctr"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10800"/>
                <a:tab algn="l" pos="369720"/>
                <a:tab algn="l" pos="728640"/>
                <a:tab algn="l" pos="1087200"/>
                <a:tab algn="l" pos="1446120"/>
                <a:tab algn="l" pos="1804680"/>
                <a:tab algn="l" pos="2163600"/>
                <a:tab algn="l" pos="2522520"/>
                <a:tab algn="l" pos="2881080"/>
                <a:tab algn="l" pos="3240000"/>
                <a:tab algn="l" pos="3598560"/>
                <a:tab algn="l" pos="3957480"/>
                <a:tab algn="l" pos="4316400"/>
                <a:tab algn="l" pos="4674960"/>
                <a:tab algn="l" pos="5033880"/>
                <a:tab algn="l" pos="5392440"/>
                <a:tab algn="l" pos="5751360"/>
                <a:tab algn="l" pos="6110280"/>
                <a:tab algn="l" pos="6468840"/>
                <a:tab algn="l" pos="6827760"/>
                <a:tab algn="l" pos="7172280"/>
                <a:tab algn="l" pos="753084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10800"/>
                <a:tab algn="l" pos="369720"/>
                <a:tab algn="l" pos="728640"/>
                <a:tab algn="l" pos="1087200"/>
                <a:tab algn="l" pos="1446120"/>
                <a:tab algn="l" pos="1804680"/>
                <a:tab algn="l" pos="2163600"/>
                <a:tab algn="l" pos="2522520"/>
                <a:tab algn="l" pos="2881080"/>
                <a:tab algn="l" pos="3240000"/>
                <a:tab algn="l" pos="3598560"/>
                <a:tab algn="l" pos="3957480"/>
                <a:tab algn="l" pos="4316400"/>
                <a:tab algn="l" pos="4674960"/>
                <a:tab algn="l" pos="5033880"/>
                <a:tab algn="l" pos="5392440"/>
                <a:tab algn="l" pos="5751360"/>
                <a:tab algn="l" pos="6110280"/>
                <a:tab algn="l" pos="6468840"/>
                <a:tab algn="l" pos="6827760"/>
                <a:tab algn="l" pos="7172280"/>
                <a:tab algn="l" pos="753084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/>
          <p:cNvSpPr/>
          <p:nvPr/>
        </p:nvSpPr>
        <p:spPr>
          <a:xfrm>
            <a:off x="611280" y="259920"/>
            <a:ext cx="7921080" cy="864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Content Delivery Networks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8" name="CustomShape 2"/>
          <p:cNvSpPr/>
          <p:nvPr/>
        </p:nvSpPr>
        <p:spPr>
          <a:xfrm>
            <a:off x="674280" y="1399680"/>
            <a:ext cx="7921440" cy="509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291960" indent="-291600">
              <a:lnSpc>
                <a:spcPct val="100000"/>
              </a:lnSpc>
              <a:spcBef>
                <a:spcPts val="1423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1960"/>
                <a:tab algn="l" pos="306360"/>
                <a:tab algn="l" pos="664920"/>
                <a:tab algn="l" pos="1023840"/>
                <a:tab algn="l" pos="1382400"/>
                <a:tab algn="l" pos="1741320"/>
                <a:tab algn="l" pos="2100240"/>
                <a:tab algn="l" pos="2458800"/>
                <a:tab algn="l" pos="2817720"/>
                <a:tab algn="l" pos="3176280"/>
                <a:tab algn="l" pos="3535200"/>
                <a:tab algn="l" pos="3894120"/>
                <a:tab algn="l" pos="4252680"/>
                <a:tab algn="l" pos="4611600"/>
                <a:tab algn="l" pos="4970160"/>
                <a:tab algn="l" pos="5329080"/>
                <a:tab algn="l" pos="5688000"/>
                <a:tab algn="l" pos="6046560"/>
                <a:tab algn="l" pos="6405480"/>
                <a:tab algn="l" pos="6764040"/>
                <a:tab algn="l" pos="712296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Akamai, Digital Island, etc.</a:t>
            </a:r>
            <a:endParaRPr b="0" lang="en-US" sz="2000" spc="-1" strike="noStrike">
              <a:latin typeface="Arial"/>
            </a:endParaRPr>
          </a:p>
          <a:p>
            <a:pPr marL="291960" indent="-291600">
              <a:lnSpc>
                <a:spcPct val="100000"/>
              </a:lnSpc>
              <a:spcBef>
                <a:spcPts val="1423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1960"/>
                <a:tab algn="l" pos="306360"/>
                <a:tab algn="l" pos="664920"/>
                <a:tab algn="l" pos="1023840"/>
                <a:tab algn="l" pos="1382400"/>
                <a:tab algn="l" pos="1741320"/>
                <a:tab algn="l" pos="2100240"/>
                <a:tab algn="l" pos="2458800"/>
                <a:tab algn="l" pos="2817720"/>
                <a:tab algn="l" pos="3176280"/>
                <a:tab algn="l" pos="3535200"/>
                <a:tab algn="l" pos="3894120"/>
                <a:tab algn="l" pos="4252680"/>
                <a:tab algn="l" pos="4611600"/>
                <a:tab algn="l" pos="4970160"/>
                <a:tab algn="l" pos="5329080"/>
                <a:tab algn="l" pos="5688000"/>
                <a:tab algn="l" pos="6046560"/>
                <a:tab algn="l" pos="6405480"/>
                <a:tab algn="l" pos="6764040"/>
                <a:tab algn="l" pos="712296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 network of servers that replicates content (such as images and video) at many different sites around the world.</a:t>
            </a:r>
            <a:endParaRPr b="0" lang="en-US" sz="2000" spc="-1" strike="noStrike">
              <a:latin typeface="Arial"/>
            </a:endParaRPr>
          </a:p>
          <a:p>
            <a:pPr marL="291960" indent="-291600">
              <a:lnSpc>
                <a:spcPct val="100000"/>
              </a:lnSpc>
              <a:spcBef>
                <a:spcPts val="1423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1960"/>
                <a:tab algn="l" pos="306360"/>
                <a:tab algn="l" pos="664920"/>
                <a:tab algn="l" pos="1023840"/>
                <a:tab algn="l" pos="1382400"/>
                <a:tab algn="l" pos="1741320"/>
                <a:tab algn="l" pos="2100240"/>
                <a:tab algn="l" pos="2458800"/>
                <a:tab algn="l" pos="2817720"/>
                <a:tab algn="l" pos="3176280"/>
                <a:tab algn="l" pos="3535200"/>
                <a:tab algn="l" pos="3894120"/>
                <a:tab algn="l" pos="4252680"/>
                <a:tab algn="l" pos="4611600"/>
                <a:tab algn="l" pos="4970160"/>
                <a:tab algn="l" pos="5329080"/>
                <a:tab algn="l" pos="5688000"/>
                <a:tab algn="l" pos="6046560"/>
                <a:tab algn="l" pos="6405480"/>
                <a:tab algn="l" pos="6764040"/>
                <a:tab algn="l" pos="712296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When a web browser requests content (image, video), the CDN delivers it from the closest site! </a:t>
            </a:r>
            <a:endParaRPr b="0" lang="en-US" sz="2000" spc="-1" strike="noStrike">
              <a:latin typeface="Arial"/>
            </a:endParaRPr>
          </a:p>
          <a:p>
            <a:pPr marL="291960" indent="-291600">
              <a:lnSpc>
                <a:spcPct val="100000"/>
              </a:lnSpc>
              <a:spcBef>
                <a:spcPts val="1423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1960"/>
                <a:tab algn="l" pos="306360"/>
                <a:tab algn="l" pos="664920"/>
                <a:tab algn="l" pos="1023840"/>
                <a:tab algn="l" pos="1382400"/>
                <a:tab algn="l" pos="1741320"/>
                <a:tab algn="l" pos="2100240"/>
                <a:tab algn="l" pos="2458800"/>
                <a:tab algn="l" pos="2817720"/>
                <a:tab algn="l" pos="3176280"/>
                <a:tab algn="l" pos="3535200"/>
                <a:tab algn="l" pos="3894120"/>
                <a:tab algn="l" pos="4252680"/>
                <a:tab algn="l" pos="4611600"/>
                <a:tab algn="l" pos="4970160"/>
                <a:tab algn="l" pos="5329080"/>
                <a:tab algn="l" pos="5688000"/>
                <a:tab algn="l" pos="6046560"/>
                <a:tab algn="l" pos="6405480"/>
                <a:tab algn="l" pos="6764040"/>
                <a:tab algn="l" pos="712296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It does this by cleverly directing your web browser to a CDN host that is </a:t>
            </a:r>
            <a:r>
              <a:rPr b="0" lang="en-US" sz="2000" spc="-1" strike="noStrike">
                <a:solidFill>
                  <a:srgbClr val="ce181e"/>
                </a:solidFill>
                <a:latin typeface="Arial"/>
              </a:rPr>
              <a:t>closest to your location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latin typeface="Arial"/>
            </a:endParaRPr>
          </a:p>
          <a:p>
            <a:pPr marL="303120" indent="-29196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ustomShape 1"/>
          <p:cNvSpPr/>
          <p:nvPr/>
        </p:nvSpPr>
        <p:spPr>
          <a:xfrm>
            <a:off x="611280" y="259920"/>
            <a:ext cx="7921080" cy="864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CDN Example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0" name="CustomShape 2"/>
          <p:cNvSpPr/>
          <p:nvPr/>
        </p:nvSpPr>
        <p:spPr>
          <a:xfrm>
            <a:off x="674280" y="1399680"/>
            <a:ext cx="7921440" cy="509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10800"/>
                <a:tab algn="l" pos="369720"/>
                <a:tab algn="l" pos="728640"/>
                <a:tab algn="l" pos="1087200"/>
                <a:tab algn="l" pos="1446120"/>
                <a:tab algn="l" pos="1804680"/>
                <a:tab algn="l" pos="2163600"/>
                <a:tab algn="l" pos="2522520"/>
                <a:tab algn="l" pos="2881080"/>
                <a:tab algn="l" pos="3240000"/>
                <a:tab algn="l" pos="3598560"/>
                <a:tab algn="l" pos="3957480"/>
                <a:tab algn="l" pos="4316400"/>
                <a:tab algn="l" pos="4674960"/>
                <a:tab algn="l" pos="5033880"/>
                <a:tab algn="l" pos="5392440"/>
                <a:tab algn="l" pos="5751360"/>
                <a:tab algn="l" pos="6110280"/>
                <a:tab algn="l" pos="6468840"/>
                <a:tab algn="l" pos="6827760"/>
                <a:tab algn="l" pos="684360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You visit www.cnn.com &amp; the web page contains images.  Each image has a URL like this: </a:t>
            </a:r>
            <a:endParaRPr b="0" lang="en-US" sz="2000" spc="-1" strike="noStrike">
              <a:latin typeface="Arial"/>
            </a:endParaRPr>
          </a:p>
          <a:p>
            <a:pPr marL="328320" indent="-29160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&lt;img src="https://</a:t>
            </a:r>
            <a:r>
              <a:rPr b="0" lang="en-US" sz="2000" spc="-1" strike="noStrike">
                <a:solidFill>
                  <a:srgbClr val="ce181e"/>
                </a:solidFill>
                <a:latin typeface="Arial"/>
              </a:rPr>
              <a:t>cdn.cnn.com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/assets/images/sports.gif"&gt; </a:t>
            </a:r>
            <a:endParaRPr b="0" lang="en-US" sz="2000" spc="-1" strike="noStrike">
              <a:latin typeface="Arial"/>
            </a:endParaRPr>
          </a:p>
          <a:p>
            <a:pPr marL="291960" indent="-291600">
              <a:lnSpc>
                <a:spcPct val="100000"/>
              </a:lnSpc>
              <a:spcBef>
                <a:spcPts val="1423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0"/>
                <a:tab algn="l" pos="10800"/>
                <a:tab algn="l" pos="369720"/>
                <a:tab algn="l" pos="728640"/>
                <a:tab algn="l" pos="1087200"/>
                <a:tab algn="l" pos="1446120"/>
                <a:tab algn="l" pos="1804680"/>
                <a:tab algn="l" pos="2163600"/>
                <a:tab algn="l" pos="2522520"/>
                <a:tab algn="l" pos="2881080"/>
                <a:tab algn="l" pos="3240000"/>
                <a:tab algn="l" pos="3598560"/>
                <a:tab algn="l" pos="3957480"/>
                <a:tab algn="l" pos="4316400"/>
                <a:tab algn="l" pos="4674960"/>
                <a:tab algn="l" pos="5033880"/>
                <a:tab algn="l" pos="5392440"/>
                <a:tab algn="l" pos="5751360"/>
                <a:tab algn="l" pos="6110280"/>
                <a:tab algn="l" pos="6468840"/>
                <a:tab algn="l" pos="6827760"/>
                <a:tab algn="l" pos="684360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"</a:t>
            </a:r>
            <a:r>
              <a:rPr b="0" lang="en-US" sz="2000" spc="-1" strike="noStrike">
                <a:solidFill>
                  <a:srgbClr val="ce181e"/>
                </a:solidFill>
                <a:latin typeface="Arial"/>
              </a:rPr>
              <a:t>cdn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.cnn.com" refers to a CDN provider like Akamai.</a:t>
            </a:r>
            <a:endParaRPr b="0" lang="en-US" sz="2000" spc="-1" strike="noStrike">
              <a:latin typeface="Arial"/>
            </a:endParaRPr>
          </a:p>
          <a:p>
            <a:pPr marL="291960" indent="-291600">
              <a:lnSpc>
                <a:spcPct val="100000"/>
              </a:lnSpc>
              <a:spcBef>
                <a:spcPts val="1423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0"/>
                <a:tab algn="l" pos="10800"/>
                <a:tab algn="l" pos="369720"/>
                <a:tab algn="l" pos="728640"/>
                <a:tab algn="l" pos="1087200"/>
                <a:tab algn="l" pos="1446120"/>
                <a:tab algn="l" pos="1804680"/>
                <a:tab algn="l" pos="2163600"/>
                <a:tab algn="l" pos="2522520"/>
                <a:tab algn="l" pos="2881080"/>
                <a:tab algn="l" pos="3240000"/>
                <a:tab algn="l" pos="3598560"/>
                <a:tab algn="l" pos="3957480"/>
                <a:tab algn="l" pos="4316400"/>
                <a:tab algn="l" pos="4674960"/>
                <a:tab algn="l" pos="5033880"/>
                <a:tab algn="l" pos="5392440"/>
                <a:tab algn="l" pos="5751360"/>
                <a:tab algn="l" pos="6110280"/>
                <a:tab algn="l" pos="6468840"/>
                <a:tab algn="l" pos="6827760"/>
                <a:tab algn="l" pos="684360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Your web browser sends a DNS request to get the IP address of "</a:t>
            </a:r>
            <a:r>
              <a:rPr b="0" lang="en-US" sz="2000" spc="-1" strike="noStrike">
                <a:solidFill>
                  <a:srgbClr val="ce181e"/>
                </a:solidFill>
                <a:latin typeface="Arial"/>
              </a:rPr>
              <a:t>cdn.cnn.com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". </a:t>
            </a:r>
            <a:br/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(It does this the first time only, then remembers the IP address for a while.)</a:t>
            </a:r>
            <a:endParaRPr b="0" lang="en-US" sz="2000" spc="-1" strike="noStrike">
              <a:latin typeface="Arial"/>
            </a:endParaRPr>
          </a:p>
          <a:p>
            <a:pPr marL="291960" indent="-291600">
              <a:lnSpc>
                <a:spcPct val="100000"/>
              </a:lnSpc>
              <a:spcBef>
                <a:spcPts val="1423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0"/>
                <a:tab algn="l" pos="10800"/>
                <a:tab algn="l" pos="369720"/>
                <a:tab algn="l" pos="728640"/>
                <a:tab algn="l" pos="1087200"/>
                <a:tab algn="l" pos="1446120"/>
                <a:tab algn="l" pos="1804680"/>
                <a:tab algn="l" pos="2163600"/>
                <a:tab algn="l" pos="2522520"/>
                <a:tab algn="l" pos="2881080"/>
                <a:tab algn="l" pos="3240000"/>
                <a:tab algn="l" pos="3598560"/>
                <a:tab algn="l" pos="3957480"/>
                <a:tab algn="l" pos="4316400"/>
                <a:tab algn="l" pos="4674960"/>
                <a:tab algn="l" pos="5033880"/>
                <a:tab algn="l" pos="5392440"/>
                <a:tab algn="l" pos="5751360"/>
                <a:tab algn="l" pos="6110280"/>
                <a:tab algn="l" pos="6468840"/>
                <a:tab algn="l" pos="6827760"/>
                <a:tab algn="l" pos="684360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"cdn.cnn.com" has </a:t>
            </a:r>
            <a:r>
              <a:rPr b="0" lang="en-US" sz="2000" spc="-1" strike="noStrike" u="sng">
                <a:solidFill>
                  <a:srgbClr val="000000"/>
                </a:solidFill>
                <a:uFillTx/>
                <a:latin typeface="Arial"/>
              </a:rPr>
              <a:t>many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IP addresses -- their DNS server returns the IP address of the server </a:t>
            </a:r>
            <a:r>
              <a:rPr b="1" lang="en-US" sz="2000" spc="-1" strike="noStrike">
                <a:solidFill>
                  <a:srgbClr val="ce181e"/>
                </a:solidFill>
                <a:latin typeface="Arial"/>
              </a:rPr>
              <a:t>closest to your location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latin typeface="Arial"/>
            </a:endParaRPr>
          </a:p>
          <a:p>
            <a:pPr marL="291960" indent="-291600">
              <a:lnSpc>
                <a:spcPct val="100000"/>
              </a:lnSpc>
              <a:spcBef>
                <a:spcPts val="1423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0"/>
                <a:tab algn="l" pos="10800"/>
                <a:tab algn="l" pos="369720"/>
                <a:tab algn="l" pos="728640"/>
                <a:tab algn="l" pos="1087200"/>
                <a:tab algn="l" pos="1446120"/>
                <a:tab algn="l" pos="1804680"/>
                <a:tab algn="l" pos="2163600"/>
                <a:tab algn="l" pos="2522520"/>
                <a:tab algn="l" pos="2881080"/>
                <a:tab algn="l" pos="3240000"/>
                <a:tab algn="l" pos="3598560"/>
                <a:tab algn="l" pos="3957480"/>
                <a:tab algn="l" pos="4316400"/>
                <a:tab algn="l" pos="4674960"/>
                <a:tab algn="l" pos="5033880"/>
                <a:tab algn="l" pos="5392440"/>
                <a:tab algn="l" pos="5751360"/>
                <a:tab algn="l" pos="6110280"/>
                <a:tab algn="l" pos="6468840"/>
                <a:tab algn="l" pos="6827760"/>
                <a:tab algn="l" pos="684360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Your browser gets the images from the CDN server </a:t>
            </a:r>
            <a:r>
              <a:rPr b="0" lang="en-US" sz="2000" spc="-1" strike="noStrike">
                <a:solidFill>
                  <a:srgbClr val="ce181e"/>
                </a:solidFill>
                <a:latin typeface="Arial"/>
              </a:rPr>
              <a:t>closest to you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 All the CDN servers have identical copies of all the content.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611280" y="259920"/>
            <a:ext cx="7921080" cy="864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Web Caching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2" name="CustomShape 2"/>
          <p:cNvSpPr/>
          <p:nvPr/>
        </p:nvSpPr>
        <p:spPr>
          <a:xfrm>
            <a:off x="674280" y="1399680"/>
            <a:ext cx="7921440" cy="44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 fontScale="94000"/>
          </a:bodyPr>
          <a:p>
            <a:pPr marL="291960" indent="-291600">
              <a:lnSpc>
                <a:spcPct val="100000"/>
              </a:lnSpc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1960"/>
                <a:tab algn="l" pos="306360"/>
                <a:tab algn="l" pos="664920"/>
                <a:tab algn="l" pos="1023840"/>
                <a:tab algn="l" pos="1382400"/>
                <a:tab algn="l" pos="1741320"/>
                <a:tab algn="l" pos="2100240"/>
                <a:tab algn="l" pos="2458800"/>
                <a:tab algn="l" pos="2817720"/>
                <a:tab algn="l" pos="3176280"/>
                <a:tab algn="l" pos="3535200"/>
                <a:tab algn="l" pos="3894120"/>
                <a:tab algn="l" pos="4252680"/>
                <a:tab algn="l" pos="4611600"/>
                <a:tab algn="l" pos="4970160"/>
                <a:tab algn="l" pos="5329080"/>
                <a:tab algn="l" pos="5688000"/>
                <a:tab algn="l" pos="6046560"/>
                <a:tab algn="l" pos="6405480"/>
                <a:tab algn="l" pos="6764040"/>
                <a:tab algn="l" pos="712296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Caching is </a:t>
            </a:r>
            <a:r>
              <a:rPr b="0" lang="en-US" sz="2400" spc="-1" strike="noStrike" u="sng">
                <a:solidFill>
                  <a:srgbClr val="000000"/>
                </a:solidFill>
                <a:uFillTx/>
                <a:latin typeface="Arial"/>
              </a:rPr>
              <a:t>critical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to performance of the web</a:t>
            </a:r>
            <a:endParaRPr b="0" lang="en-US" sz="2400" spc="-1" strike="noStrike">
              <a:latin typeface="Arial"/>
            </a:endParaRPr>
          </a:p>
          <a:p>
            <a:pPr marL="291960" indent="-291600">
              <a:lnSpc>
                <a:spcPct val="100000"/>
              </a:lnSpc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1960"/>
                <a:tab algn="l" pos="306360"/>
                <a:tab algn="l" pos="664920"/>
                <a:tab algn="l" pos="1023840"/>
                <a:tab algn="l" pos="1382400"/>
                <a:tab algn="l" pos="1741320"/>
                <a:tab algn="l" pos="2100240"/>
                <a:tab algn="l" pos="2458800"/>
                <a:tab algn="l" pos="2817720"/>
                <a:tab algn="l" pos="3176280"/>
                <a:tab algn="l" pos="3535200"/>
                <a:tab algn="l" pos="3894120"/>
                <a:tab algn="l" pos="4252680"/>
                <a:tab algn="l" pos="4611600"/>
                <a:tab algn="l" pos="4970160"/>
                <a:tab algn="l" pos="5329080"/>
                <a:tab algn="l" pos="5688000"/>
                <a:tab algn="l" pos="6046560"/>
                <a:tab algn="l" pos="6405480"/>
                <a:tab algn="l" pos="6764040"/>
                <a:tab algn="l" pos="712296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Multiple levels of caching:</a:t>
            </a:r>
            <a:endParaRPr b="0" lang="en-US" sz="2400" spc="-1" strike="noStrike">
              <a:latin typeface="Arial"/>
            </a:endParaRPr>
          </a:p>
          <a:p>
            <a:pPr lvl="1" marL="1450800" indent="-53604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Font typeface="Times New Roman"/>
              <a:buChar char="–"/>
              <a:tabLst>
                <a:tab algn="l" pos="291960"/>
                <a:tab algn="l" pos="306360"/>
                <a:tab algn="l" pos="664920"/>
                <a:tab algn="l" pos="1023840"/>
                <a:tab algn="l" pos="1382400"/>
                <a:tab algn="l" pos="1741320"/>
                <a:tab algn="l" pos="2100240"/>
                <a:tab algn="l" pos="2458800"/>
                <a:tab algn="l" pos="2817720"/>
                <a:tab algn="l" pos="3176280"/>
                <a:tab algn="l" pos="3535200"/>
                <a:tab algn="l" pos="3894120"/>
                <a:tab algn="l" pos="4252680"/>
                <a:tab algn="l" pos="4611600"/>
                <a:tab algn="l" pos="4970160"/>
                <a:tab algn="l" pos="5329080"/>
                <a:tab algn="l" pos="5688000"/>
                <a:tab algn="l" pos="6046560"/>
                <a:tab algn="l" pos="6405480"/>
                <a:tab algn="l" pos="6764040"/>
                <a:tab algn="l" pos="712296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client (web browser caches content)</a:t>
            </a:r>
            <a:endParaRPr b="0" lang="en-US" sz="2400" spc="-1" strike="noStrike">
              <a:latin typeface="Arial"/>
            </a:endParaRPr>
          </a:p>
          <a:p>
            <a:pPr lvl="1" marL="1450800" indent="-53604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Font typeface="Times New Roman"/>
              <a:buChar char="–"/>
              <a:tabLst>
                <a:tab algn="l" pos="291960"/>
                <a:tab algn="l" pos="306360"/>
                <a:tab algn="l" pos="664920"/>
                <a:tab algn="l" pos="1023840"/>
                <a:tab algn="l" pos="1382400"/>
                <a:tab algn="l" pos="1741320"/>
                <a:tab algn="l" pos="2100240"/>
                <a:tab algn="l" pos="2458800"/>
                <a:tab algn="l" pos="2817720"/>
                <a:tab algn="l" pos="3176280"/>
                <a:tab algn="l" pos="3535200"/>
                <a:tab algn="l" pos="3894120"/>
                <a:tab algn="l" pos="4252680"/>
                <a:tab algn="l" pos="4611600"/>
                <a:tab algn="l" pos="4970160"/>
                <a:tab algn="l" pos="5329080"/>
                <a:tab algn="l" pos="5688000"/>
                <a:tab algn="l" pos="6046560"/>
                <a:tab algn="l" pos="6405480"/>
                <a:tab algn="l" pos="6764040"/>
                <a:tab algn="l" pos="712296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server (manually configured cache)</a:t>
            </a:r>
            <a:endParaRPr b="0" lang="en-US" sz="2400" spc="-1" strike="noStrike">
              <a:latin typeface="Arial"/>
            </a:endParaRPr>
          </a:p>
          <a:p>
            <a:pPr lvl="1" marL="1450800" indent="-53604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Font typeface="Times New Roman"/>
              <a:buChar char="–"/>
              <a:tabLst>
                <a:tab algn="l" pos="291960"/>
                <a:tab algn="l" pos="306360"/>
                <a:tab algn="l" pos="664920"/>
                <a:tab algn="l" pos="1023840"/>
                <a:tab algn="l" pos="1382400"/>
                <a:tab algn="l" pos="1741320"/>
                <a:tab algn="l" pos="2100240"/>
                <a:tab algn="l" pos="2458800"/>
                <a:tab algn="l" pos="2817720"/>
                <a:tab algn="l" pos="3176280"/>
                <a:tab algn="l" pos="3535200"/>
                <a:tab algn="l" pos="3894120"/>
                <a:tab algn="l" pos="4252680"/>
                <a:tab algn="l" pos="4611600"/>
                <a:tab algn="l" pos="4970160"/>
                <a:tab algn="l" pos="5329080"/>
                <a:tab algn="l" pos="5688000"/>
                <a:tab algn="l" pos="6046560"/>
                <a:tab algn="l" pos="6405480"/>
                <a:tab algn="l" pos="6764040"/>
                <a:tab algn="l" pos="712296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gateway (uses a transparent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</a:rPr>
              <a:t>Cache Engine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)</a:t>
            </a:r>
            <a:endParaRPr b="0" lang="en-US" sz="2400" spc="-1" strike="noStrike">
              <a:latin typeface="Arial"/>
            </a:endParaRPr>
          </a:p>
          <a:p>
            <a:pPr lvl="1" marL="1450800" indent="-53604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Font typeface="Times New Roman"/>
              <a:buChar char="–"/>
              <a:tabLst>
                <a:tab algn="l" pos="291960"/>
                <a:tab algn="l" pos="306360"/>
                <a:tab algn="l" pos="664920"/>
                <a:tab algn="l" pos="1023840"/>
                <a:tab algn="l" pos="1382400"/>
                <a:tab algn="l" pos="1741320"/>
                <a:tab algn="l" pos="2100240"/>
                <a:tab algn="l" pos="2458800"/>
                <a:tab algn="l" pos="2817720"/>
                <a:tab algn="l" pos="3176280"/>
                <a:tab algn="l" pos="3535200"/>
                <a:tab algn="l" pos="3894120"/>
                <a:tab algn="l" pos="4252680"/>
                <a:tab algn="l" pos="4611600"/>
                <a:tab algn="l" pos="4970160"/>
                <a:tab algn="l" pos="5329080"/>
                <a:tab algn="l" pos="5688000"/>
                <a:tab algn="l" pos="6046560"/>
                <a:tab algn="l" pos="6405480"/>
                <a:tab algn="l" pos="6764040"/>
                <a:tab algn="l" pos="712296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network (CDN, cooperating caches)</a:t>
            </a:r>
            <a:endParaRPr b="0" lang="en-US" sz="2400" spc="-1" strike="noStrike">
              <a:latin typeface="Arial"/>
            </a:endParaRPr>
          </a:p>
          <a:p>
            <a:pPr marL="328320" indent="-2916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28320" indent="-2916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333399"/>
                </a:solidFill>
                <a:latin typeface="Arial"/>
              </a:rPr>
              <a:t>Cache Engines</a:t>
            </a:r>
            <a:endParaRPr b="0" lang="en-US" sz="2400" spc="-1" strike="noStrike">
              <a:latin typeface="Arial"/>
            </a:endParaRPr>
          </a:p>
          <a:p>
            <a:pPr marL="291960" indent="-291600">
              <a:lnSpc>
                <a:spcPct val="100000"/>
              </a:lnSpc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1960"/>
                <a:tab algn="l" pos="306360"/>
                <a:tab algn="l" pos="664920"/>
                <a:tab algn="l" pos="1023840"/>
                <a:tab algn="l" pos="1382400"/>
                <a:tab algn="l" pos="1741320"/>
                <a:tab algn="l" pos="2100240"/>
                <a:tab algn="l" pos="2458800"/>
                <a:tab algn="l" pos="2817720"/>
                <a:tab algn="l" pos="3176280"/>
                <a:tab algn="l" pos="3535200"/>
                <a:tab algn="l" pos="3894120"/>
                <a:tab algn="l" pos="4252680"/>
                <a:tab algn="l" pos="4611600"/>
                <a:tab algn="l" pos="4970160"/>
                <a:tab algn="l" pos="5329080"/>
                <a:tab algn="l" pos="5688000"/>
                <a:tab algn="l" pos="6046560"/>
                <a:tab algn="l" pos="6405480"/>
                <a:tab algn="l" pos="6764040"/>
                <a:tab algn="l" pos="712296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Harvest (free)</a:t>
            </a:r>
            <a:endParaRPr b="0" lang="en-US" sz="2400" spc="-1" strike="noStrike">
              <a:latin typeface="Arial"/>
            </a:endParaRPr>
          </a:p>
          <a:p>
            <a:pPr marL="291960" indent="-291600">
              <a:lnSpc>
                <a:spcPct val="100000"/>
              </a:lnSpc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1960"/>
                <a:tab algn="l" pos="306360"/>
                <a:tab algn="l" pos="664920"/>
                <a:tab algn="l" pos="1023840"/>
                <a:tab algn="l" pos="1382400"/>
                <a:tab algn="l" pos="1741320"/>
                <a:tab algn="l" pos="2100240"/>
                <a:tab algn="l" pos="2458800"/>
                <a:tab algn="l" pos="2817720"/>
                <a:tab algn="l" pos="3176280"/>
                <a:tab algn="l" pos="3535200"/>
                <a:tab algn="l" pos="3894120"/>
                <a:tab algn="l" pos="4252680"/>
                <a:tab algn="l" pos="4611600"/>
                <a:tab algn="l" pos="4970160"/>
                <a:tab algn="l" pos="5329080"/>
                <a:tab algn="l" pos="5688000"/>
                <a:tab algn="l" pos="6046560"/>
                <a:tab algn="l" pos="6405480"/>
                <a:tab algn="l" pos="6764040"/>
                <a:tab algn="l" pos="712296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Squid (free)</a:t>
            </a:r>
            <a:endParaRPr b="0" lang="en-US" sz="2400" spc="-1" strike="noStrike">
              <a:latin typeface="Arial"/>
            </a:endParaRPr>
          </a:p>
          <a:p>
            <a:pPr marL="291960" indent="-291600">
              <a:lnSpc>
                <a:spcPct val="100000"/>
              </a:lnSpc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1960"/>
                <a:tab algn="l" pos="306360"/>
                <a:tab algn="l" pos="664920"/>
                <a:tab algn="l" pos="1023840"/>
                <a:tab algn="l" pos="1382400"/>
                <a:tab algn="l" pos="1741320"/>
                <a:tab algn="l" pos="2100240"/>
                <a:tab algn="l" pos="2458800"/>
                <a:tab algn="l" pos="2817720"/>
                <a:tab algn="l" pos="3176280"/>
                <a:tab algn="l" pos="3535200"/>
                <a:tab algn="l" pos="3894120"/>
                <a:tab algn="l" pos="4252680"/>
                <a:tab algn="l" pos="4611600"/>
                <a:tab algn="l" pos="4970160"/>
                <a:tab algn="l" pos="5329080"/>
                <a:tab algn="l" pos="5688000"/>
                <a:tab algn="l" pos="6046560"/>
                <a:tab algn="l" pos="6405480"/>
                <a:tab algn="l" pos="6764040"/>
                <a:tab algn="l" pos="712296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Cisco Cache Engine (based on Harvest)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611280" y="259920"/>
            <a:ext cx="7921080" cy="864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Why Web Caching?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4" name="CustomShape 2"/>
          <p:cNvSpPr/>
          <p:nvPr/>
        </p:nvSpPr>
        <p:spPr>
          <a:xfrm>
            <a:off x="674280" y="1399680"/>
            <a:ext cx="7921440" cy="500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291960" indent="-291600">
              <a:lnSpc>
                <a:spcPct val="100000"/>
              </a:lnSpc>
              <a:spcBef>
                <a:spcPts val="2837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1960"/>
                <a:tab algn="l" pos="306360"/>
                <a:tab algn="l" pos="664920"/>
                <a:tab algn="l" pos="1023840"/>
                <a:tab algn="l" pos="1382400"/>
                <a:tab algn="l" pos="1741320"/>
                <a:tab algn="l" pos="2100240"/>
                <a:tab algn="l" pos="2458800"/>
                <a:tab algn="l" pos="2817720"/>
                <a:tab algn="l" pos="3176280"/>
                <a:tab algn="l" pos="3535200"/>
                <a:tab algn="l" pos="3894120"/>
                <a:tab algn="l" pos="4252680"/>
                <a:tab algn="l" pos="4611600"/>
                <a:tab algn="l" pos="4970160"/>
                <a:tab algn="l" pos="5329080"/>
                <a:tab algn="l" pos="5688000"/>
                <a:tab algn="l" pos="6046560"/>
                <a:tab algn="l" pos="6405480"/>
                <a:tab algn="l" pos="6764040"/>
                <a:tab algn="l" pos="712296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Decrease use of network bandwidth</a:t>
            </a:r>
            <a:endParaRPr b="0" lang="en-US" sz="2400" spc="-1" strike="noStrike">
              <a:latin typeface="Arial"/>
            </a:endParaRPr>
          </a:p>
          <a:p>
            <a:pPr marL="291960" indent="-291600">
              <a:lnSpc>
                <a:spcPct val="100000"/>
              </a:lnSpc>
              <a:spcBef>
                <a:spcPts val="2837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1960"/>
                <a:tab algn="l" pos="306360"/>
                <a:tab algn="l" pos="664920"/>
                <a:tab algn="l" pos="1023840"/>
                <a:tab algn="l" pos="1382400"/>
                <a:tab algn="l" pos="1741320"/>
                <a:tab algn="l" pos="2100240"/>
                <a:tab algn="l" pos="2458800"/>
                <a:tab algn="l" pos="2817720"/>
                <a:tab algn="l" pos="3176280"/>
                <a:tab algn="l" pos="3535200"/>
                <a:tab algn="l" pos="3894120"/>
                <a:tab algn="l" pos="4252680"/>
                <a:tab algn="l" pos="4611600"/>
                <a:tab algn="l" pos="4970160"/>
                <a:tab algn="l" pos="5329080"/>
                <a:tab algn="l" pos="5688000"/>
                <a:tab algn="l" pos="6046560"/>
                <a:tab algn="l" pos="6405480"/>
                <a:tab algn="l" pos="6764040"/>
                <a:tab algn="l" pos="712296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Faster response time</a:t>
            </a:r>
            <a:endParaRPr b="0" lang="en-US" sz="2400" spc="-1" strike="noStrike">
              <a:latin typeface="Arial"/>
            </a:endParaRPr>
          </a:p>
          <a:p>
            <a:pPr marL="291960" indent="-291600">
              <a:lnSpc>
                <a:spcPct val="100000"/>
              </a:lnSpc>
              <a:spcBef>
                <a:spcPts val="2837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1960"/>
                <a:tab algn="l" pos="306360"/>
                <a:tab algn="l" pos="664920"/>
                <a:tab algn="l" pos="1023840"/>
                <a:tab algn="l" pos="1382400"/>
                <a:tab algn="l" pos="1741320"/>
                <a:tab algn="l" pos="2100240"/>
                <a:tab algn="l" pos="2458800"/>
                <a:tab algn="l" pos="2817720"/>
                <a:tab algn="l" pos="3176280"/>
                <a:tab algn="l" pos="3535200"/>
                <a:tab algn="l" pos="3894120"/>
                <a:tab algn="l" pos="4252680"/>
                <a:tab algn="l" pos="4611600"/>
                <a:tab algn="l" pos="4970160"/>
                <a:tab algn="l" pos="5329080"/>
                <a:tab algn="l" pos="5688000"/>
                <a:tab algn="l" pos="6046560"/>
                <a:tab algn="l" pos="6405480"/>
                <a:tab algn="l" pos="6764040"/>
                <a:tab algn="l" pos="712296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Decrease server load</a:t>
            </a:r>
            <a:endParaRPr b="0" lang="en-US" sz="2400" spc="-1" strike="noStrike">
              <a:latin typeface="Arial"/>
            </a:endParaRPr>
          </a:p>
          <a:p>
            <a:pPr marL="291960" indent="-291600">
              <a:lnSpc>
                <a:spcPct val="100000"/>
              </a:lnSpc>
              <a:spcBef>
                <a:spcPts val="2837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1960"/>
                <a:tab algn="l" pos="306360"/>
                <a:tab algn="l" pos="664920"/>
                <a:tab algn="l" pos="1023840"/>
                <a:tab algn="l" pos="1382400"/>
                <a:tab algn="l" pos="1741320"/>
                <a:tab algn="l" pos="2100240"/>
                <a:tab algn="l" pos="2458800"/>
                <a:tab algn="l" pos="2817720"/>
                <a:tab algn="l" pos="3176280"/>
                <a:tab algn="l" pos="3535200"/>
                <a:tab algn="l" pos="3894120"/>
                <a:tab algn="l" pos="4252680"/>
                <a:tab algn="l" pos="4611600"/>
                <a:tab algn="l" pos="4970160"/>
                <a:tab algn="l" pos="5329080"/>
                <a:tab algn="l" pos="5688000"/>
                <a:tab algn="l" pos="6046560"/>
                <a:tab algn="l" pos="6405480"/>
                <a:tab algn="l" pos="6764040"/>
                <a:tab algn="l" pos="7122960"/>
                <a:tab algn="l" pos="7203960"/>
                <a:tab algn="l" pos="7564320"/>
                <a:tab algn="l" pos="7889760"/>
                <a:tab algn="l" pos="8248320"/>
                <a:tab algn="l" pos="8607240"/>
                <a:tab algn="l" pos="8966160"/>
                <a:tab algn="l" pos="9324720"/>
                <a:tab algn="l" pos="9683640"/>
                <a:tab algn="l" pos="10042200"/>
                <a:tab algn="l" pos="1040112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Security and web access controls (auth, blocking)</a:t>
            </a:r>
            <a:endParaRPr b="0" lang="en-US" sz="2400" spc="-1" strike="noStrike">
              <a:latin typeface="Arial"/>
            </a:endParaRPr>
          </a:p>
          <a:p>
            <a:pPr marL="322200" indent="-291960">
              <a:lnSpc>
                <a:spcPct val="100000"/>
              </a:lnSpc>
              <a:spcBef>
                <a:spcPts val="2837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1269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2004-08-31T06:54:20Z</dcterms:created>
  <dc:creator>Jim</dc:creator>
  <dc:description/>
  <dc:language>en-US</dc:language>
  <cp:lastModifiedBy/>
  <dcterms:modified xsi:type="dcterms:W3CDTF">2026-01-14T12:40:26Z</dcterms:modified>
  <cp:revision>50</cp:revision>
  <dc:subject/>
  <dc:title>Content Delivery Networks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