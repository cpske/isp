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wmf" ContentType="image/x-wmf"/>
  <Override PartName="/ppt/media/image2.wmf" ContentType="image/x-wmf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move the </a:t>
            </a:r>
            <a:r>
              <a:rPr b="0" lang="en-US" sz="4400" spc="-1" strike="noStrike">
                <a:latin typeface="Arial"/>
              </a:rPr>
              <a:t>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</a:t>
            </a:r>
            <a:r>
              <a:rPr b="0" lang="en-US" sz="2000" spc="-1" strike="noStrike">
                <a:latin typeface="Arial"/>
              </a:rPr>
              <a:t>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CC93F937-A335-442D-9416-7D4844E96437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1480" cy="3428640"/>
          </a:xfrm>
          <a:prstGeom prst="rect">
            <a:avLst/>
          </a:prstGeom>
        </p:spPr>
      </p:sp>
      <p:sp>
        <p:nvSpPr>
          <p:cNvPr id="167" name="CustomShape 2"/>
          <p:cNvSpPr/>
          <p:nvPr/>
        </p:nvSpPr>
        <p:spPr>
          <a:xfrm>
            <a:off x="685800" y="4343400"/>
            <a:ext cx="5486040" cy="4114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52560" cy="3409560"/>
          </a:xfrm>
          <a:prstGeom prst="rect">
            <a:avLst/>
          </a:prstGeom>
        </p:spPr>
      </p:sp>
      <p:sp>
        <p:nvSpPr>
          <p:cNvPr id="169" name="CustomShape 2"/>
          <p:cNvSpPr/>
          <p:nvPr/>
        </p:nvSpPr>
        <p:spPr>
          <a:xfrm>
            <a:off x="914400" y="4343400"/>
            <a:ext cx="5009760" cy="4095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52560" cy="3409560"/>
          </a:xfrm>
          <a:prstGeom prst="rect">
            <a:avLst/>
          </a:prstGeom>
        </p:spPr>
      </p:sp>
      <p:sp>
        <p:nvSpPr>
          <p:cNvPr id="171" name="CustomShape 2"/>
          <p:cNvSpPr/>
          <p:nvPr/>
        </p:nvSpPr>
        <p:spPr>
          <a:xfrm>
            <a:off x="914400" y="4343400"/>
            <a:ext cx="5009760" cy="4095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52560" cy="3409560"/>
          </a:xfrm>
          <a:prstGeom prst="rect">
            <a:avLst/>
          </a:prstGeom>
        </p:spPr>
      </p:sp>
      <p:sp>
        <p:nvSpPr>
          <p:cNvPr id="173" name="CustomShape 2"/>
          <p:cNvSpPr/>
          <p:nvPr/>
        </p:nvSpPr>
        <p:spPr>
          <a:xfrm>
            <a:off x="914400" y="4343400"/>
            <a:ext cx="5009760" cy="4095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52560" cy="3409560"/>
          </a:xfrm>
          <a:prstGeom prst="rect">
            <a:avLst/>
          </a:prstGeom>
        </p:spPr>
      </p:sp>
      <p:sp>
        <p:nvSpPr>
          <p:cNvPr id="175" name="CustomShape 2"/>
          <p:cNvSpPr/>
          <p:nvPr/>
        </p:nvSpPr>
        <p:spPr>
          <a:xfrm>
            <a:off x="914400" y="4343400"/>
            <a:ext cx="5009760" cy="4095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52560" cy="3409560"/>
          </a:xfrm>
          <a:prstGeom prst="rect">
            <a:avLst/>
          </a:prstGeom>
        </p:spPr>
      </p:sp>
      <p:sp>
        <p:nvSpPr>
          <p:cNvPr id="177" name="CustomShape 2"/>
          <p:cNvSpPr/>
          <p:nvPr/>
        </p:nvSpPr>
        <p:spPr>
          <a:xfrm>
            <a:off x="914400" y="4343400"/>
            <a:ext cx="5009760" cy="4095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52560" cy="3409560"/>
          </a:xfrm>
          <a:prstGeom prst="rect">
            <a:avLst/>
          </a:prstGeom>
        </p:spPr>
      </p:sp>
      <p:sp>
        <p:nvSpPr>
          <p:cNvPr id="179" name="CustomShape 2"/>
          <p:cNvSpPr/>
          <p:nvPr/>
        </p:nvSpPr>
        <p:spPr>
          <a:xfrm>
            <a:off x="914400" y="4343400"/>
            <a:ext cx="5009760" cy="4095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52560" cy="3409560"/>
          </a:xfrm>
          <a:prstGeom prst="rect">
            <a:avLst/>
          </a:prstGeom>
        </p:spPr>
      </p:sp>
      <p:sp>
        <p:nvSpPr>
          <p:cNvPr id="181" name="CustomShape 2"/>
          <p:cNvSpPr/>
          <p:nvPr/>
        </p:nvSpPr>
        <p:spPr>
          <a:xfrm>
            <a:off x="914400" y="4343400"/>
            <a:ext cx="5009760" cy="4095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52560" cy="3409560"/>
          </a:xfrm>
          <a:prstGeom prst="rect">
            <a:avLst/>
          </a:prstGeom>
        </p:spPr>
      </p:sp>
      <p:sp>
        <p:nvSpPr>
          <p:cNvPr id="183" name="CustomShape 2"/>
          <p:cNvSpPr/>
          <p:nvPr/>
        </p:nvSpPr>
        <p:spPr>
          <a:xfrm>
            <a:off x="914400" y="4343400"/>
            <a:ext cx="5009760" cy="4095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10920" y="1371240"/>
            <a:ext cx="7892640" cy="5297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10920" y="1371240"/>
            <a:ext cx="7892640" cy="529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10920" y="1371240"/>
            <a:ext cx="3851280" cy="529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55160" y="1371240"/>
            <a:ext cx="3851280" cy="529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610920" y="260280"/>
            <a:ext cx="7892640" cy="3877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10920" y="137124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55160" y="1371240"/>
            <a:ext cx="3851280" cy="529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10920" y="413820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10920" y="1371240"/>
            <a:ext cx="3851280" cy="529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55160" y="137124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655160" y="413820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10920" y="137124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55160" y="137124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10920" y="4138200"/>
            <a:ext cx="78926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10920" y="1371240"/>
            <a:ext cx="78926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10920" y="4138200"/>
            <a:ext cx="78926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10920" y="137124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55160" y="137124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0920" y="413820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55160" y="413820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10920" y="1371240"/>
            <a:ext cx="25412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279600" y="1371240"/>
            <a:ext cx="25412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5948280" y="1371240"/>
            <a:ext cx="25412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10920" y="4138200"/>
            <a:ext cx="25412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body"/>
          </p:nvPr>
        </p:nvSpPr>
        <p:spPr>
          <a:xfrm>
            <a:off x="3279600" y="4138200"/>
            <a:ext cx="25412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body"/>
          </p:nvPr>
        </p:nvSpPr>
        <p:spPr>
          <a:xfrm>
            <a:off x="5948280" y="4138200"/>
            <a:ext cx="25412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610920" y="1371240"/>
            <a:ext cx="7892640" cy="5297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10920" y="1371240"/>
            <a:ext cx="7892640" cy="529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10920" y="1371240"/>
            <a:ext cx="3851280" cy="529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55160" y="1371240"/>
            <a:ext cx="3851280" cy="529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610920" y="260280"/>
            <a:ext cx="7892640" cy="3877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10920" y="137124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55160" y="1371240"/>
            <a:ext cx="3851280" cy="529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10920" y="413820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10920" y="1371240"/>
            <a:ext cx="3851280" cy="5297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55160" y="137124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655160" y="413820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10920" y="137124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55160" y="137124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10920" y="4138200"/>
            <a:ext cx="78926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10920" y="1371240"/>
            <a:ext cx="78926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10920" y="4138200"/>
            <a:ext cx="78926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10920" y="137124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655160" y="137124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10920" y="413820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4655160" y="4138200"/>
            <a:ext cx="385128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10920" y="1371240"/>
            <a:ext cx="25412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3279600" y="1371240"/>
            <a:ext cx="25412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5948280" y="1371240"/>
            <a:ext cx="25412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10920" y="4138200"/>
            <a:ext cx="25412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body"/>
          </p:nvPr>
        </p:nvSpPr>
        <p:spPr>
          <a:xfrm>
            <a:off x="3279600" y="4138200"/>
            <a:ext cx="25412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body"/>
          </p:nvPr>
        </p:nvSpPr>
        <p:spPr>
          <a:xfrm>
            <a:off x="5948280" y="4138200"/>
            <a:ext cx="2541240" cy="252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1"/>
          <p:cNvGrpSpPr/>
          <p:nvPr/>
        </p:nvGrpSpPr>
        <p:grpSpPr>
          <a:xfrm>
            <a:off x="0" y="2438280"/>
            <a:ext cx="8959320" cy="1002960"/>
            <a:chOff x="0" y="2438280"/>
            <a:chExt cx="8959320" cy="1002960"/>
          </a:xfrm>
        </p:grpSpPr>
        <p:grpSp>
          <p:nvGrpSpPr>
            <p:cNvPr id="1" name="Group 2"/>
            <p:cNvGrpSpPr/>
            <p:nvPr/>
          </p:nvGrpSpPr>
          <p:grpSpPr>
            <a:xfrm>
              <a:off x="290520" y="2546280"/>
              <a:ext cx="661680" cy="425160"/>
              <a:chOff x="290520" y="2546280"/>
              <a:chExt cx="661680" cy="425160"/>
            </a:xfrm>
          </p:grpSpPr>
          <p:sp>
            <p:nvSpPr>
              <p:cNvPr id="2" name="CustomShape 3"/>
              <p:cNvSpPr/>
              <p:nvPr/>
            </p:nvSpPr>
            <p:spPr>
              <a:xfrm>
                <a:off x="290520" y="2546280"/>
                <a:ext cx="388440" cy="425160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" name="CustomShape 4"/>
              <p:cNvSpPr/>
              <p:nvPr/>
            </p:nvSpPr>
            <p:spPr>
              <a:xfrm>
                <a:off x="673200" y="2546280"/>
                <a:ext cx="279000" cy="425160"/>
              </a:xfrm>
              <a:prstGeom prst="rect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10800000"/>
              </a:gra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" name="Group 5"/>
            <p:cNvGrpSpPr/>
            <p:nvPr/>
          </p:nvGrpSpPr>
          <p:grpSpPr>
            <a:xfrm>
              <a:off x="414360" y="2968560"/>
              <a:ext cx="688320" cy="425160"/>
              <a:chOff x="414360" y="2968560"/>
              <a:chExt cx="688320" cy="425160"/>
            </a:xfrm>
          </p:grpSpPr>
          <p:sp>
            <p:nvSpPr>
              <p:cNvPr id="5" name="CustomShape 6"/>
              <p:cNvSpPr/>
              <p:nvPr/>
            </p:nvSpPr>
            <p:spPr>
              <a:xfrm>
                <a:off x="414360" y="2968560"/>
                <a:ext cx="421560" cy="425160"/>
              </a:xfrm>
              <a:prstGeom prst="rect">
                <a:avLst/>
              </a:prstGeom>
              <a:solidFill>
                <a:srgbClr val="ffcf01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" name="CustomShape 7"/>
              <p:cNvSpPr/>
              <p:nvPr/>
            </p:nvSpPr>
            <p:spPr>
              <a:xfrm>
                <a:off x="783360" y="2968560"/>
                <a:ext cx="319320" cy="425160"/>
              </a:xfrm>
              <a:prstGeom prst="rect">
                <a:avLst/>
              </a:prstGeom>
              <a:gradFill rotWithShape="0">
                <a:gsLst>
                  <a:gs pos="0">
                    <a:srgbClr val="ffcf01"/>
                  </a:gs>
                  <a:gs pos="100000">
                    <a:srgbClr val="ffffff"/>
                  </a:gs>
                </a:gsLst>
                <a:lin ang="10800000"/>
              </a:gra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7" name="CustomShape 8"/>
            <p:cNvSpPr/>
            <p:nvPr/>
          </p:nvSpPr>
          <p:spPr>
            <a:xfrm>
              <a:off x="0" y="2895480"/>
              <a:ext cx="510840" cy="372960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81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CustomShape 9"/>
            <p:cNvSpPr/>
            <p:nvPr/>
          </p:nvSpPr>
          <p:spPr>
            <a:xfrm>
              <a:off x="635040" y="2438280"/>
              <a:ext cx="360" cy="100296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CustomShape 10"/>
            <p:cNvSpPr/>
            <p:nvPr/>
          </p:nvSpPr>
          <p:spPr>
            <a:xfrm flipV="1">
              <a:off x="316080" y="3259440"/>
              <a:ext cx="8643240" cy="5760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108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" name="PlaceHolder 11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r>
              <a:rPr b="0" lang="en-US" sz="1800" spc="-1" strike="noStrike">
                <a:latin typeface="Arial"/>
              </a:rPr>
              <a:t>Click to edit the title </a:t>
            </a:r>
            <a:r>
              <a:rPr b="0" lang="en-US" sz="1800" spc="-1" strike="noStrike">
                <a:latin typeface="Arial"/>
              </a:rPr>
              <a:t>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" name="PlaceHolder 1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1"/>
          <p:cNvGrpSpPr/>
          <p:nvPr/>
        </p:nvGrpSpPr>
        <p:grpSpPr>
          <a:xfrm>
            <a:off x="189000" y="368280"/>
            <a:ext cx="8197560" cy="1023480"/>
            <a:chOff x="189000" y="368280"/>
            <a:chExt cx="8197560" cy="1023480"/>
          </a:xfrm>
        </p:grpSpPr>
        <p:sp>
          <p:nvSpPr>
            <p:cNvPr id="49" name="CustomShape 2"/>
            <p:cNvSpPr/>
            <p:nvPr/>
          </p:nvSpPr>
          <p:spPr>
            <a:xfrm>
              <a:off x="507960" y="368280"/>
              <a:ext cx="2880" cy="102348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" name="CustomShape 3"/>
            <p:cNvSpPr/>
            <p:nvPr/>
          </p:nvSpPr>
          <p:spPr>
            <a:xfrm>
              <a:off x="189000" y="1158840"/>
              <a:ext cx="8197560" cy="2880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c1c1c"/>
                </a:gs>
              </a:gsLst>
              <a:lin ang="108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610920" y="260280"/>
            <a:ext cx="7892640" cy="83628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r>
              <a:rPr b="0" lang="en-US" sz="1800" spc="-1" strike="noStrike">
                <a:latin typeface="Arial"/>
              </a:rPr>
              <a:t>Click to edit the title </a:t>
            </a:r>
            <a:r>
              <a:rPr b="0" lang="en-US" sz="1800" spc="-1" strike="noStrike">
                <a:latin typeface="Arial"/>
              </a:rPr>
              <a:t>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10920" y="1371240"/>
            <a:ext cx="7892640" cy="529704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990720" y="1676160"/>
            <a:ext cx="7446600" cy="1461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Web Servers and Web Apps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6" name="CustomShape 2"/>
          <p:cNvSpPr/>
          <p:nvPr/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 algn="ctr"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97" name="TextShape 3"/>
          <p:cNvSpPr txBox="1"/>
          <p:nvPr/>
        </p:nvSpPr>
        <p:spPr>
          <a:xfrm>
            <a:off x="2111400" y="3786840"/>
            <a:ext cx="4655160" cy="7851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Including </a:t>
            </a: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Framework</a:t>
            </a: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610920" y="259920"/>
            <a:ext cx="7902000" cy="846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Frameworks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9" name="CustomShape 2"/>
          <p:cNvSpPr/>
          <p:nvPr/>
        </p:nvSpPr>
        <p:spPr>
          <a:xfrm>
            <a:off x="611280" y="1371600"/>
            <a:ext cx="8075160" cy="502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Framework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contains an "almost" complete app code, including logic for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the flow of control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342720" indent="-3330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330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You must supply</a:t>
            </a:r>
            <a:endParaRPr b="0" lang="en-US" sz="2400" spc="-1" strike="noStrike">
              <a:latin typeface="Arial"/>
            </a:endParaRPr>
          </a:p>
          <a:p>
            <a:pPr marL="555480" indent="-55044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configuration data (text file, XML, Json, ...)</a:t>
            </a:r>
            <a:endParaRPr b="0" lang="en-US" sz="2400" spc="-1" strike="noStrike">
              <a:latin typeface="Arial"/>
            </a:endParaRPr>
          </a:p>
          <a:p>
            <a:pPr marL="555480" indent="-55044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missing methods the framework will invoke, "slots"</a:t>
            </a:r>
            <a:endParaRPr b="0" lang="en-US" sz="2400" spc="-1" strike="noStrike">
              <a:latin typeface="Arial"/>
            </a:endParaRPr>
          </a:p>
          <a:p>
            <a:pPr marL="555480" indent="-55044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application logic</a:t>
            </a:r>
            <a:endParaRPr b="0" lang="en-US" sz="2400" spc="-1" strike="noStrike">
              <a:latin typeface="Arial"/>
            </a:endParaRPr>
          </a:p>
          <a:p>
            <a:pPr marL="555480" indent="-55044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domain model ("model") for persistent objects</a:t>
            </a:r>
            <a:endParaRPr b="0" lang="en-US" sz="2400" spc="-1" strike="noStrike">
              <a:latin typeface="Arial"/>
            </a:endParaRPr>
          </a:p>
          <a:p>
            <a:pPr marL="342720" indent="-3330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and optionally</a:t>
            </a:r>
            <a:endParaRPr b="0" lang="en-US" sz="2400" spc="-1" strike="noStrike">
              <a:latin typeface="Arial"/>
            </a:endParaRPr>
          </a:p>
          <a:p>
            <a:pPr marL="555480" indent="-55044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override frameworks methods with custom code</a:t>
            </a:r>
            <a:endParaRPr b="0" lang="en-US" sz="2400" spc="-1" strike="noStrike">
              <a:latin typeface="Arial"/>
            </a:endParaRPr>
          </a:p>
          <a:p>
            <a:pPr marL="555480" indent="-55044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add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callbacks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, "hooks", for extra functionality</a:t>
            </a:r>
            <a:endParaRPr b="0" lang="en-US" sz="2400" spc="-1" strike="noStrike">
              <a:latin typeface="Arial"/>
            </a:endParaRPr>
          </a:p>
          <a:p>
            <a:pPr marL="342720" indent="-3330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610920" y="259920"/>
            <a:ext cx="7894080" cy="83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7120"/>
                <a:tab algn="l" pos="715680"/>
                <a:tab algn="l" pos="1074600"/>
                <a:tab algn="l" pos="1433160"/>
                <a:tab algn="l" pos="1792080"/>
                <a:tab algn="l" pos="2151000"/>
                <a:tab algn="l" pos="2509560"/>
                <a:tab algn="l" pos="2868480"/>
                <a:tab algn="l" pos="3227040"/>
                <a:tab algn="l" pos="3585960"/>
                <a:tab algn="l" pos="3944880"/>
                <a:tab algn="l" pos="4303440"/>
                <a:tab algn="l" pos="4662360"/>
                <a:tab algn="l" pos="5020920"/>
                <a:tab algn="l" pos="5379840"/>
                <a:tab algn="l" pos="5738760"/>
                <a:tab algn="l" pos="6097320"/>
                <a:tab algn="l" pos="6456240"/>
                <a:tab algn="l" pos="6814800"/>
                <a:tab algn="l" pos="7173720"/>
                <a:tab algn="l" pos="7207200"/>
                <a:tab algn="l" pos="756756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Framework versus Library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610920" y="1371600"/>
            <a:ext cx="7894080" cy="529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40920">
              <a:lnSpc>
                <a:spcPct val="100000"/>
              </a:lnSpc>
              <a:spcBef>
                <a:spcPts val="1449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An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application 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</a:rPr>
              <a:t>framework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"runs" the application.</a:t>
            </a:r>
            <a:endParaRPr b="0" lang="en-US" sz="2400" spc="-1" strike="noStrike">
              <a:latin typeface="Arial"/>
            </a:endParaRPr>
          </a:p>
          <a:p>
            <a:pPr marL="558720" indent="-556920">
              <a:lnSpc>
                <a:spcPct val="100000"/>
              </a:lnSpc>
              <a:spcBef>
                <a:spcPts val="144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57120"/>
                <a:tab algn="l" pos="715680"/>
                <a:tab algn="l" pos="1074600"/>
                <a:tab algn="l" pos="1433160"/>
                <a:tab algn="l" pos="1792080"/>
                <a:tab algn="l" pos="2151000"/>
                <a:tab algn="l" pos="2509560"/>
                <a:tab algn="l" pos="2868480"/>
                <a:tab algn="l" pos="3227040"/>
                <a:tab algn="l" pos="3585960"/>
                <a:tab algn="l" pos="3944880"/>
                <a:tab algn="l" pos="4303440"/>
                <a:tab algn="l" pos="4662360"/>
                <a:tab algn="l" pos="5020920"/>
                <a:tab algn="l" pos="5379840"/>
                <a:tab algn="l" pos="5738760"/>
                <a:tab algn="l" pos="6097320"/>
                <a:tab algn="l" pos="6456240"/>
                <a:tab algn="l" pos="6814800"/>
                <a:tab algn="l" pos="7173720"/>
                <a:tab algn="l" pos="7207200"/>
                <a:tab algn="l" pos="756756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the framework calls your code</a:t>
            </a:r>
            <a:endParaRPr b="0" lang="en-US" sz="2400" spc="-1" strike="noStrike">
              <a:latin typeface="Arial"/>
            </a:endParaRPr>
          </a:p>
          <a:p>
            <a:pPr marL="558720" indent="-556920">
              <a:lnSpc>
                <a:spcPct val="100000"/>
              </a:lnSpc>
              <a:spcBef>
                <a:spcPts val="144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57120"/>
                <a:tab algn="l" pos="715680"/>
                <a:tab algn="l" pos="1074600"/>
                <a:tab algn="l" pos="1433160"/>
                <a:tab algn="l" pos="1792080"/>
                <a:tab algn="l" pos="2151000"/>
                <a:tab algn="l" pos="2509560"/>
                <a:tab algn="l" pos="2868480"/>
                <a:tab algn="l" pos="3227040"/>
                <a:tab algn="l" pos="3585960"/>
                <a:tab algn="l" pos="3944880"/>
                <a:tab algn="l" pos="4303440"/>
                <a:tab algn="l" pos="4662360"/>
                <a:tab algn="l" pos="5020920"/>
                <a:tab algn="l" pos="5379840"/>
                <a:tab algn="l" pos="5738760"/>
                <a:tab algn="l" pos="6097320"/>
                <a:tab algn="l" pos="6456240"/>
                <a:tab algn="l" pos="6814800"/>
                <a:tab algn="l" pos="7173720"/>
                <a:tab algn="l" pos="7207200"/>
                <a:tab algn="l" pos="756756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"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</a:rPr>
              <a:t>don't call us, we'll call you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"</a:t>
            </a:r>
            <a:endParaRPr b="0" lang="en-US" sz="2400" spc="-1" strike="noStrike">
              <a:latin typeface="Arial"/>
            </a:endParaRPr>
          </a:p>
          <a:p>
            <a:pPr marL="342720" indent="-340920">
              <a:lnSpc>
                <a:spcPct val="100000"/>
              </a:lnSpc>
              <a:spcBef>
                <a:spcPts val="1449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40920">
              <a:lnSpc>
                <a:spcPct val="100000"/>
              </a:lnSpc>
              <a:spcBef>
                <a:spcPts val="144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80"/>
                </a:solidFill>
                <a:latin typeface="Arial"/>
              </a:rPr>
              <a:t>Library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- provides functions you call, classes you use</a:t>
            </a:r>
            <a:endParaRPr b="0" lang="en-US" sz="2400" spc="-1" strike="noStrike">
              <a:latin typeface="Arial"/>
            </a:endParaRPr>
          </a:p>
          <a:p>
            <a:pPr marL="558720" indent="-556920">
              <a:lnSpc>
                <a:spcPct val="100000"/>
              </a:lnSpc>
              <a:spcBef>
                <a:spcPts val="144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57120"/>
                <a:tab algn="l" pos="715680"/>
                <a:tab algn="l" pos="1074600"/>
                <a:tab algn="l" pos="1433160"/>
                <a:tab algn="l" pos="1792080"/>
                <a:tab algn="l" pos="2151000"/>
                <a:tab algn="l" pos="2509560"/>
                <a:tab algn="l" pos="2868480"/>
                <a:tab algn="l" pos="3227040"/>
                <a:tab algn="l" pos="3585960"/>
                <a:tab algn="l" pos="3944880"/>
                <a:tab algn="l" pos="4303440"/>
                <a:tab algn="l" pos="4662360"/>
                <a:tab algn="l" pos="5020920"/>
                <a:tab algn="l" pos="5379840"/>
                <a:tab algn="l" pos="5738760"/>
                <a:tab algn="l" pos="6097320"/>
                <a:tab algn="l" pos="6456240"/>
                <a:tab algn="l" pos="6814800"/>
                <a:tab algn="l" pos="7173720"/>
                <a:tab algn="l" pos="7207200"/>
                <a:tab algn="l" pos="756756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Requests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is a library of functions for sending HTTP requests</a:t>
            </a:r>
            <a:endParaRPr b="0" lang="en-US" sz="2400" spc="-1" strike="noStrike">
              <a:latin typeface="Arial"/>
            </a:endParaRPr>
          </a:p>
          <a:p>
            <a:pPr marL="558720" indent="-556920">
              <a:lnSpc>
                <a:spcPct val="100000"/>
              </a:lnSpc>
              <a:spcBef>
                <a:spcPts val="144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57120"/>
                <a:tab algn="l" pos="715680"/>
                <a:tab algn="l" pos="1074600"/>
                <a:tab algn="l" pos="1433160"/>
                <a:tab algn="l" pos="1792080"/>
                <a:tab algn="l" pos="2151000"/>
                <a:tab algn="l" pos="2509560"/>
                <a:tab algn="l" pos="2868480"/>
                <a:tab algn="l" pos="3227040"/>
                <a:tab algn="l" pos="3585960"/>
                <a:tab algn="l" pos="3944880"/>
                <a:tab algn="l" pos="4303440"/>
                <a:tab algn="l" pos="4662360"/>
                <a:tab algn="l" pos="5020920"/>
                <a:tab algn="l" pos="5379840"/>
                <a:tab algn="l" pos="5738760"/>
                <a:tab algn="l" pos="6097320"/>
                <a:tab algn="l" pos="6456240"/>
                <a:tab algn="l" pos="6814800"/>
                <a:tab algn="l" pos="7173720"/>
                <a:tab algn="l" pos="7207200"/>
                <a:tab algn="l" pos="756756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numpy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is a library for numerical computing</a:t>
            </a:r>
            <a:endParaRPr b="0" lang="en-US" sz="2400" spc="-1" strike="noStrike">
              <a:latin typeface="Arial"/>
            </a:endParaRPr>
          </a:p>
          <a:p>
            <a:pPr marL="558720" indent="-556920">
              <a:lnSpc>
                <a:spcPct val="100000"/>
              </a:lnSpc>
              <a:spcBef>
                <a:spcPts val="144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357120"/>
                <a:tab algn="l" pos="715680"/>
                <a:tab algn="l" pos="1074600"/>
                <a:tab algn="l" pos="1433160"/>
                <a:tab algn="l" pos="1792080"/>
                <a:tab algn="l" pos="2151000"/>
                <a:tab algn="l" pos="2509560"/>
                <a:tab algn="l" pos="2868480"/>
                <a:tab algn="l" pos="3227040"/>
                <a:tab algn="l" pos="3585960"/>
                <a:tab algn="l" pos="3944880"/>
                <a:tab algn="l" pos="4303440"/>
                <a:tab algn="l" pos="4662360"/>
                <a:tab algn="l" pos="5020920"/>
                <a:tab algn="l" pos="5379840"/>
                <a:tab algn="l" pos="5738760"/>
                <a:tab algn="l" pos="6097320"/>
                <a:tab algn="l" pos="6456240"/>
                <a:tab algn="l" pos="6814800"/>
                <a:tab algn="l" pos="7173720"/>
                <a:tab algn="l" pos="7207200"/>
                <a:tab algn="l" pos="756756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Your app </a:t>
            </a:r>
            <a:r>
              <a:rPr b="0" lang="en-US" sz="2400" spc="-1" strike="noStrike" u="sng">
                <a:solidFill>
                  <a:srgbClr val="000000"/>
                </a:solidFill>
                <a:uFillTx/>
                <a:latin typeface="Arial"/>
              </a:rPr>
              <a:t>calls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numpy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code, it returns a result</a:t>
            </a:r>
            <a:endParaRPr b="0" lang="en-US" sz="2400" spc="-1" strike="noStrike">
              <a:latin typeface="Arial"/>
            </a:endParaRPr>
          </a:p>
          <a:p>
            <a:pPr marL="342720" indent="-340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610920" y="259920"/>
            <a:ext cx="7902000" cy="846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Handling a web request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610920" y="1371240"/>
            <a:ext cx="8257680" cy="1645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3300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(1) 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A web client submits a web request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:</a:t>
            </a:r>
            <a:endParaRPr b="0" lang="en-US" sz="2400" spc="-1" strike="noStrike">
              <a:latin typeface="Arial"/>
            </a:endParaRPr>
          </a:p>
          <a:p>
            <a:pPr marL="342720" indent="-33300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  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https://superstore.com/products/list</a:t>
            </a:r>
            <a:endParaRPr b="0" lang="en-US" sz="2400" spc="-1" strike="noStrike">
              <a:latin typeface="Arial"/>
            </a:endParaRPr>
          </a:p>
          <a:p>
            <a:pPr marL="342720" indent="-33300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an https packet is sent to the superstore.com server...</a:t>
            </a:r>
            <a:endParaRPr b="0" lang="en-US" sz="2400" spc="-1" strike="noStrike">
              <a:latin typeface="Arial"/>
            </a:endParaRPr>
          </a:p>
          <a:p>
            <a:pPr marL="342720" indent="-3330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514440" y="3714840"/>
            <a:ext cx="837720" cy="837720"/>
          </a:xfrm>
          <a:prstGeom prst="rect">
            <a:avLst/>
          </a:prstGeom>
          <a:ln>
            <a:noFill/>
          </a:ln>
        </p:spPr>
      </p:pic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3456000" y="3532320"/>
            <a:ext cx="664920" cy="931320"/>
          </a:xfrm>
          <a:prstGeom prst="rect">
            <a:avLst/>
          </a:prstGeom>
          <a:ln>
            <a:noFill/>
          </a:ln>
        </p:spPr>
      </p:pic>
      <p:sp>
        <p:nvSpPr>
          <p:cNvPr id="106" name="CustomShape 3"/>
          <p:cNvSpPr/>
          <p:nvPr/>
        </p:nvSpPr>
        <p:spPr>
          <a:xfrm>
            <a:off x="631800" y="3152880"/>
            <a:ext cx="3601800" cy="428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200" spc="-1" strike="noStrike">
                <a:solidFill>
                  <a:srgbClr val="000080"/>
                </a:solidFill>
                <a:latin typeface="Courier New"/>
                <a:ea typeface="Arial"/>
              </a:rPr>
              <a:t>GET /products/list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07" name="Line 4"/>
          <p:cNvSpPr/>
          <p:nvPr/>
        </p:nvSpPr>
        <p:spPr>
          <a:xfrm>
            <a:off x="1378080" y="3971880"/>
            <a:ext cx="1976400" cy="180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CustomShape 5"/>
          <p:cNvSpPr/>
          <p:nvPr/>
        </p:nvSpPr>
        <p:spPr>
          <a:xfrm>
            <a:off x="4249800" y="3382920"/>
            <a:ext cx="4254120" cy="1279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(2)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A host (server) receives tcp packet and looks for app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listening on port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443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3"/>
          <a:stretch/>
        </p:blipFill>
        <p:spPr>
          <a:xfrm>
            <a:off x="4937040" y="5211720"/>
            <a:ext cx="1188720" cy="1188720"/>
          </a:xfrm>
          <a:prstGeom prst="rect">
            <a:avLst/>
          </a:prstGeom>
          <a:ln>
            <a:noFill/>
          </a:ln>
        </p:spPr>
      </p:pic>
      <p:sp>
        <p:nvSpPr>
          <p:cNvPr id="110" name="Line 6"/>
          <p:cNvSpPr/>
          <p:nvPr/>
        </p:nvSpPr>
        <p:spPr>
          <a:xfrm>
            <a:off x="4114800" y="4572000"/>
            <a:ext cx="969840" cy="787320"/>
          </a:xfrm>
          <a:prstGeom prst="line">
            <a:avLst/>
          </a:prstGeom>
          <a:ln w="9360">
            <a:solidFill>
              <a:srgbClr val="00008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CustomShape 7"/>
          <p:cNvSpPr/>
          <p:nvPr/>
        </p:nvSpPr>
        <p:spPr>
          <a:xfrm>
            <a:off x="4518000" y="6229440"/>
            <a:ext cx="2057040" cy="428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listen *:443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2" name="CustomShape 8"/>
          <p:cNvSpPr/>
          <p:nvPr/>
        </p:nvSpPr>
        <p:spPr>
          <a:xfrm>
            <a:off x="5986440" y="5029200"/>
            <a:ext cx="3065040" cy="1736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60360" indent="-35856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(3) Give packet body to listening web server.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610920" y="259920"/>
            <a:ext cx="7902000" cy="846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Http Server hands off to web app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611280" y="1371600"/>
            <a:ext cx="8075160" cy="146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3300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(4) The web server examines the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request path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and determines it should give it to the web application.</a:t>
            </a:r>
            <a:br/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The web server may do some pre-processing first.</a:t>
            </a:r>
            <a:endParaRPr b="0" lang="en-US" sz="2400" spc="-1" strike="noStrike">
              <a:latin typeface="Arial"/>
            </a:endParaRPr>
          </a:p>
          <a:p>
            <a:pPr marL="342720" indent="-3330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115" name="Line 3"/>
          <p:cNvSpPr/>
          <p:nvPr/>
        </p:nvSpPr>
        <p:spPr>
          <a:xfrm>
            <a:off x="3940200" y="3382920"/>
            <a:ext cx="1136520" cy="1800"/>
          </a:xfrm>
          <a:prstGeom prst="line">
            <a:avLst/>
          </a:prstGeom>
          <a:ln w="9360">
            <a:solidFill>
              <a:srgbClr val="00008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1143000" y="2943360"/>
            <a:ext cx="1371240" cy="1371240"/>
          </a:xfrm>
          <a:prstGeom prst="rect">
            <a:avLst/>
          </a:prstGeom>
          <a:ln>
            <a:noFill/>
          </a:ln>
        </p:spPr>
      </p:pic>
      <p:pic>
        <p:nvPicPr>
          <p:cNvPr id="117" name="" descr=""/>
          <p:cNvPicPr/>
          <p:nvPr/>
        </p:nvPicPr>
        <p:blipFill>
          <a:blip r:embed="rId2"/>
          <a:srcRect l="0" t="15174" r="0" b="10639"/>
          <a:stretch/>
        </p:blipFill>
        <p:spPr>
          <a:xfrm>
            <a:off x="2933640" y="3108240"/>
            <a:ext cx="953640" cy="639360"/>
          </a:xfrm>
          <a:prstGeom prst="rect">
            <a:avLst/>
          </a:prstGeom>
          <a:ln w="9360">
            <a:solidFill>
              <a:srgbClr val="008000"/>
            </a:solidFill>
            <a:round/>
          </a:ln>
        </p:spPr>
      </p:pic>
      <p:sp>
        <p:nvSpPr>
          <p:cNvPr id="118" name="Line 4"/>
          <p:cNvSpPr/>
          <p:nvPr/>
        </p:nvSpPr>
        <p:spPr>
          <a:xfrm>
            <a:off x="2260440" y="3403440"/>
            <a:ext cx="640080" cy="180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119" name="" descr=""/>
          <p:cNvPicPr/>
          <p:nvPr/>
        </p:nvPicPr>
        <p:blipFill>
          <a:blip r:embed="rId3"/>
          <a:srcRect l="22392" t="5695" r="20011" b="0"/>
          <a:stretch/>
        </p:blipFill>
        <p:spPr>
          <a:xfrm>
            <a:off x="5257800" y="2606760"/>
            <a:ext cx="1645920" cy="1507680"/>
          </a:xfrm>
          <a:prstGeom prst="rect">
            <a:avLst/>
          </a:prstGeom>
          <a:ln>
            <a:noFill/>
          </a:ln>
        </p:spPr>
      </p:pic>
      <p:sp>
        <p:nvSpPr>
          <p:cNvPr id="120" name="CustomShape 5"/>
          <p:cNvSpPr/>
          <p:nvPr/>
        </p:nvSpPr>
        <p:spPr>
          <a:xfrm>
            <a:off x="2697120" y="3865680"/>
            <a:ext cx="1426680" cy="759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WSGI adapter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610920" y="259920"/>
            <a:ext cx="7902000" cy="846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Web Server Gateway Interface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2" name="CustomShape 2"/>
          <p:cNvSpPr/>
          <p:nvPr/>
        </p:nvSpPr>
        <p:spPr>
          <a:xfrm>
            <a:off x="611280" y="1371600"/>
            <a:ext cx="8075160" cy="146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 fontScale="42000"/>
          </a:bodyPr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WSGI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defines a standard way for web servers to communicate with web application written in Python.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 WSGI implementation (like uWSGI) is an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adapter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or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 container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It translates HTTP requests into a standard format &amp; invokes code via a standard API.</a:t>
            </a:r>
            <a:endParaRPr b="0" lang="en-US" sz="2400" spc="-1" strike="noStrike">
              <a:latin typeface="Arial"/>
            </a:endParaRPr>
          </a:p>
          <a:p>
            <a:pPr marL="342720" indent="-3330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548640" y="2909520"/>
            <a:ext cx="7890120" cy="3673800"/>
          </a:xfrm>
          <a:prstGeom prst="rect">
            <a:avLst/>
          </a:prstGeom>
          <a:ln>
            <a:noFill/>
          </a:ln>
        </p:spPr>
      </p:pic>
      <p:sp>
        <p:nvSpPr>
          <p:cNvPr id="124" name="CustomShape 3"/>
          <p:cNvSpPr/>
          <p:nvPr/>
        </p:nvSpPr>
        <p:spPr>
          <a:xfrm>
            <a:off x="6766560" y="5304600"/>
            <a:ext cx="2011320" cy="91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Python app using framework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5" name="CustomShape 4"/>
          <p:cNvSpPr/>
          <p:nvPr/>
        </p:nvSpPr>
        <p:spPr>
          <a:xfrm>
            <a:off x="4754880" y="5396400"/>
            <a:ext cx="1737000" cy="45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WSGI Adapter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610920" y="259920"/>
            <a:ext cx="7902000" cy="846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Decide which code should handle it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610920" y="1371240"/>
            <a:ext cx="8257680" cy="2560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 fontScale="81000"/>
          </a:bodyPr>
          <a:p>
            <a:pPr marL="342720" indent="-33300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(5) </a:t>
            </a:r>
            <a:r>
              <a:rPr b="0" lang="en-US" sz="2400" spc="-1" strike="noStrike">
                <a:solidFill>
                  <a:srgbClr val="008000"/>
                </a:solidFill>
                <a:latin typeface="Arial"/>
              </a:rPr>
              <a:t>web app framework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parses the HTTP request and creates a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</a:rPr>
              <a:t>HttpRequest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object containing request path, headers,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session info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, query params, and request body.</a:t>
            </a:r>
            <a:endParaRPr b="0" lang="en-US" sz="2400" spc="-1" strike="noStrike">
              <a:latin typeface="Arial"/>
            </a:endParaRPr>
          </a:p>
          <a:p>
            <a:pPr marL="342720" indent="-33300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(6) </a:t>
            </a:r>
            <a:r>
              <a:rPr b="0" lang="en-US" sz="2400" spc="-1" strike="noStrike">
                <a:solidFill>
                  <a:srgbClr val="008000"/>
                </a:solidFill>
                <a:latin typeface="Arial"/>
              </a:rPr>
              <a:t>django framework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compares the </a:t>
            </a:r>
            <a:r>
              <a:rPr b="1" lang="en-US" sz="2400" spc="-1" strike="noStrike">
                <a:solidFill>
                  <a:srgbClr val="ce181e"/>
                </a:solidFill>
                <a:latin typeface="Arial"/>
              </a:rPr>
              <a:t>request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2400" spc="-1" strike="noStrike">
                <a:solidFill>
                  <a:srgbClr val="ce181e"/>
                </a:solidFill>
                <a:latin typeface="Arial"/>
              </a:rPr>
              <a:t>path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/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products/list/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to a "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</a:rPr>
              <a:t>routing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" or "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</a:rPr>
              <a:t>url mapping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" table specified by the app.</a:t>
            </a:r>
            <a:endParaRPr b="0" lang="en-US" sz="2400" spc="-1" strike="noStrike">
              <a:latin typeface="Arial"/>
            </a:endParaRPr>
          </a:p>
          <a:p>
            <a:pPr marL="342720" indent="-33300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-3840120" y="1828800"/>
            <a:ext cx="4022280" cy="1279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(2) The server computer forwards it to a web server running on port 8080.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914400" y="4070520"/>
            <a:ext cx="2010960" cy="701280"/>
          </a:xfrm>
          <a:prstGeom prst="rect">
            <a:avLst/>
          </a:prstGeom>
          <a:ln>
            <a:noFill/>
          </a:ln>
        </p:spPr>
      </p:pic>
      <p:sp>
        <p:nvSpPr>
          <p:cNvPr id="130" name="CustomShape 4"/>
          <p:cNvSpPr/>
          <p:nvPr/>
        </p:nvSpPr>
        <p:spPr>
          <a:xfrm>
            <a:off x="876240" y="4746600"/>
            <a:ext cx="2010960" cy="51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4c1900"/>
                </a:solidFill>
                <a:latin typeface="Arial"/>
                <a:ea typeface="DejaVu Sans"/>
              </a:rPr>
              <a:t>framework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1" name="CustomShape 5"/>
          <p:cNvSpPr/>
          <p:nvPr/>
        </p:nvSpPr>
        <p:spPr>
          <a:xfrm>
            <a:off x="3460680" y="3348000"/>
            <a:ext cx="1828440" cy="699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80"/>
                </a:solidFill>
                <a:latin typeface="Arial"/>
                <a:ea typeface="DejaVu Sans"/>
              </a:rPr>
              <a:t>HttpRequest</a:t>
            </a:r>
            <a:br/>
            <a:r>
              <a:rPr b="0" lang="en-US" sz="2000" spc="-1" strike="noStrike">
                <a:solidFill>
                  <a:srgbClr val="000080"/>
                </a:solidFill>
                <a:latin typeface="Arial"/>
                <a:ea typeface="DejaVu Sans"/>
              </a:rPr>
              <a:t>object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2" name="CustomShape 6"/>
          <p:cNvSpPr/>
          <p:nvPr/>
        </p:nvSpPr>
        <p:spPr>
          <a:xfrm>
            <a:off x="3840120" y="4572000"/>
            <a:ext cx="4389120" cy="1980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 u="sng">
                <a:solidFill>
                  <a:srgbClr val="000000"/>
                </a:solidFill>
                <a:uFillTx/>
                <a:latin typeface="Courier New"/>
                <a:ea typeface="DejaVu Sans"/>
              </a:rPr>
              <a:t>urls.py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path --&gt; code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pattern --&gt; code2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urlpatterns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= [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US" sz="2000" spc="-1" strike="noStrike">
                <a:solidFill>
                  <a:srgbClr val="ce181e"/>
                </a:solidFill>
                <a:latin typeface="Arial"/>
                <a:ea typeface="DejaVu Sans"/>
              </a:rPr>
              <a:t>path('products/list/', prod_list)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,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... 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3" name="CustomShape 7"/>
          <p:cNvSpPr/>
          <p:nvPr/>
        </p:nvSpPr>
        <p:spPr>
          <a:xfrm>
            <a:off x="3565440" y="5668920"/>
            <a:ext cx="4479480" cy="882360"/>
          </a:xfrm>
          <a:prstGeom prst="ellipse">
            <a:avLst/>
          </a:prstGeom>
          <a:noFill/>
          <a:ln w="18000">
            <a:solidFill>
              <a:srgbClr val="ff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Line 8"/>
          <p:cNvSpPr/>
          <p:nvPr/>
        </p:nvSpPr>
        <p:spPr>
          <a:xfrm>
            <a:off x="2925720" y="4664160"/>
            <a:ext cx="914400" cy="639720"/>
          </a:xfrm>
          <a:prstGeom prst="line">
            <a:avLst/>
          </a:prstGeom>
          <a:ln w="9360">
            <a:solidFill>
              <a:srgbClr val="00008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ustomShape 1"/>
          <p:cNvSpPr/>
          <p:nvPr/>
        </p:nvSpPr>
        <p:spPr>
          <a:xfrm>
            <a:off x="610920" y="259920"/>
            <a:ext cx="7902000" cy="846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Your "controller" handles the request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6" name="CustomShape 2"/>
          <p:cNvSpPr/>
          <p:nvPr/>
        </p:nvSpPr>
        <p:spPr>
          <a:xfrm>
            <a:off x="611280" y="1371600"/>
            <a:ext cx="8075160" cy="219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(7) Django framework invokes </a:t>
            </a:r>
            <a:r>
              <a:rPr b="0" lang="en-US" sz="2400" spc="-1" strike="noStrike">
                <a:solidFill>
                  <a:srgbClr val="ce181e"/>
                </a:solidFill>
                <a:latin typeface="Arial"/>
              </a:rPr>
              <a:t>your code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(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</a:rPr>
              <a:t>prod_list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) with the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</a:rPr>
              <a:t>HttpRequest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object as parameter...</a:t>
            </a:r>
            <a:endParaRPr b="0" lang="en-US" sz="2400" spc="-1" strike="noStrike">
              <a:latin typeface="Arial"/>
            </a:endParaRPr>
          </a:p>
          <a:p>
            <a:pPr marL="342720" indent="-33300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(8) your code must handle the request and return an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</a:rPr>
              <a:t>HttpResponse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object.</a:t>
            </a:r>
            <a:endParaRPr b="0" lang="en-US" sz="2400" spc="-1" strike="noStrike">
              <a:latin typeface="Arial"/>
            </a:endParaRPr>
          </a:p>
          <a:p>
            <a:pPr marL="342720" indent="-3330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137" name="CustomShape 3"/>
          <p:cNvSpPr/>
          <p:nvPr/>
        </p:nvSpPr>
        <p:spPr>
          <a:xfrm>
            <a:off x="-3840120" y="1828800"/>
            <a:ext cx="4022280" cy="1279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(2) The server computer forwards it to a web server running on port 8080.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1"/>
          <a:stretch/>
        </p:blipFill>
        <p:spPr>
          <a:xfrm>
            <a:off x="554040" y="4070520"/>
            <a:ext cx="2010960" cy="701280"/>
          </a:xfrm>
          <a:prstGeom prst="rect">
            <a:avLst/>
          </a:prstGeom>
          <a:ln>
            <a:noFill/>
          </a:ln>
        </p:spPr>
      </p:pic>
      <p:sp>
        <p:nvSpPr>
          <p:cNvPr id="139" name="CustomShape 4"/>
          <p:cNvSpPr/>
          <p:nvPr/>
        </p:nvSpPr>
        <p:spPr>
          <a:xfrm>
            <a:off x="517680" y="4746600"/>
            <a:ext cx="2010960" cy="51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4c1900"/>
                </a:solidFill>
                <a:latin typeface="Arial"/>
                <a:ea typeface="DejaVu Sans"/>
              </a:rPr>
              <a:t>framework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0" name="CustomShape 5"/>
          <p:cNvSpPr/>
          <p:nvPr/>
        </p:nvSpPr>
        <p:spPr>
          <a:xfrm>
            <a:off x="2820960" y="3340080"/>
            <a:ext cx="1828440" cy="699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80"/>
                </a:solidFill>
                <a:latin typeface="Arial"/>
                <a:ea typeface="DejaVu Sans"/>
              </a:rPr>
              <a:t>HttpRequest</a:t>
            </a:r>
            <a:br/>
            <a:r>
              <a:rPr b="0" lang="en-US" sz="2000" spc="-1" strike="noStrike">
                <a:solidFill>
                  <a:srgbClr val="000080"/>
                </a:solidFill>
                <a:latin typeface="Arial"/>
                <a:ea typeface="DejaVu Sans"/>
              </a:rPr>
              <a:t>object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1" name="CustomShape 6"/>
          <p:cNvSpPr/>
          <p:nvPr/>
        </p:nvSpPr>
        <p:spPr>
          <a:xfrm>
            <a:off x="4884840" y="3995640"/>
            <a:ext cx="3839760" cy="1096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prod_list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(request)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 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2" name="Line 7"/>
          <p:cNvSpPr/>
          <p:nvPr/>
        </p:nvSpPr>
        <p:spPr>
          <a:xfrm>
            <a:off x="2651040" y="4245120"/>
            <a:ext cx="2232000" cy="1440"/>
          </a:xfrm>
          <a:prstGeom prst="line">
            <a:avLst/>
          </a:prstGeom>
          <a:ln w="9360">
            <a:solidFill>
              <a:srgbClr val="0000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Line 8"/>
          <p:cNvSpPr/>
          <p:nvPr/>
        </p:nvSpPr>
        <p:spPr>
          <a:xfrm flipH="1">
            <a:off x="2647440" y="4954680"/>
            <a:ext cx="2241720" cy="1440"/>
          </a:xfrm>
          <a:prstGeom prst="line">
            <a:avLst/>
          </a:prstGeom>
          <a:ln w="9360">
            <a:solidFill>
              <a:srgbClr val="00008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CustomShape 9"/>
          <p:cNvSpPr/>
          <p:nvPr/>
        </p:nvSpPr>
        <p:spPr>
          <a:xfrm>
            <a:off x="2835360" y="4479840"/>
            <a:ext cx="2010960" cy="425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80"/>
                </a:solidFill>
                <a:latin typeface="Arial"/>
                <a:ea typeface="DejaVu Sans"/>
              </a:rPr>
              <a:t>HttpResponse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ustomShape 1"/>
          <p:cNvSpPr/>
          <p:nvPr/>
        </p:nvSpPr>
        <p:spPr>
          <a:xfrm>
            <a:off x="610920" y="259920"/>
            <a:ext cx="7902000" cy="846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What your "controller" does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6" name="CustomShape 2"/>
          <p:cNvSpPr/>
          <p:nvPr/>
        </p:nvSpPr>
        <p:spPr>
          <a:xfrm>
            <a:off x="610920" y="1226880"/>
            <a:ext cx="8349840" cy="2560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926120"/>
                <a:tab algn="l" pos="828648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(8) Your controller (Django: "view") applies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application logic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and uses the Django code to handle the request.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926120"/>
                <a:tab algn="l" pos="828648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For a product list, it uses the Product </a:t>
            </a:r>
            <a:r>
              <a:rPr b="0" i="1" lang="en-US" sz="2400" spc="-1" strike="noStrike">
                <a:solidFill>
                  <a:srgbClr val="000080"/>
                </a:solidFill>
                <a:latin typeface="Arial"/>
              </a:rPr>
              <a:t>model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class to get the products from a database (the Django framework does this).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926120"/>
                <a:tab algn="l" pos="828648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Then, use a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template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(your code) to create a web page containing products. This is called </a:t>
            </a:r>
            <a:r>
              <a:rPr b="0" i="1" lang="en-US" sz="2400" spc="-1" strike="noStrike">
                <a:solidFill>
                  <a:srgbClr val="000080"/>
                </a:solidFill>
                <a:latin typeface="Arial"/>
              </a:rPr>
              <a:t>rendering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342720" indent="-3330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147" name="CustomShape 3"/>
          <p:cNvSpPr/>
          <p:nvPr/>
        </p:nvSpPr>
        <p:spPr>
          <a:xfrm>
            <a:off x="-3840120" y="1828800"/>
            <a:ext cx="4022280" cy="1279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(2) The server computer forwards it to a web server running on port 8080.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8" name="CustomShape 4"/>
          <p:cNvSpPr/>
          <p:nvPr/>
        </p:nvSpPr>
        <p:spPr>
          <a:xfrm>
            <a:off x="457200" y="3840120"/>
            <a:ext cx="4479480" cy="821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prod_list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(http_request)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149" name="CustomShape 5"/>
          <p:cNvSpPr/>
          <p:nvPr/>
        </p:nvSpPr>
        <p:spPr>
          <a:xfrm>
            <a:off x="6858000" y="3811680"/>
            <a:ext cx="1920600" cy="942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&lt;&lt;model&gt;&gt;</a:t>
            </a:r>
            <a:endParaRPr b="0" lang="en-US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Product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0" name="Line 6"/>
          <p:cNvSpPr/>
          <p:nvPr/>
        </p:nvSpPr>
        <p:spPr>
          <a:xfrm>
            <a:off x="4937040" y="4043520"/>
            <a:ext cx="1920960" cy="144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CustomShape 7"/>
          <p:cNvSpPr/>
          <p:nvPr/>
        </p:nvSpPr>
        <p:spPr>
          <a:xfrm>
            <a:off x="5211720" y="3619440"/>
            <a:ext cx="1463400" cy="455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400" spc="-1" strike="noStrike">
                <a:solidFill>
                  <a:srgbClr val="000080"/>
                </a:solidFill>
                <a:latin typeface="Courier New"/>
                <a:ea typeface="DejaVu Sans"/>
              </a:rPr>
              <a:t>all()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2" name="Line 8"/>
          <p:cNvSpPr/>
          <p:nvPr/>
        </p:nvSpPr>
        <p:spPr>
          <a:xfrm flipH="1">
            <a:off x="4932360" y="4479840"/>
            <a:ext cx="1930320" cy="1800"/>
          </a:xfrm>
          <a:prstGeom prst="line">
            <a:avLst/>
          </a:prstGeom>
          <a:ln w="9360">
            <a:solidFill>
              <a:srgbClr val="00000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CustomShape 9"/>
          <p:cNvSpPr/>
          <p:nvPr/>
        </p:nvSpPr>
        <p:spPr>
          <a:xfrm>
            <a:off x="4937040" y="4479840"/>
            <a:ext cx="2010960" cy="458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400" spc="-1" strike="noStrike">
                <a:solidFill>
                  <a:srgbClr val="000080"/>
                </a:solidFill>
                <a:latin typeface="Courier New"/>
                <a:ea typeface="DejaVu Sans"/>
              </a:rPr>
              <a:t>prodList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4" name="CustomShape 10"/>
          <p:cNvSpPr/>
          <p:nvPr/>
        </p:nvSpPr>
        <p:spPr>
          <a:xfrm>
            <a:off x="4479840" y="5761080"/>
            <a:ext cx="3017520" cy="852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&lt;&lt;template&gt;&gt;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product_list.html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5" name="Line 11"/>
          <p:cNvSpPr/>
          <p:nvPr/>
        </p:nvSpPr>
        <p:spPr>
          <a:xfrm>
            <a:off x="3565440" y="4662360"/>
            <a:ext cx="1554120" cy="109872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CustomShape 12"/>
          <p:cNvSpPr/>
          <p:nvPr/>
        </p:nvSpPr>
        <p:spPr>
          <a:xfrm>
            <a:off x="3017880" y="5029200"/>
            <a:ext cx="2285640" cy="54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i="1" lang="en-US" sz="2400" spc="-1" strike="noStrike">
                <a:solidFill>
                  <a:srgbClr val="000080"/>
                </a:solidFill>
                <a:latin typeface="Times New Roman"/>
                <a:ea typeface="DejaVu Sans"/>
              </a:rPr>
              <a:t>render template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7" name="Line 13"/>
          <p:cNvSpPr/>
          <p:nvPr/>
        </p:nvSpPr>
        <p:spPr>
          <a:xfrm flipH="1" flipV="1">
            <a:off x="2646360" y="4657680"/>
            <a:ext cx="1838160" cy="1473120"/>
          </a:xfrm>
          <a:prstGeom prst="line">
            <a:avLst/>
          </a:prstGeom>
          <a:ln w="9360">
            <a:solidFill>
              <a:srgbClr val="00000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Line 14"/>
          <p:cNvSpPr/>
          <p:nvPr/>
        </p:nvSpPr>
        <p:spPr>
          <a:xfrm>
            <a:off x="5943600" y="4937040"/>
            <a:ext cx="1440" cy="824040"/>
          </a:xfrm>
          <a:prstGeom prst="line">
            <a:avLst/>
          </a:prstGeom>
          <a:ln w="9360">
            <a:solidFill>
              <a:srgbClr val="000000"/>
            </a:solidFill>
            <a:prstDash val="sysDashDot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stomShape 1"/>
          <p:cNvSpPr/>
          <p:nvPr/>
        </p:nvSpPr>
        <p:spPr>
          <a:xfrm>
            <a:off x="611280" y="259920"/>
            <a:ext cx="7895880" cy="839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Web App Vocabulary</a:t>
            </a:r>
            <a:endParaRPr b="0" lang="en-US" sz="3600" spc="-1" strike="noStrike">
              <a:latin typeface="Arial"/>
            </a:endParaRPr>
          </a:p>
        </p:txBody>
      </p:sp>
      <p:graphicFrame>
        <p:nvGraphicFramePr>
          <p:cNvPr id="160" name="Table 2"/>
          <p:cNvGraphicFramePr/>
          <p:nvPr/>
        </p:nvGraphicFramePr>
        <p:xfrm>
          <a:off x="611280" y="1371600"/>
          <a:ext cx="7896960" cy="4753800"/>
        </p:xfrm>
        <a:graphic>
          <a:graphicData uri="http://schemas.openxmlformats.org/drawingml/2006/table">
            <a:tbl>
              <a:tblPr/>
              <a:tblGrid>
                <a:gridCol w="2632320"/>
                <a:gridCol w="2632320"/>
                <a:gridCol w="2632680"/>
              </a:tblGrid>
              <a:tr h="7365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80"/>
                          </a:solidFill>
                          <a:latin typeface="Arial"/>
                          <a:ea typeface="TakaoPGothic"/>
                        </a:rPr>
                        <a:t>What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80"/>
                          </a:solidFill>
                          <a:latin typeface="Arial"/>
                          <a:ea typeface="TakaoPGothic"/>
                        </a:rPr>
                        <a:t>Typical Web Framework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80"/>
                          </a:solidFill>
                          <a:latin typeface="Arial"/>
                          <a:ea typeface="TakaoPGothic"/>
                        </a:rPr>
                        <a:t>Django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36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Mapping of request path to code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routing based on url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routing, </a:t>
                      </a:r>
                      <a:br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uses urls.py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778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Code that handles requests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controller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view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622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Class that represents something in the app domain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model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model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782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Code or template to generate a web page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view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template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622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Process a template with data to create a web page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rendering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87000"/>
                        </a:lnSpc>
                        <a:tabLst>
                          <a:tab algn="l" pos="0"/>
                          <a:tab algn="l" pos="358560"/>
                          <a:tab algn="l" pos="718920"/>
                          <a:tab algn="l" pos="1079280"/>
                          <a:tab algn="l" pos="1439640"/>
                          <a:tab algn="l" pos="1800000"/>
                          <a:tab algn="l" pos="2160360"/>
                          <a:tab algn="l" pos="2520720"/>
                          <a:tab algn="l" pos="2881080"/>
                          <a:tab algn="l" pos="3241440"/>
                          <a:tab algn="l" pos="3601800"/>
                          <a:tab algn="l" pos="3962160"/>
                          <a:tab algn="l" pos="4322520"/>
                          <a:tab algn="l" pos="4682880"/>
                          <a:tab algn="l" pos="5043240"/>
                          <a:tab algn="l" pos="5403600"/>
                          <a:tab algn="l" pos="5763960"/>
                          <a:tab algn="l" pos="6124320"/>
                          <a:tab algn="l" pos="6484680"/>
                          <a:tab algn="l" pos="6845040"/>
                          <a:tab algn="l" pos="7205400"/>
                          <a:tab algn="l" pos="7565760"/>
                          <a:tab algn="l" pos="7891200"/>
                          <a:tab algn="l" pos="8250120"/>
                          <a:tab algn="l" pos="8608680"/>
                          <a:tab algn="l" pos="8967600"/>
                          <a:tab algn="l" pos="9326520"/>
                          <a:tab algn="l" pos="9685080"/>
                          <a:tab algn="l" pos="10044000"/>
                          <a:tab algn="l" pos="10402560"/>
                          <a:tab algn="l" pos="10761480"/>
                          <a:tab algn="l" pos="10762920"/>
                        </a:tabLst>
                      </a:pP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Arial"/>
                          <a:ea typeface="TakaoPGothic"/>
                        </a:rPr>
                        <a:t>rendering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000000"/>
                      </a:solidFill>
                    </a:lnL>
                    <a:lnR w="720">
                      <a:solidFill>
                        <a:srgbClr val="000000"/>
                      </a:solidFill>
                    </a:lnR>
                    <a:lnT w="720">
                      <a:solidFill>
                        <a:srgbClr val="000000"/>
                      </a:solidFill>
                    </a:lnT>
                    <a:lnB w="72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" descr=""/>
          <p:cNvPicPr/>
          <p:nvPr/>
        </p:nvPicPr>
        <p:blipFill>
          <a:blip r:embed="rId1"/>
          <a:stretch/>
        </p:blipFill>
        <p:spPr>
          <a:xfrm>
            <a:off x="1050840" y="1279440"/>
            <a:ext cx="7178400" cy="5373360"/>
          </a:xfrm>
          <a:prstGeom prst="rect">
            <a:avLst/>
          </a:prstGeom>
          <a:ln>
            <a:noFill/>
          </a:ln>
        </p:spPr>
      </p:pic>
      <p:sp>
        <p:nvSpPr>
          <p:cNvPr id="162" name="CustomShape 1"/>
          <p:cNvSpPr/>
          <p:nvPr/>
        </p:nvSpPr>
        <p:spPr>
          <a:xfrm>
            <a:off x="2743200" y="274680"/>
            <a:ext cx="3749400" cy="699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Summary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63" name="CustomShape 2"/>
          <p:cNvSpPr/>
          <p:nvPr/>
        </p:nvSpPr>
        <p:spPr>
          <a:xfrm>
            <a:off x="112680" y="5761080"/>
            <a:ext cx="3544560" cy="790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 marL="342720" indent="-3362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Source: </a:t>
            </a:r>
            <a:endParaRPr b="0" lang="en-US" sz="2000" spc="-1" strike="noStrike">
              <a:latin typeface="Arial"/>
            </a:endParaRPr>
          </a:p>
          <a:p>
            <a:pPr marL="342720" indent="-3362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https://devopedia.org/django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611280" y="259920"/>
            <a:ext cx="7895880" cy="839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Resources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611280" y="1371600"/>
            <a:ext cx="7895880" cy="5300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2254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2005-07-18T20:56:23Z</dcterms:created>
  <dc:creator>Jim</dc:creator>
  <dc:description/>
  <dc:language>en-US</dc:language>
  <cp:lastModifiedBy/>
  <dcterms:modified xsi:type="dcterms:W3CDTF">2026-01-14T13:06:43Z</dcterms:modified>
  <cp:revision>48</cp:revision>
  <dc:subject/>
  <dc:title/>
</cp:coreProperties>
</file>